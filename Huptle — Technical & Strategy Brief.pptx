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0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investors and the founding team one shared picture of what has been built, how it works, where the risks are, and how we plan to grow it into a category leader.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web apps in one code repository. The HR portal is the paid product for companies; the candidate portal feeds it with applicants.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top row then bottom row. Green pills are working today. Step 6 works only for Indian +91 numbers in IST. Step 8 produces AI drafts; actual email sending is not built yet. AI proctoring for interviews is listed as a plan in the code but not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Users reach Caddy, which sends traffic to the HR portal or the apply portal. The apply portal pushes new candidates to the HR portal over a shared-secret API. The HR portal stores data in Postgres on the same server. Both apps call outside services: Supabase for candidate profiles and resume files, Gemini for AI, Vapi for phone calls, Google Calendar for booking. Vapi calls back with a webhook when a call ends. Releases go from GitHub through an automated build to container images, then a settings file is copied to the server and the apps restart. The copy step moves only one configuration file, never customer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top to bottom. Green is what runs in production today. Blue dotted steps are my proposed additions: one-time-code login for candidates (step 2), work simulations and authenticity checks (step 7), and evidence-cited, bias-checked scoring (step 8). These are the Verify layer that sets Huptle apart.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steps 1, 2, 4, 5 and 6 run today, for Indian +91 numbers. Orange steps are in progress: Sarvam vernacular speech (the $25,000 credit pilot) and actually sending email and WhatsApp confirmations (today the AI only drafts emails). Blue steps are my proposals: the same voice agent calls the new hire and manager at 30, 60 and 90 days, and those outcomes retrain how we rank candidates.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has moved fast on visible features. The gaps are the invisible foundations that enterprise buyers and investors check in diligence: security, tenancy, backups and quality.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to investors: these are normal for an early prototype and we have found them before customers did. The plan on the next slides closes all six. India's DPDP Rules were notified in November 2025 with most obligations due about 18 months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thing we do with new money. Every item builds on the current code. The AI guardrails matter as much as security: buyers and regulators will ask how a score was reached and who made the final call. A candidate's accent, communication style or use of AI is never treated as evidence of poor 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single VPS for now but hide it behind Cloudflare Tunnel so nothing is directly exposed. Move the database to a managed provider (or keep it and ship encrypted nightly backups to Cloudflare R2). Merge the two databases into one. Add a queue so long AI and phone tasks are retried instead of lost.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costs almost nothing and removes every critical risk. Phase 1 is what a first paying B2B customer will ask about. Phase 2 is what enterprise procurement and later-stage investors will ask about.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"who are the biggest players?" The next two slides answer a different question: "whose features do we benchmark against?" Mercor is listed for scale, but most of its revenue comes from supplying expert data to AI labs, so it is not a direct HR-software competitor. Sources: Info Edge FY26 results; Dealroom on Mercor, July 2026; Orrick on Workday and Paradox, August 2025; Eightfold and Apna funding announcements, 2021.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product leads everywhere. Leaders differ by priority: volume automation, assessments, enterprise governance or India SMEs. Zorvis matters most for us because it targets the same Indian high-volume segment as Path A, including multilingual phone interviews and a hire-to-performance link.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HeyMilo is a strong benchmark for an agentic recruiter workflow, not the single best product in the market. We match the essentials it offers, then add the evidence workflow on top. Video is optional for us: it adds friction for frontline candidates on shift. HeyMilo's SOC 2 is Type I; enterprise buyers increasingly ask for Type II.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what is built today is necessary but not unique. On the right, be honest: scenario assessments and outcome learning already exist elsewhere. Our edge is the sequence: evidence gaps, then targeted verification, then decision evidence, then validated outcomes. "None found in our scan" is not a guarantee that no one offers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one-line positioning: an evidence-based AI hiring platform that moves from resume claims to verified capability. AI gathers the evidence; a human always makes the hiring decision, which also keeps us on the right side of the EU AI Act and India's DPDP rules.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after the P0 guardrails. None of them needs a new platform. Together they turn today's single AI score into an explainable, evidence-backed recommendation, which is the foundation for the novelty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novelty to build because it reuses what exists: the resume parser, the screening questions and the voice agent. It also generates structured evidence that feeds every later layer.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candidates can give the same recommendation for very different reasons. The Decision Trail shows the recruiter which one investigated first. For high-volume roles in India, the simulation can be a short voice role-play, such as handling a customer call.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only if the pilots show that decision signals improve hiring outcomes. It needs enough reliable data, customer consent, privacy safeguards and prospective validation. Never retrain automatically on unverified manager feedback, because manager ratings can themselves be inconsistent or biased.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additions as technical advisor. The first combines our India access with the evidence workflow; Zorvis covers 8 languages, Sarvam's speech model covers 22 Indian languages plus English. The override and consistency ideas make the AI safer and easier to defend. The passport creates a network effect, but needs careful consent design under DPDP.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try to become another ATS. Enterprises already run one, and ATS vendors are adding their own basic AI. Our pitch: keep your ATS and replace the manual judgement work between application and hiring decision.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first: the product already works for India (+91, IST), the Sarvam credits fund the vernacular voice layer, and high volume generates the outcome data the learning loop needs. Work simulations here are short voice role-plays, such as a customer call or a sales pitch, not coding tests.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B is the larger prize but needs certifications, references and enterprise integrations first. Everything we build for Path A in the Verify and Learn layers is reused here, so Path A de-risks Path B. Recruitment AI is classed as high-risk under the EU AI Act, which rewards our explainability focus.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metrics for the pilot: share of calls completed, transcription accuracy on Indian names and places, candidate satisfaction, and cost per screened candidate. Keep Gemini as a fallback behind the AI gateway so we are never locked to one vendor. Confirm exact credit terms and expiry with Sarvam.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framing works better with investors than hype. The score moves to 8 or more when three things happen: a chosen wedge segment, the Sarvam-powered vernacular voice product live, and three to five paying design partners.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unlocks the next. We do not start advanced AI until the product is secure, and we do not build the Twin until pilots show measurable value. Outcome data starts in phase 3 so that phase 4 has something real to learn from.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these six priorities and ask for agreement. The Hiring Intelligence Twin comes only after evidence shows the decision signals improve hiring outcomes.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value: edge security and backups first, then login and tenancy, then the AI gateway so we can use the Sarvam credits cleanly, then queue, vector search and WhatsApp.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991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3213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623061"/>
            <a:ext cx="10566400" cy="4422139"/>
          </a:xfrm>
          <a:prstGeom prst="rect">
            <a:avLst/>
          </a:prstGeom>
          <a:noFill/>
          <a:ln/>
        </p:spPr>
        <p:txBody>
          <a:bodyPr wrap="square" lIns="0" tIns="0" rIns="0" bIns="0" rtlCol="0" anchor="t"/>
          <a:lstStyle>
            <a:lvl1pPr marL="0" indent="0" algn="l">
              <a:lnSpc>
                <a:spcPct val="140000"/>
              </a:lnSpc>
              <a:buNone/>
              <a:defRPr lang="en-US" sz="1600" dirty="0">
                <a:solidFill>
                  <a:srgbClr val="1321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991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3213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623061"/>
            <a:ext cx="10566400" cy="4422139"/>
          </a:xfrm>
          <a:prstGeom prst="rect">
            <a:avLst/>
          </a:prstGeom>
          <a:noFill/>
          <a:ln/>
        </p:spPr>
        <p:txBody>
          <a:bodyPr wrap="square" lIns="0" tIns="0" rIns="0" bIns="0" rtlCol="0" anchor="t"/>
          <a:lstStyle>
            <a:lvl1pPr marL="0" indent="0" algn="l">
              <a:lnSpc>
                <a:spcPct val="140000"/>
              </a:lnSpc>
              <a:buNone/>
              <a:defRPr lang="en-US" sz="1600" dirty="0">
                <a:solidFill>
                  <a:srgbClr val="1321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30.png"/><Relationship Id="rId5" Type="http://schemas.openxmlformats.org/officeDocument/2006/relationships/image" Target="../media/image20.png"/><Relationship Id="rId10" Type="http://schemas.openxmlformats.org/officeDocument/2006/relationships/image" Target="../media/image29.png"/><Relationship Id="rId4" Type="http://schemas.openxmlformats.org/officeDocument/2006/relationships/image" Target="../media/image19.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3A"/>
        </a:solidFill>
        <a:effectLst/>
      </p:bgPr>
    </p:bg>
    <p:spTree>
      <p:nvGrpSpPr>
        <p:cNvPr id="1" name=""/>
        <p:cNvGrpSpPr/>
        <p:nvPr/>
      </p:nvGrpSpPr>
      <p:grpSpPr>
        <a:xfrm>
          <a:off x="0" y="0"/>
          <a:ext cx="0" cy="0"/>
          <a:chOff x="0" y="0"/>
          <a:chExt cx="0" cy="0"/>
        </a:xfrm>
      </p:grpSpPr>
      <p:sp>
        <p:nvSpPr>
          <p:cNvPr id="2" name="Shape 0"/>
          <p:cNvSpPr/>
          <p:nvPr/>
        </p:nvSpPr>
        <p:spPr>
          <a:xfrm>
            <a:off x="7874000" y="0"/>
            <a:ext cx="4318000" cy="6858000"/>
          </a:xfrm>
          <a:prstGeom prst="rect">
            <a:avLst/>
          </a:prstGeom>
          <a:gradFill rotWithShape="1">
            <a:gsLst>
              <a:gs pos="0">
                <a:srgbClr val="1F3A63"/>
              </a:gs>
              <a:gs pos="70000">
                <a:srgbClr val="13213A"/>
              </a:gs>
            </a:gsLst>
            <a:lin ang="4200000" scaled="0"/>
          </a:gradFill>
          <a:ln/>
        </p:spPr>
      </p:sp>
      <p:sp>
        <p:nvSpPr>
          <p:cNvPr id="3" name="Shape 1"/>
          <p:cNvSpPr/>
          <p:nvPr/>
        </p:nvSpPr>
        <p:spPr>
          <a:xfrm>
            <a:off x="8642350" y="1911350"/>
            <a:ext cx="2654300" cy="2654300"/>
          </a:xfrm>
          <a:prstGeom prst="roundRect">
            <a:avLst>
              <a:gd name="adj" fmla="val 50000"/>
            </a:avLst>
          </a:prstGeom>
          <a:noFill/>
          <a:ln w="12700">
            <a:solidFill>
              <a:srgbClr val="E07A3F"/>
            </a:solidFill>
            <a:prstDash val="solid"/>
          </a:ln>
        </p:spPr>
      </p:sp>
      <p:sp>
        <p:nvSpPr>
          <p:cNvPr id="4" name="Shape 2"/>
          <p:cNvSpPr/>
          <p:nvPr/>
        </p:nvSpPr>
        <p:spPr>
          <a:xfrm>
            <a:off x="9271000" y="2540000"/>
            <a:ext cx="1397000" cy="1397000"/>
          </a:xfrm>
          <a:prstGeom prst="roundRect">
            <a:avLst>
              <a:gd name="adj" fmla="val 50000"/>
            </a:avLst>
          </a:prstGeom>
          <a:solidFill>
            <a:srgbClr val="E07A3F">
              <a:alpha val="90000"/>
            </a:srgbClr>
          </a:solidFill>
          <a:ln/>
        </p:spPr>
      </p:sp>
      <p:sp>
        <p:nvSpPr>
          <p:cNvPr id="5" name="Text 3"/>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9A276"/>
                </a:solidFill>
                <a:latin typeface="DM Sans" pitchFamily="34" charset="0"/>
                <a:ea typeface="DM Sans" pitchFamily="34" charset="-122"/>
                <a:cs typeface="DM Sans" pitchFamily="34" charset="-120"/>
              </a:rPr>
              <a:t>TECHNICAL &amp; STRATEGY BRIEF · OCTOBER 2026</a:t>
            </a:r>
            <a:endParaRPr lang="en-US" sz="1400" dirty="0"/>
          </a:p>
        </p:txBody>
      </p:sp>
      <p:sp>
        <p:nvSpPr>
          <p:cNvPr id="6" name="Text 4"/>
          <p:cNvSpPr>
            <a:spLocks noGrp="1"/>
          </p:cNvSpPr>
          <p:nvPr>
            <p:ph type="title"/>
          </p:nvPr>
        </p:nvSpPr>
        <p:spPr>
          <a:xfrm>
            <a:off x="812800" y="2311400"/>
            <a:ext cx="6802120" cy="914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7F6F2"/>
                </a:solidFill>
                <a:latin typeface="Space Grotesk" pitchFamily="34" charset="0"/>
                <a:ea typeface="Space Grotesk" pitchFamily="34" charset="-122"/>
                <a:cs typeface="Space Grotesk" pitchFamily="34" charset="-120"/>
              </a:rPr>
              <a:t>Huptle</a:t>
            </a:r>
            <a:endParaRPr lang="en-US" sz="7000" dirty="0"/>
          </a:p>
        </p:txBody>
      </p:sp>
      <p:sp>
        <p:nvSpPr>
          <p:cNvPr id="7" name="Text 5"/>
          <p:cNvSpPr/>
          <p:nvPr/>
        </p:nvSpPr>
        <p:spPr>
          <a:xfrm>
            <a:off x="812800" y="3403600"/>
            <a:ext cx="6802120" cy="1168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D5DDE8"/>
                </a:solidFill>
                <a:latin typeface="DM Sans" pitchFamily="34" charset="0"/>
                <a:ea typeface="DM Sans" pitchFamily="34" charset="-122"/>
                <a:cs typeface="DM Sans" pitchFamily="34" charset="-120"/>
              </a:rPr>
              <a:t>From candidate claims to verified evidence. AI that automates hiring, checks real capability and learns from outcomes.</a:t>
            </a:r>
            <a:endParaRPr lang="en-US" sz="2400" dirty="0"/>
          </a:p>
        </p:txBody>
      </p:sp>
      <p:sp>
        <p:nvSpPr>
          <p:cNvPr id="8" name="Text 6"/>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FC0D4"/>
                </a:solidFill>
                <a:latin typeface="DM Sans" pitchFamily="34" charset="0"/>
                <a:ea typeface="DM Sans" pitchFamily="34" charset="-122"/>
                <a:cs typeface="DM Sans" pitchFamily="34" charset="-120"/>
              </a:rPr>
              <a:t>Prepared by Arun Kumar, Investor &amp; Technical Advisor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WHAT WE HAVE BUILT</a:t>
            </a:r>
            <a:endParaRPr lang="en-US" sz="1200" dirty="0"/>
          </a:p>
        </p:txBody>
      </p:sp>
      <p:sp>
        <p:nvSpPr>
          <p:cNvPr id="3" name="Text 1"/>
          <p:cNvSpPr>
            <a:spLocks noGrp="1"/>
          </p:cNvSpPr>
          <p:nvPr>
            <p:ph type="title"/>
          </p:nvPr>
        </p:nvSpPr>
        <p:spPr>
          <a:xfrm>
            <a:off x="812800" y="10261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3213A"/>
                </a:solidFill>
                <a:latin typeface="Space Grotesk" pitchFamily="34" charset="0"/>
                <a:ea typeface="Space Grotesk" pitchFamily="34" charset="-122"/>
                <a:cs typeface="Space Grotesk" pitchFamily="34" charset="-120"/>
              </a:rPr>
              <a:t>Today: the Automate layer is built</a:t>
            </a:r>
            <a:endParaRPr lang="en-US" sz="3200" dirty="0"/>
          </a:p>
        </p:txBody>
      </p:sp>
      <p:sp>
        <p:nvSpPr>
          <p:cNvPr id="4" name="Shape 2"/>
          <p:cNvSpPr/>
          <p:nvPr/>
        </p:nvSpPr>
        <p:spPr>
          <a:xfrm>
            <a:off x="815975" y="1781175"/>
            <a:ext cx="3383677" cy="4057650"/>
          </a:xfrm>
          <a:prstGeom prst="roundRect">
            <a:avLst>
              <a:gd name="adj" fmla="val 3659"/>
            </a:avLst>
          </a:prstGeom>
          <a:solidFill>
            <a:srgbClr val="FFFFFF"/>
          </a:solidFill>
          <a:ln w="6350">
            <a:solidFill>
              <a:srgbClr val="DCDDD6"/>
            </a:solidFill>
            <a:prstDash val="solid"/>
          </a:ln>
        </p:spPr>
      </p:sp>
      <p:pic>
        <p:nvPicPr>
          <p:cNvPr id="5" name="Image 0" descr="Users"/>
          <p:cNvPicPr>
            <a:picLocks noChangeAspect="1"/>
          </p:cNvPicPr>
          <p:nvPr/>
        </p:nvPicPr>
        <p:blipFill>
          <a:blip r:embed="rId3"/>
          <a:srcRect/>
          <a:stretch/>
        </p:blipFill>
        <p:spPr>
          <a:xfrm>
            <a:off x="1071880" y="2037080"/>
            <a:ext cx="355600" cy="355600"/>
          </a:xfrm>
          <a:prstGeom prst="rect">
            <a:avLst/>
          </a:prstGeom>
        </p:spPr>
      </p:pic>
      <p:sp>
        <p:nvSpPr>
          <p:cNvPr id="6" name="Text 3"/>
          <p:cNvSpPr/>
          <p:nvPr/>
        </p:nvSpPr>
        <p:spPr>
          <a:xfrm>
            <a:off x="1071880" y="2519680"/>
            <a:ext cx="295802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3213A"/>
                </a:solidFill>
                <a:latin typeface="Space Grotesk" pitchFamily="34" charset="0"/>
                <a:ea typeface="Space Grotesk" pitchFamily="34" charset="-122"/>
                <a:cs typeface="Space Grotesk" pitchFamily="34" charset="-120"/>
              </a:rPr>
              <a:t>HR Portal</a:t>
            </a:r>
            <a:endParaRPr lang="en-US" sz="2000" dirty="0"/>
          </a:p>
        </p:txBody>
      </p:sp>
      <p:sp>
        <p:nvSpPr>
          <p:cNvPr id="7" name="Text 4"/>
          <p:cNvSpPr/>
          <p:nvPr/>
        </p:nvSpPr>
        <p:spPr>
          <a:xfrm>
            <a:off x="1071880" y="2951480"/>
            <a:ext cx="2958023"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For recruiters. Create jobs, review candidates, run AI screening, shortlist, and let an AI voice agent call candidates to book interviews.</a:t>
            </a:r>
            <a:endParaRPr lang="en-US" sz="1400" dirty="0"/>
          </a:p>
        </p:txBody>
      </p:sp>
      <p:sp>
        <p:nvSpPr>
          <p:cNvPr id="8" name="Text 5"/>
          <p:cNvSpPr/>
          <p:nvPr/>
        </p:nvSpPr>
        <p:spPr>
          <a:xfrm>
            <a:off x="1071880" y="4074160"/>
            <a:ext cx="29580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hr.huptle.com</a:t>
            </a:r>
            <a:endParaRPr lang="en-US" sz="1200" dirty="0"/>
          </a:p>
        </p:txBody>
      </p:sp>
      <p:sp>
        <p:nvSpPr>
          <p:cNvPr id="9" name="Shape 6"/>
          <p:cNvSpPr/>
          <p:nvPr/>
        </p:nvSpPr>
        <p:spPr>
          <a:xfrm>
            <a:off x="4409202" y="1781175"/>
            <a:ext cx="3383756" cy="4057650"/>
          </a:xfrm>
          <a:prstGeom prst="roundRect">
            <a:avLst>
              <a:gd name="adj" fmla="val 3659"/>
            </a:avLst>
          </a:prstGeom>
          <a:solidFill>
            <a:srgbClr val="FFFFFF"/>
          </a:solidFill>
          <a:ln w="6350">
            <a:solidFill>
              <a:srgbClr val="DCDDD6"/>
            </a:solidFill>
            <a:prstDash val="solid"/>
          </a:ln>
        </p:spPr>
      </p:sp>
      <p:pic>
        <p:nvPicPr>
          <p:cNvPr id="10" name="Image 1" descr="Search"/>
          <p:cNvPicPr>
            <a:picLocks noChangeAspect="1"/>
          </p:cNvPicPr>
          <p:nvPr/>
        </p:nvPicPr>
        <p:blipFill>
          <a:blip r:embed="rId4"/>
          <a:srcRect/>
          <a:stretch/>
        </p:blipFill>
        <p:spPr>
          <a:xfrm>
            <a:off x="4665107" y="2037080"/>
            <a:ext cx="355600" cy="355600"/>
          </a:xfrm>
          <a:prstGeom prst="rect">
            <a:avLst/>
          </a:prstGeom>
        </p:spPr>
      </p:pic>
      <p:sp>
        <p:nvSpPr>
          <p:cNvPr id="11" name="Text 7"/>
          <p:cNvSpPr/>
          <p:nvPr/>
        </p:nvSpPr>
        <p:spPr>
          <a:xfrm>
            <a:off x="4665107" y="2519680"/>
            <a:ext cx="295810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3213A"/>
                </a:solidFill>
                <a:latin typeface="Space Grotesk" pitchFamily="34" charset="0"/>
                <a:ea typeface="Space Grotesk" pitchFamily="34" charset="-122"/>
                <a:cs typeface="Space Grotesk" pitchFamily="34" charset="-120"/>
              </a:rPr>
              <a:t>Candidate Portal</a:t>
            </a:r>
            <a:endParaRPr lang="en-US" sz="2000" dirty="0"/>
          </a:p>
        </p:txBody>
      </p:sp>
      <p:sp>
        <p:nvSpPr>
          <p:cNvPr id="12" name="Text 8"/>
          <p:cNvSpPr/>
          <p:nvPr/>
        </p:nvSpPr>
        <p:spPr>
          <a:xfrm>
            <a:off x="4665107" y="2951480"/>
            <a:ext cx="295810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For job seekers. Upload a resume once, get it read by AI, apply to a job, and see AI-matched openings.</a:t>
            </a:r>
            <a:endParaRPr lang="en-US" sz="1400" dirty="0"/>
          </a:p>
        </p:txBody>
      </p:sp>
      <p:sp>
        <p:nvSpPr>
          <p:cNvPr id="13" name="Text 9"/>
          <p:cNvSpPr/>
          <p:nvPr/>
        </p:nvSpPr>
        <p:spPr>
          <a:xfrm>
            <a:off x="4665107" y="3825240"/>
            <a:ext cx="295810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apply.huptle.com</a:t>
            </a:r>
            <a:endParaRPr lang="en-US" sz="1200" dirty="0"/>
          </a:p>
        </p:txBody>
      </p:sp>
      <p:sp>
        <p:nvSpPr>
          <p:cNvPr id="14" name="Shape 10"/>
          <p:cNvSpPr/>
          <p:nvPr/>
        </p:nvSpPr>
        <p:spPr>
          <a:xfrm>
            <a:off x="7999333" y="1778000"/>
            <a:ext cx="3379867" cy="4064000"/>
          </a:xfrm>
          <a:prstGeom prst="roundRect">
            <a:avLst>
              <a:gd name="adj" fmla="val 3758"/>
            </a:avLst>
          </a:prstGeom>
          <a:solidFill>
            <a:srgbClr val="13213A"/>
          </a:solidFill>
          <a:ln/>
        </p:spPr>
      </p:sp>
      <p:pic>
        <p:nvPicPr>
          <p:cNvPr id="15" name="Image 2" descr="Lightning"/>
          <p:cNvPicPr>
            <a:picLocks noChangeAspect="1"/>
          </p:cNvPicPr>
          <p:nvPr/>
        </p:nvPicPr>
        <p:blipFill>
          <a:blip r:embed="rId5"/>
          <a:srcRect/>
          <a:stretch/>
        </p:blipFill>
        <p:spPr>
          <a:xfrm>
            <a:off x="8253333" y="2032000"/>
            <a:ext cx="355600" cy="355600"/>
          </a:xfrm>
          <a:prstGeom prst="rect">
            <a:avLst/>
          </a:prstGeom>
        </p:spPr>
      </p:pic>
      <p:sp>
        <p:nvSpPr>
          <p:cNvPr id="16" name="Text 11"/>
          <p:cNvSpPr/>
          <p:nvPr/>
        </p:nvSpPr>
        <p:spPr>
          <a:xfrm>
            <a:off x="8253333" y="2514600"/>
            <a:ext cx="295802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6F2"/>
                </a:solidFill>
                <a:latin typeface="Space Grotesk" pitchFamily="34" charset="0"/>
                <a:ea typeface="Space Grotesk" pitchFamily="34" charset="-122"/>
                <a:cs typeface="Space Grotesk" pitchFamily="34" charset="-120"/>
              </a:rPr>
              <a:t>AI engine</a:t>
            </a:r>
            <a:endParaRPr lang="en-US" sz="2000" dirty="0"/>
          </a:p>
        </p:txBody>
      </p:sp>
      <p:sp>
        <p:nvSpPr>
          <p:cNvPr id="17" name="Text 12"/>
          <p:cNvSpPr/>
          <p:nvPr/>
        </p:nvSpPr>
        <p:spPr>
          <a:xfrm>
            <a:off x="8253333" y="2946400"/>
            <a:ext cx="2958023"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DDE8"/>
                </a:solidFill>
                <a:latin typeface="DM Sans" pitchFamily="34" charset="0"/>
                <a:ea typeface="DM Sans" pitchFamily="34" charset="-122"/>
                <a:cs typeface="DM Sans" pitchFamily="34" charset="-120"/>
              </a:rPr>
              <a:t>Google Gemini reads resumes, writes job posts, scores and ranks. Vapi makes phone calls. Google Calendar books slots.</a:t>
            </a:r>
            <a:endParaRPr lang="en-US" sz="1400" dirty="0"/>
          </a:p>
        </p:txBody>
      </p:sp>
      <p:sp>
        <p:nvSpPr>
          <p:cNvPr id="18" name="Text 13"/>
          <p:cNvSpPr/>
          <p:nvPr/>
        </p:nvSpPr>
        <p:spPr>
          <a:xfrm>
            <a:off x="8253333" y="4069080"/>
            <a:ext cx="29580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FC0D4"/>
                </a:solidFill>
                <a:latin typeface="DM Sans" pitchFamily="34" charset="0"/>
                <a:ea typeface="DM Sans" pitchFamily="34" charset="-122"/>
                <a:cs typeface="DM Sans" pitchFamily="34" charset="-120"/>
              </a:rPr>
              <a:t>Shared by both products</a:t>
            </a:r>
            <a:endParaRPr lang="en-US" sz="1200" dirty="0"/>
          </a:p>
        </p:txBody>
      </p:sp>
      <p:sp>
        <p:nvSpPr>
          <p:cNvPr id="19" name="Text 14"/>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Huptle · Technical &amp; strategy brief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END-TO-END FLOW · MANAGEMENT VIEW</a:t>
            </a:r>
            <a:endParaRPr lang="en-US" sz="1200" dirty="0"/>
          </a:p>
        </p:txBody>
      </p:sp>
      <p:sp>
        <p:nvSpPr>
          <p:cNvPr id="3" name="Text 1"/>
          <p:cNvSpPr>
            <a:spLocks noGrp="1"/>
          </p:cNvSpPr>
          <p:nvPr>
            <p:ph type="title"/>
          </p:nvPr>
        </p:nvSpPr>
        <p:spPr>
          <a:xfrm>
            <a:off x="812800" y="8991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From job opening to booked interview</a:t>
            </a:r>
            <a:endParaRPr lang="en-US" sz="3000" dirty="0"/>
          </a:p>
        </p:txBody>
      </p:sp>
      <p:sp>
        <p:nvSpPr>
          <p:cNvPr id="4" name="Shape 2"/>
          <p:cNvSpPr/>
          <p:nvPr/>
        </p:nvSpPr>
        <p:spPr>
          <a:xfrm>
            <a:off x="815975" y="1550036"/>
            <a:ext cx="2292350" cy="1522730"/>
          </a:xfrm>
          <a:prstGeom prst="roundRect">
            <a:avLst>
              <a:gd name="adj" fmla="val 7298"/>
            </a:avLst>
          </a:prstGeom>
          <a:solidFill>
            <a:srgbClr val="FFFFFF"/>
          </a:solidFill>
          <a:ln w="6350">
            <a:solidFill>
              <a:srgbClr val="DCDDD6"/>
            </a:solidFill>
            <a:prstDash val="solid"/>
          </a:ln>
        </p:spPr>
      </p:sp>
      <p:sp>
        <p:nvSpPr>
          <p:cNvPr id="5" name="Text 3"/>
          <p:cNvSpPr/>
          <p:nvPr/>
        </p:nvSpPr>
        <p:spPr>
          <a:xfrm>
            <a:off x="970280" y="1704341"/>
            <a:ext cx="20432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1 · Post job</a:t>
            </a:r>
            <a:endParaRPr lang="en-US" sz="1500" dirty="0"/>
          </a:p>
        </p:txBody>
      </p:sp>
      <p:sp>
        <p:nvSpPr>
          <p:cNvPr id="6" name="Text 4"/>
          <p:cNvSpPr/>
          <p:nvPr/>
        </p:nvSpPr>
        <p:spPr>
          <a:xfrm>
            <a:off x="970280" y="1996441"/>
            <a:ext cx="2043252"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HR adds a role. AI drafts the description and screening questions.</a:t>
            </a:r>
            <a:endParaRPr lang="en-US" sz="1200" dirty="0"/>
          </a:p>
        </p:txBody>
      </p:sp>
      <p:sp>
        <p:nvSpPr>
          <p:cNvPr id="7" name="Text 5"/>
          <p:cNvSpPr/>
          <p:nvPr/>
        </p:nvSpPr>
        <p:spPr>
          <a:xfrm>
            <a:off x="970280" y="265430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pic>
        <p:nvPicPr>
          <p:cNvPr id="8" name="Image 0" descr="arrow-right"/>
          <p:cNvPicPr>
            <a:picLocks noChangeAspect="1"/>
          </p:cNvPicPr>
          <p:nvPr/>
        </p:nvPicPr>
        <p:blipFill>
          <a:blip r:embed="rId3"/>
          <a:srcRect/>
          <a:stretch/>
        </p:blipFill>
        <p:spPr>
          <a:xfrm>
            <a:off x="3200400" y="2235200"/>
            <a:ext cx="279400" cy="152400"/>
          </a:xfrm>
          <a:prstGeom prst="rect">
            <a:avLst/>
          </a:prstGeom>
        </p:spPr>
      </p:pic>
      <p:sp>
        <p:nvSpPr>
          <p:cNvPr id="9" name="Shape 6"/>
          <p:cNvSpPr/>
          <p:nvPr/>
        </p:nvSpPr>
        <p:spPr>
          <a:xfrm>
            <a:off x="3571875" y="1550036"/>
            <a:ext cx="2292350" cy="1522730"/>
          </a:xfrm>
          <a:prstGeom prst="roundRect">
            <a:avLst>
              <a:gd name="adj" fmla="val 7298"/>
            </a:avLst>
          </a:prstGeom>
          <a:solidFill>
            <a:srgbClr val="FFFFFF"/>
          </a:solidFill>
          <a:ln w="6350">
            <a:solidFill>
              <a:srgbClr val="DCDDD6"/>
            </a:solidFill>
            <a:prstDash val="solid"/>
          </a:ln>
        </p:spPr>
      </p:sp>
      <p:sp>
        <p:nvSpPr>
          <p:cNvPr id="10" name="Text 7"/>
          <p:cNvSpPr/>
          <p:nvPr/>
        </p:nvSpPr>
        <p:spPr>
          <a:xfrm>
            <a:off x="3726180" y="1704341"/>
            <a:ext cx="20432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2 · Apply</a:t>
            </a:r>
            <a:endParaRPr lang="en-US" sz="1500" dirty="0"/>
          </a:p>
        </p:txBody>
      </p:sp>
      <p:sp>
        <p:nvSpPr>
          <p:cNvPr id="11" name="Text 8"/>
          <p:cNvSpPr/>
          <p:nvPr/>
        </p:nvSpPr>
        <p:spPr>
          <a:xfrm>
            <a:off x="3726180" y="1996441"/>
            <a:ext cx="2043252"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Candidate opens the apply link and uploads a PDF resume.</a:t>
            </a:r>
            <a:endParaRPr lang="en-US" sz="1200" dirty="0"/>
          </a:p>
        </p:txBody>
      </p:sp>
      <p:sp>
        <p:nvSpPr>
          <p:cNvPr id="12" name="Text 9"/>
          <p:cNvSpPr/>
          <p:nvPr/>
        </p:nvSpPr>
        <p:spPr>
          <a:xfrm>
            <a:off x="3726180" y="265430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pic>
        <p:nvPicPr>
          <p:cNvPr id="13" name="Image 1" descr="arrow-right"/>
          <p:cNvPicPr>
            <a:picLocks noChangeAspect="1"/>
          </p:cNvPicPr>
          <p:nvPr/>
        </p:nvPicPr>
        <p:blipFill>
          <a:blip r:embed="rId3"/>
          <a:srcRect/>
          <a:stretch/>
        </p:blipFill>
        <p:spPr>
          <a:xfrm>
            <a:off x="5956300" y="2235200"/>
            <a:ext cx="279400" cy="152400"/>
          </a:xfrm>
          <a:prstGeom prst="rect">
            <a:avLst/>
          </a:prstGeom>
        </p:spPr>
      </p:pic>
      <p:sp>
        <p:nvSpPr>
          <p:cNvPr id="14" name="Shape 10"/>
          <p:cNvSpPr/>
          <p:nvPr/>
        </p:nvSpPr>
        <p:spPr>
          <a:xfrm>
            <a:off x="6327775" y="1550036"/>
            <a:ext cx="2292350" cy="1522730"/>
          </a:xfrm>
          <a:prstGeom prst="roundRect">
            <a:avLst>
              <a:gd name="adj" fmla="val 7298"/>
            </a:avLst>
          </a:prstGeom>
          <a:solidFill>
            <a:srgbClr val="FFFFFF"/>
          </a:solidFill>
          <a:ln w="6350">
            <a:solidFill>
              <a:srgbClr val="DCDDD6"/>
            </a:solidFill>
            <a:prstDash val="solid"/>
          </a:ln>
        </p:spPr>
      </p:sp>
      <p:sp>
        <p:nvSpPr>
          <p:cNvPr id="15" name="Text 11"/>
          <p:cNvSpPr/>
          <p:nvPr/>
        </p:nvSpPr>
        <p:spPr>
          <a:xfrm>
            <a:off x="6482080" y="1704341"/>
            <a:ext cx="20432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3 · AI reads</a:t>
            </a:r>
            <a:endParaRPr lang="en-US" sz="1500" dirty="0"/>
          </a:p>
        </p:txBody>
      </p:sp>
      <p:sp>
        <p:nvSpPr>
          <p:cNvPr id="16" name="Text 12"/>
          <p:cNvSpPr/>
          <p:nvPr/>
        </p:nvSpPr>
        <p:spPr>
          <a:xfrm>
            <a:off x="6482080" y="1996441"/>
            <a:ext cx="2043252"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AI extracts skills and experience; profile lands in HR portal.</a:t>
            </a:r>
            <a:endParaRPr lang="en-US" sz="1200" dirty="0"/>
          </a:p>
        </p:txBody>
      </p:sp>
      <p:sp>
        <p:nvSpPr>
          <p:cNvPr id="17" name="Text 13"/>
          <p:cNvSpPr/>
          <p:nvPr/>
        </p:nvSpPr>
        <p:spPr>
          <a:xfrm>
            <a:off x="6482080" y="265430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pic>
        <p:nvPicPr>
          <p:cNvPr id="18" name="Image 2" descr="arrow-right"/>
          <p:cNvPicPr>
            <a:picLocks noChangeAspect="1"/>
          </p:cNvPicPr>
          <p:nvPr/>
        </p:nvPicPr>
        <p:blipFill>
          <a:blip r:embed="rId3"/>
          <a:srcRect/>
          <a:stretch/>
        </p:blipFill>
        <p:spPr>
          <a:xfrm>
            <a:off x="8712200" y="2235200"/>
            <a:ext cx="279400" cy="152400"/>
          </a:xfrm>
          <a:prstGeom prst="rect">
            <a:avLst/>
          </a:prstGeom>
        </p:spPr>
      </p:pic>
      <p:sp>
        <p:nvSpPr>
          <p:cNvPr id="19" name="Shape 14"/>
          <p:cNvSpPr/>
          <p:nvPr/>
        </p:nvSpPr>
        <p:spPr>
          <a:xfrm>
            <a:off x="9083675" y="1550036"/>
            <a:ext cx="2292350" cy="1522730"/>
          </a:xfrm>
          <a:prstGeom prst="roundRect">
            <a:avLst>
              <a:gd name="adj" fmla="val 7298"/>
            </a:avLst>
          </a:prstGeom>
          <a:solidFill>
            <a:srgbClr val="FFFFFF"/>
          </a:solidFill>
          <a:ln w="6350">
            <a:solidFill>
              <a:srgbClr val="DCDDD6"/>
            </a:solidFill>
            <a:prstDash val="solid"/>
          </a:ln>
        </p:spPr>
      </p:sp>
      <p:sp>
        <p:nvSpPr>
          <p:cNvPr id="20" name="Text 15"/>
          <p:cNvSpPr/>
          <p:nvPr/>
        </p:nvSpPr>
        <p:spPr>
          <a:xfrm>
            <a:off x="9237980" y="1704341"/>
            <a:ext cx="20432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4 · Screen</a:t>
            </a:r>
            <a:endParaRPr lang="en-US" sz="1500" dirty="0"/>
          </a:p>
        </p:txBody>
      </p:sp>
      <p:sp>
        <p:nvSpPr>
          <p:cNvPr id="21" name="Text 16"/>
          <p:cNvSpPr/>
          <p:nvPr/>
        </p:nvSpPr>
        <p:spPr>
          <a:xfrm>
            <a:off x="9237980" y="1996441"/>
            <a:ext cx="2043252"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AI scores answers to the screening questions and writes a summary.</a:t>
            </a:r>
            <a:endParaRPr lang="en-US" sz="1200" dirty="0"/>
          </a:p>
        </p:txBody>
      </p:sp>
      <p:sp>
        <p:nvSpPr>
          <p:cNvPr id="22" name="Text 17"/>
          <p:cNvSpPr/>
          <p:nvPr/>
        </p:nvSpPr>
        <p:spPr>
          <a:xfrm>
            <a:off x="9237980" y="265430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sp>
        <p:nvSpPr>
          <p:cNvPr id="23" name="Shape 18"/>
          <p:cNvSpPr/>
          <p:nvPr/>
        </p:nvSpPr>
        <p:spPr>
          <a:xfrm>
            <a:off x="815975" y="3310255"/>
            <a:ext cx="2294890" cy="1522730"/>
          </a:xfrm>
          <a:prstGeom prst="roundRect">
            <a:avLst>
              <a:gd name="adj" fmla="val 7298"/>
            </a:avLst>
          </a:prstGeom>
          <a:solidFill>
            <a:srgbClr val="FFFFFF"/>
          </a:solidFill>
          <a:ln w="6350">
            <a:solidFill>
              <a:srgbClr val="DCDDD6"/>
            </a:solidFill>
            <a:prstDash val="solid"/>
          </a:ln>
        </p:spPr>
      </p:sp>
      <p:sp>
        <p:nvSpPr>
          <p:cNvPr id="24" name="Text 19"/>
          <p:cNvSpPr/>
          <p:nvPr/>
        </p:nvSpPr>
        <p:spPr>
          <a:xfrm>
            <a:off x="970280" y="3464561"/>
            <a:ext cx="20458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5 · Shortlist</a:t>
            </a:r>
            <a:endParaRPr lang="en-US" sz="1500" dirty="0"/>
          </a:p>
        </p:txBody>
      </p:sp>
      <p:sp>
        <p:nvSpPr>
          <p:cNvPr id="25" name="Text 20"/>
          <p:cNvSpPr/>
          <p:nvPr/>
        </p:nvSpPr>
        <p:spPr>
          <a:xfrm>
            <a:off x="970280" y="3756661"/>
            <a:ext cx="2045869"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AI ranks and compares candidates; HR picks the shortlist.</a:t>
            </a:r>
            <a:endParaRPr lang="en-US" sz="1200" dirty="0"/>
          </a:p>
        </p:txBody>
      </p:sp>
      <p:sp>
        <p:nvSpPr>
          <p:cNvPr id="26" name="Text 21"/>
          <p:cNvSpPr/>
          <p:nvPr/>
        </p:nvSpPr>
        <p:spPr>
          <a:xfrm>
            <a:off x="970280" y="441452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pic>
        <p:nvPicPr>
          <p:cNvPr id="27" name="Image 3" descr="arrow-right"/>
          <p:cNvPicPr>
            <a:picLocks noChangeAspect="1"/>
          </p:cNvPicPr>
          <p:nvPr/>
        </p:nvPicPr>
        <p:blipFill>
          <a:blip r:embed="rId3"/>
          <a:srcRect/>
          <a:stretch/>
        </p:blipFill>
        <p:spPr>
          <a:xfrm>
            <a:off x="3202940" y="3995420"/>
            <a:ext cx="279400" cy="152400"/>
          </a:xfrm>
          <a:prstGeom prst="rect">
            <a:avLst/>
          </a:prstGeom>
        </p:spPr>
      </p:pic>
      <p:sp>
        <p:nvSpPr>
          <p:cNvPr id="28" name="Shape 22"/>
          <p:cNvSpPr/>
          <p:nvPr/>
        </p:nvSpPr>
        <p:spPr>
          <a:xfrm>
            <a:off x="3574415" y="3310255"/>
            <a:ext cx="2294890" cy="1522730"/>
          </a:xfrm>
          <a:prstGeom prst="roundRect">
            <a:avLst>
              <a:gd name="adj" fmla="val 7298"/>
            </a:avLst>
          </a:prstGeom>
          <a:solidFill>
            <a:srgbClr val="FFFFFF"/>
          </a:solidFill>
          <a:ln w="6350">
            <a:solidFill>
              <a:srgbClr val="DCDDD6"/>
            </a:solidFill>
            <a:prstDash val="solid"/>
          </a:ln>
        </p:spPr>
      </p:sp>
      <p:sp>
        <p:nvSpPr>
          <p:cNvPr id="29" name="Text 23"/>
          <p:cNvSpPr/>
          <p:nvPr/>
        </p:nvSpPr>
        <p:spPr>
          <a:xfrm>
            <a:off x="3728720" y="3464561"/>
            <a:ext cx="20458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6 · AI call</a:t>
            </a:r>
            <a:endParaRPr lang="en-US" sz="1500" dirty="0"/>
          </a:p>
        </p:txBody>
      </p:sp>
      <p:sp>
        <p:nvSpPr>
          <p:cNvPr id="30" name="Text 24"/>
          <p:cNvSpPr/>
          <p:nvPr/>
        </p:nvSpPr>
        <p:spPr>
          <a:xfrm>
            <a:off x="3728720" y="3756661"/>
            <a:ext cx="2045869"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A voice agent phones each candidate and asks when they are free.</a:t>
            </a:r>
            <a:endParaRPr lang="en-US" sz="1200" dirty="0"/>
          </a:p>
        </p:txBody>
      </p:sp>
      <p:sp>
        <p:nvSpPr>
          <p:cNvPr id="31" name="Text 25"/>
          <p:cNvSpPr/>
          <p:nvPr/>
        </p:nvSpPr>
        <p:spPr>
          <a:xfrm>
            <a:off x="3728720" y="4414520"/>
            <a:ext cx="1244362" cy="264160"/>
          </a:xfrm>
          <a:custGeom>
            <a:avLst/>
            <a:gdLst/>
            <a:ahLst/>
            <a:cxnLst/>
            <a:rect l="l" t="t" r="r" b="b"/>
            <a:pathLst>
              <a:path w="1244362" h="264160">
                <a:moveTo>
                  <a:pt x="132080" y="0"/>
                </a:moveTo>
                <a:lnTo>
                  <a:pt x="1112282" y="0"/>
                </a:lnTo>
                <a:arcTo wR="132080" hR="132080" stAng="16200000" swAng="5400000"/>
                <a:lnTo>
                  <a:pt x="1244362"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7D3"/>
          </a:solidFill>
          <a:ln/>
        </p:spPr>
        <p:txBody>
          <a:bodyPr wrap="none" lIns="0" tIns="0" rIns="0" bIns="0" rtlCol="0" anchor="ctr">
            <a:normAutofit/>
          </a:bodyPr>
          <a:lstStyle/>
          <a:p>
            <a:pPr marL="0" indent="0" algn="ctr">
              <a:lnSpc>
                <a:spcPts val="1680"/>
              </a:lnSpc>
              <a:buNone/>
            </a:pPr>
            <a:r>
              <a:rPr lang="en-US" sz="1200" dirty="0">
                <a:solidFill>
                  <a:srgbClr val="8A3A0E"/>
                </a:solidFill>
                <a:latin typeface="DM Sans" pitchFamily="34" charset="0"/>
                <a:ea typeface="DM Sans" pitchFamily="34" charset="-122"/>
                <a:cs typeface="DM Sans" pitchFamily="34" charset="-120"/>
              </a:rPr>
              <a:t>Live · India only</a:t>
            </a:r>
            <a:endParaRPr lang="en-US" sz="1200" dirty="0"/>
          </a:p>
        </p:txBody>
      </p:sp>
      <p:pic>
        <p:nvPicPr>
          <p:cNvPr id="32" name="Image 4" descr="arrow-right"/>
          <p:cNvPicPr>
            <a:picLocks noChangeAspect="1"/>
          </p:cNvPicPr>
          <p:nvPr/>
        </p:nvPicPr>
        <p:blipFill>
          <a:blip r:embed="rId3"/>
          <a:srcRect/>
          <a:stretch/>
        </p:blipFill>
        <p:spPr>
          <a:xfrm>
            <a:off x="5961380" y="3995420"/>
            <a:ext cx="279400" cy="152400"/>
          </a:xfrm>
          <a:prstGeom prst="rect">
            <a:avLst/>
          </a:prstGeom>
        </p:spPr>
      </p:pic>
      <p:sp>
        <p:nvSpPr>
          <p:cNvPr id="33" name="Shape 26"/>
          <p:cNvSpPr/>
          <p:nvPr/>
        </p:nvSpPr>
        <p:spPr>
          <a:xfrm>
            <a:off x="6332855" y="3310255"/>
            <a:ext cx="2294890" cy="1522730"/>
          </a:xfrm>
          <a:prstGeom prst="roundRect">
            <a:avLst>
              <a:gd name="adj" fmla="val 7298"/>
            </a:avLst>
          </a:prstGeom>
          <a:solidFill>
            <a:srgbClr val="FFFFFF"/>
          </a:solidFill>
          <a:ln w="6350">
            <a:solidFill>
              <a:srgbClr val="DCDDD6"/>
            </a:solidFill>
            <a:prstDash val="solid"/>
          </a:ln>
        </p:spPr>
      </p:sp>
      <p:sp>
        <p:nvSpPr>
          <p:cNvPr id="34" name="Text 27"/>
          <p:cNvSpPr/>
          <p:nvPr/>
        </p:nvSpPr>
        <p:spPr>
          <a:xfrm>
            <a:off x="6487160" y="3464561"/>
            <a:ext cx="20458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Space Grotesk" pitchFamily="34" charset="0"/>
                <a:ea typeface="Space Grotesk" pitchFamily="34" charset="-122"/>
                <a:cs typeface="Space Grotesk" pitchFamily="34" charset="-120"/>
              </a:rPr>
              <a:t>7 · Book</a:t>
            </a:r>
            <a:endParaRPr lang="en-US" sz="1500" dirty="0"/>
          </a:p>
        </p:txBody>
      </p:sp>
      <p:sp>
        <p:nvSpPr>
          <p:cNvPr id="35" name="Text 28"/>
          <p:cNvSpPr/>
          <p:nvPr/>
        </p:nvSpPr>
        <p:spPr>
          <a:xfrm>
            <a:off x="6487160" y="3756661"/>
            <a:ext cx="2045869"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DM Sans" pitchFamily="34" charset="0"/>
                <a:ea typeface="DM Sans" pitchFamily="34" charset="-122"/>
                <a:cs typeface="DM Sans" pitchFamily="34" charset="-120"/>
              </a:rPr>
              <a:t>AI reads the call, checks HR's calendar, books the interview.</a:t>
            </a:r>
            <a:endParaRPr lang="en-US" sz="1200" dirty="0"/>
          </a:p>
        </p:txBody>
      </p:sp>
      <p:sp>
        <p:nvSpPr>
          <p:cNvPr id="36" name="Text 29"/>
          <p:cNvSpPr/>
          <p:nvPr/>
        </p:nvSpPr>
        <p:spPr>
          <a:xfrm>
            <a:off x="6487160" y="4414520"/>
            <a:ext cx="457835" cy="264160"/>
          </a:xfrm>
          <a:custGeom>
            <a:avLst/>
            <a:gdLst/>
            <a:ahLst/>
            <a:cxnLst/>
            <a:rect l="l" t="t" r="r" b="b"/>
            <a:pathLst>
              <a:path w="457835" h="264160">
                <a:moveTo>
                  <a:pt x="132080" y="0"/>
                </a:moveTo>
                <a:lnTo>
                  <a:pt x="325755" y="0"/>
                </a:lnTo>
                <a:arcTo wR="132080" hR="132080" stAng="16200000" swAng="5400000"/>
                <a:lnTo>
                  <a:pt x="457835" y="132080"/>
                </a:lnTo>
                <a:arcTo wR="132080" hR="132080" stAng="0" swAng="5400000"/>
                <a:lnTo>
                  <a:pt x="132080" y="264160"/>
                </a:lnTo>
                <a:arcTo wR="132080" hR="132080" stAng="5400000" swAng="5400000"/>
                <a:lnTo>
                  <a:pt x="0" y="132080"/>
                </a:lnTo>
                <a:arcTo wR="132080" hR="132080" stAng="10800000" swAng="5400000"/>
                <a:close/>
              </a:path>
            </a:pathLst>
          </a:custGeom>
          <a:solidFill>
            <a:srgbClr val="DCEBDD"/>
          </a:solidFill>
          <a:ln/>
        </p:spPr>
        <p:txBody>
          <a:bodyPr wrap="none" lIns="0" tIns="0" rIns="0" bIns="0" rtlCol="0" anchor="ctr">
            <a:normAutofit/>
          </a:bodyPr>
          <a:lstStyle/>
          <a:p>
            <a:pPr marL="0" indent="0" algn="ctr">
              <a:lnSpc>
                <a:spcPts val="1680"/>
              </a:lnSpc>
              <a:buNone/>
            </a:pPr>
            <a:r>
              <a:rPr lang="en-US" sz="1200" dirty="0">
                <a:solidFill>
                  <a:srgbClr val="1E5631"/>
                </a:solidFill>
                <a:latin typeface="DM Sans" pitchFamily="34" charset="0"/>
                <a:ea typeface="DM Sans" pitchFamily="34" charset="-122"/>
                <a:cs typeface="DM Sans" pitchFamily="34" charset="-120"/>
              </a:rPr>
              <a:t>Live</a:t>
            </a:r>
            <a:endParaRPr lang="en-US" sz="1200" dirty="0"/>
          </a:p>
        </p:txBody>
      </p:sp>
      <p:pic>
        <p:nvPicPr>
          <p:cNvPr id="37" name="Image 5" descr="arrow-right"/>
          <p:cNvPicPr>
            <a:picLocks noChangeAspect="1"/>
          </p:cNvPicPr>
          <p:nvPr/>
        </p:nvPicPr>
        <p:blipFill>
          <a:blip r:embed="rId3"/>
          <a:srcRect/>
          <a:stretch/>
        </p:blipFill>
        <p:spPr>
          <a:xfrm>
            <a:off x="8719820" y="3995420"/>
            <a:ext cx="279400" cy="152400"/>
          </a:xfrm>
          <a:prstGeom prst="rect">
            <a:avLst/>
          </a:prstGeom>
        </p:spPr>
      </p:pic>
      <p:sp>
        <p:nvSpPr>
          <p:cNvPr id="38" name="Shape 30"/>
          <p:cNvSpPr/>
          <p:nvPr/>
        </p:nvSpPr>
        <p:spPr>
          <a:xfrm>
            <a:off x="9088120" y="3304541"/>
            <a:ext cx="2291080" cy="1534160"/>
          </a:xfrm>
          <a:prstGeom prst="roundRect">
            <a:avLst>
              <a:gd name="adj" fmla="val 7450"/>
            </a:avLst>
          </a:prstGeom>
          <a:solidFill>
            <a:srgbClr val="13213A"/>
          </a:solidFill>
          <a:ln/>
        </p:spPr>
      </p:sp>
      <p:sp>
        <p:nvSpPr>
          <p:cNvPr id="39" name="Text 31"/>
          <p:cNvSpPr/>
          <p:nvPr/>
        </p:nvSpPr>
        <p:spPr>
          <a:xfrm>
            <a:off x="9240520" y="3456941"/>
            <a:ext cx="20458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Space Grotesk" pitchFamily="34" charset="0"/>
                <a:ea typeface="Space Grotesk" pitchFamily="34" charset="-122"/>
                <a:cs typeface="Space Grotesk" pitchFamily="34" charset="-120"/>
              </a:rPr>
              <a:t>8 · Notify</a:t>
            </a:r>
            <a:endParaRPr lang="en-US" sz="1500" dirty="0"/>
          </a:p>
        </p:txBody>
      </p:sp>
      <p:sp>
        <p:nvSpPr>
          <p:cNvPr id="40" name="Text 32"/>
          <p:cNvSpPr/>
          <p:nvPr/>
        </p:nvSpPr>
        <p:spPr>
          <a:xfrm>
            <a:off x="9240520" y="3749041"/>
            <a:ext cx="2045869"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5DDE8"/>
                </a:solidFill>
                <a:latin typeface="DM Sans" pitchFamily="34" charset="0"/>
                <a:ea typeface="DM Sans" pitchFamily="34" charset="-122"/>
                <a:cs typeface="DM Sans" pitchFamily="34" charset="-120"/>
              </a:rPr>
              <a:t>AI drafts invite, offer and rejection emails for HR.</a:t>
            </a:r>
            <a:endParaRPr lang="en-US" sz="1200" dirty="0"/>
          </a:p>
        </p:txBody>
      </p:sp>
      <p:sp>
        <p:nvSpPr>
          <p:cNvPr id="41" name="Text 33"/>
          <p:cNvSpPr/>
          <p:nvPr/>
        </p:nvSpPr>
        <p:spPr>
          <a:xfrm>
            <a:off x="9240520" y="4208780"/>
            <a:ext cx="1986280" cy="477520"/>
          </a:xfrm>
          <a:custGeom>
            <a:avLst/>
            <a:gdLst/>
            <a:ahLst/>
            <a:cxnLst/>
            <a:rect l="l" t="t" r="r" b="b"/>
            <a:pathLst>
              <a:path w="1986280" h="477520">
                <a:moveTo>
                  <a:pt x="238760" y="0"/>
                </a:moveTo>
                <a:lnTo>
                  <a:pt x="1747520" y="0"/>
                </a:lnTo>
                <a:arcTo wR="238760" hR="238760" stAng="16200000" swAng="5400000"/>
                <a:lnTo>
                  <a:pt x="1986280" y="238760"/>
                </a:lnTo>
                <a:arcTo wR="238760" hR="238760" stAng="0" swAng="5400000"/>
                <a:lnTo>
                  <a:pt x="238760" y="477520"/>
                </a:lnTo>
                <a:arcTo wR="238760" hR="238760" stAng="5400000" swAng="5400000"/>
                <a:lnTo>
                  <a:pt x="0" y="238760"/>
                </a:lnTo>
                <a:arcTo wR="238760" hR="238760" stAng="10800000" swAng="5400000"/>
                <a:close/>
              </a:path>
            </a:pathLst>
          </a:custGeom>
          <a:solidFill>
            <a:srgbClr val="E9A276"/>
          </a:solidFill>
          <a:ln/>
        </p:spPr>
        <p:txBody>
          <a:bodyPr wrap="square" lIns="88900" tIns="25400" rIns="34646" bIns="0" rtlCol="0" anchor="t">
            <a:normAutofit/>
          </a:bodyPr>
          <a:lstStyle/>
          <a:p>
            <a:pPr marL="0" indent="0" algn="l">
              <a:lnSpc>
                <a:spcPts val="1680"/>
              </a:lnSpc>
              <a:buNone/>
            </a:pPr>
            <a:r>
              <a:rPr lang="en-US" sz="1200" dirty="0">
                <a:solidFill>
                  <a:srgbClr val="13213A"/>
                </a:solidFill>
                <a:latin typeface="DM Sans" pitchFamily="34" charset="0"/>
                <a:ea typeface="DM Sans" pitchFamily="34" charset="-122"/>
                <a:cs typeface="DM Sans" pitchFamily="34" charset="-120"/>
              </a:rPr>
              <a:t>Drafts only · sending planned</a:t>
            </a:r>
            <a:endParaRPr lang="en-US" sz="1200" dirty="0"/>
          </a:p>
        </p:txBody>
      </p:sp>
      <p:sp>
        <p:nvSpPr>
          <p:cNvPr id="42" name="Text 34"/>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Status from code review of the Hr-tech repository, Oct 2026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TECHNICAL ARCHITECTURE · TODAY</a:t>
            </a:r>
            <a:endParaRPr lang="en-US" sz="1200" dirty="0"/>
          </a:p>
        </p:txBody>
      </p:sp>
      <p:sp>
        <p:nvSpPr>
          <p:cNvPr id="3" name="Text 1"/>
          <p:cNvSpPr>
            <a:spLocks noGrp="1"/>
          </p:cNvSpPr>
          <p:nvPr>
            <p:ph type="title"/>
          </p:nvPr>
        </p:nvSpPr>
        <p:spPr>
          <a:xfrm>
            <a:off x="812800" y="797561"/>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3213A"/>
                </a:solidFill>
                <a:latin typeface="Space Grotesk" pitchFamily="34" charset="0"/>
                <a:ea typeface="Space Grotesk" pitchFamily="34" charset="-122"/>
                <a:cs typeface="Space Grotesk" pitchFamily="34" charset="-120"/>
              </a:rPr>
              <a:t>One server, two databases, four outside services</a:t>
            </a:r>
            <a:endParaRPr lang="en-US" sz="2800" dirty="0"/>
          </a:p>
        </p:txBody>
      </p:sp>
      <p:sp>
        <p:nvSpPr>
          <p:cNvPr id="4" name="Text 2"/>
          <p:cNvSpPr/>
          <p:nvPr/>
        </p:nvSpPr>
        <p:spPr>
          <a:xfrm>
            <a:off x="812800" y="1498600"/>
            <a:ext cx="1651000" cy="3073400"/>
          </a:xfrm>
          <a:prstGeom prst="roundRect">
            <a:avLst>
              <a:gd name="adj" fmla="val 6923"/>
            </a:avLst>
          </a:prstGeom>
          <a:solidFill>
            <a:srgbClr val="E6EAF0"/>
          </a:solidFill>
          <a:ln/>
        </p:spPr>
        <p:txBody>
          <a:bodyPr wrap="square" lIns="42723" tIns="68123" rIns="42723" bIns="68123" rtlCol="0" anchor="t">
            <a:normAutofit/>
          </a:bodyPr>
          <a:lstStyle/>
          <a:p>
            <a:pPr marL="0" indent="0" algn="ctr">
              <a:lnSpc>
                <a:spcPts val="1680"/>
              </a:lnSpc>
              <a:buNone/>
            </a:pPr>
            <a:r>
              <a:rPr lang="en-US" sz="1200" b="1" dirty="0">
                <a:solidFill>
                  <a:srgbClr val="3E4A5C"/>
                </a:solidFill>
                <a:latin typeface="DM Sans" pitchFamily="34" charset="0"/>
                <a:ea typeface="DM Sans" pitchFamily="34" charset="-122"/>
                <a:cs typeface="DM Sans" pitchFamily="34" charset="-120"/>
              </a:rPr>
              <a:t>Users</a:t>
            </a:r>
            <a:endParaRPr lang="en-US" sz="1200" dirty="0"/>
          </a:p>
        </p:txBody>
      </p:sp>
      <p:sp>
        <p:nvSpPr>
          <p:cNvPr id="5" name="Text 3"/>
          <p:cNvSpPr/>
          <p:nvPr/>
        </p:nvSpPr>
        <p:spPr>
          <a:xfrm>
            <a:off x="2851150" y="1504950"/>
            <a:ext cx="4876800" cy="3060700"/>
          </a:xfrm>
          <a:prstGeom prst="roundRect">
            <a:avLst>
              <a:gd name="adj" fmla="val 3527"/>
            </a:avLst>
          </a:prstGeom>
          <a:solidFill>
            <a:srgbClr val="FFFFFF"/>
          </a:solidFill>
          <a:ln w="12700">
            <a:solidFill>
              <a:srgbClr val="1F5FC4"/>
            </a:solidFill>
            <a:prstDash val="dash"/>
          </a:ln>
        </p:spPr>
        <p:txBody>
          <a:bodyPr wrap="square" lIns="73793" tIns="73793" rIns="0" bIns="73793"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One VPS · Docker Compose</a:t>
            </a:r>
            <a:endParaRPr lang="en-US" sz="1200" dirty="0"/>
          </a:p>
        </p:txBody>
      </p:sp>
      <p:sp>
        <p:nvSpPr>
          <p:cNvPr id="6" name="Text 4"/>
          <p:cNvSpPr/>
          <p:nvPr/>
        </p:nvSpPr>
        <p:spPr>
          <a:xfrm>
            <a:off x="9004300" y="1498600"/>
            <a:ext cx="2374900" cy="3073400"/>
          </a:xfrm>
          <a:prstGeom prst="roundRect">
            <a:avLst>
              <a:gd name="adj" fmla="val 4813"/>
            </a:avLst>
          </a:prstGeom>
          <a:solidFill>
            <a:srgbClr val="E6EAF0"/>
          </a:solidFill>
          <a:ln/>
        </p:spPr>
        <p:txBody>
          <a:bodyPr wrap="square" lIns="35547" tIns="68123" rIns="35547" bIns="68123" rtlCol="0" anchor="t">
            <a:normAutofit/>
          </a:bodyPr>
          <a:lstStyle/>
          <a:p>
            <a:pPr marL="0" indent="0" algn="ctr">
              <a:lnSpc>
                <a:spcPts val="1680"/>
              </a:lnSpc>
              <a:buNone/>
            </a:pPr>
            <a:r>
              <a:rPr lang="en-US" sz="1200" b="1" dirty="0">
                <a:solidFill>
                  <a:srgbClr val="3E4A5C"/>
                </a:solidFill>
                <a:latin typeface="DM Sans" pitchFamily="34" charset="0"/>
                <a:ea typeface="DM Sans" pitchFamily="34" charset="-122"/>
                <a:cs typeface="DM Sans" pitchFamily="34" charset="-120"/>
              </a:rPr>
              <a:t>Outside services</a:t>
            </a:r>
            <a:endParaRPr lang="en-US" sz="1200" dirty="0"/>
          </a:p>
        </p:txBody>
      </p:sp>
      <p:sp>
        <p:nvSpPr>
          <p:cNvPr id="7" name="Text 5"/>
          <p:cNvSpPr/>
          <p:nvPr/>
        </p:nvSpPr>
        <p:spPr>
          <a:xfrm>
            <a:off x="942975" y="2289175"/>
            <a:ext cx="1390650" cy="496570"/>
          </a:xfrm>
          <a:custGeom>
            <a:avLst/>
            <a:gdLst/>
            <a:ahLst/>
            <a:cxnLst/>
            <a:rect l="l" t="t" r="r" b="b"/>
            <a:pathLst>
              <a:path w="1390650" h="496570">
                <a:moveTo>
                  <a:pt x="73025" y="0"/>
                </a:moveTo>
                <a:lnTo>
                  <a:pt x="1317625" y="0"/>
                </a:lnTo>
                <a:arcTo wR="73025" hR="73025" stAng="16200000" swAng="5400000"/>
                <a:lnTo>
                  <a:pt x="13906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40005" tIns="65405" rIns="40005"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HR user</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browser</a:t>
            </a:r>
            <a:endParaRPr lang="en-US" sz="1200" dirty="0"/>
          </a:p>
        </p:txBody>
      </p:sp>
      <p:sp>
        <p:nvSpPr>
          <p:cNvPr id="8" name="Text 6"/>
          <p:cNvSpPr/>
          <p:nvPr/>
        </p:nvSpPr>
        <p:spPr>
          <a:xfrm>
            <a:off x="942975" y="3305175"/>
            <a:ext cx="1390650" cy="496570"/>
          </a:xfrm>
          <a:custGeom>
            <a:avLst/>
            <a:gdLst/>
            <a:ahLst/>
            <a:cxnLst/>
            <a:rect l="l" t="t" r="r" b="b"/>
            <a:pathLst>
              <a:path w="1390650" h="496570">
                <a:moveTo>
                  <a:pt x="73025" y="0"/>
                </a:moveTo>
                <a:lnTo>
                  <a:pt x="1317625" y="0"/>
                </a:lnTo>
                <a:arcTo wR="73025" hR="73025" stAng="16200000" swAng="5400000"/>
                <a:lnTo>
                  <a:pt x="13906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40005" tIns="65405" rIns="40005"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Candidate</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browser</a:t>
            </a:r>
            <a:endParaRPr lang="en-US" sz="1200" dirty="0"/>
          </a:p>
        </p:txBody>
      </p:sp>
      <p:sp>
        <p:nvSpPr>
          <p:cNvPr id="9" name="Text 7"/>
          <p:cNvSpPr/>
          <p:nvPr/>
        </p:nvSpPr>
        <p:spPr>
          <a:xfrm>
            <a:off x="3035300" y="2508250"/>
            <a:ext cx="1270000" cy="492760"/>
          </a:xfrm>
          <a:custGeom>
            <a:avLst/>
            <a:gdLst/>
            <a:ahLst/>
            <a:cxnLst/>
            <a:rect l="l" t="t" r="r" b="b"/>
            <a:pathLst>
              <a:path w="1270000" h="492760">
                <a:moveTo>
                  <a:pt x="76200" y="0"/>
                </a:moveTo>
                <a:lnTo>
                  <a:pt x="1193800" y="0"/>
                </a:lnTo>
                <a:arcTo wR="76200" hR="76200" stAng="16200000" swAng="5400000"/>
                <a:lnTo>
                  <a:pt x="1270000" y="416560"/>
                </a:lnTo>
                <a:arcTo wR="76200" hR="76200" stAng="0" swAng="5400000"/>
                <a:lnTo>
                  <a:pt x="76200" y="492760"/>
                </a:lnTo>
                <a:arcTo wR="76200" hR="76200" stAng="5400000" swAng="5400000"/>
                <a:lnTo>
                  <a:pt x="0" y="76200"/>
                </a:lnTo>
                <a:arcTo wR="76200" hR="76200" stAng="10800000" swAng="5400000"/>
                <a:close/>
              </a:path>
            </a:pathLst>
          </a:custGeom>
          <a:solidFill>
            <a:srgbClr val="E3ECFA"/>
          </a:solidFill>
          <a:ln/>
        </p:spPr>
        <p:txBody>
          <a:bodyPr wrap="square" lIns="38100" tIns="63500" rIns="38100" bIns="38100"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Caddy</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HTTPS proxy</a:t>
            </a:r>
            <a:endParaRPr lang="en-US" sz="1200" dirty="0"/>
          </a:p>
        </p:txBody>
      </p:sp>
      <p:sp>
        <p:nvSpPr>
          <p:cNvPr id="10" name="Text 8"/>
          <p:cNvSpPr/>
          <p:nvPr/>
        </p:nvSpPr>
        <p:spPr>
          <a:xfrm>
            <a:off x="4813300" y="1905000"/>
            <a:ext cx="1397000" cy="492760"/>
          </a:xfrm>
          <a:custGeom>
            <a:avLst/>
            <a:gdLst/>
            <a:ahLst/>
            <a:cxnLst/>
            <a:rect l="l" t="t" r="r" b="b"/>
            <a:pathLst>
              <a:path w="1397000" h="492760">
                <a:moveTo>
                  <a:pt x="76200" y="0"/>
                </a:moveTo>
                <a:lnTo>
                  <a:pt x="1320800" y="0"/>
                </a:lnTo>
                <a:arcTo wR="76200" hR="76200" stAng="16200000" swAng="5400000"/>
                <a:lnTo>
                  <a:pt x="1397000" y="416560"/>
                </a:lnTo>
                <a:arcTo wR="76200" hR="76200" stAng="0" swAng="5400000"/>
                <a:lnTo>
                  <a:pt x="76200" y="492760"/>
                </a:lnTo>
                <a:arcTo wR="76200" hR="76200" stAng="5400000" swAng="5400000"/>
                <a:lnTo>
                  <a:pt x="0" y="76200"/>
                </a:lnTo>
                <a:arcTo wR="76200" hR="76200" stAng="10800000" swAng="5400000"/>
                <a:close/>
              </a:path>
            </a:pathLst>
          </a:custGeom>
          <a:solidFill>
            <a:srgbClr val="13213A"/>
          </a:solidFill>
          <a:ln/>
        </p:spPr>
        <p:txBody>
          <a:bodyPr wrap="square" lIns="38100" tIns="63500" rIns="38100" bIns="381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HR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Next.js :3000</a:t>
            </a:r>
            <a:endParaRPr lang="en-US" sz="1200" dirty="0"/>
          </a:p>
        </p:txBody>
      </p:sp>
      <p:sp>
        <p:nvSpPr>
          <p:cNvPr id="11" name="Text 9"/>
          <p:cNvSpPr/>
          <p:nvPr/>
        </p:nvSpPr>
        <p:spPr>
          <a:xfrm>
            <a:off x="4813300" y="3302000"/>
            <a:ext cx="1397000" cy="492760"/>
          </a:xfrm>
          <a:custGeom>
            <a:avLst/>
            <a:gdLst/>
            <a:ahLst/>
            <a:cxnLst/>
            <a:rect l="l" t="t" r="r" b="b"/>
            <a:pathLst>
              <a:path w="1397000" h="492760">
                <a:moveTo>
                  <a:pt x="76200" y="0"/>
                </a:moveTo>
                <a:lnTo>
                  <a:pt x="1320800" y="0"/>
                </a:lnTo>
                <a:arcTo wR="76200" hR="76200" stAng="16200000" swAng="5400000"/>
                <a:lnTo>
                  <a:pt x="1397000" y="416560"/>
                </a:lnTo>
                <a:arcTo wR="76200" hR="76200" stAng="0" swAng="5400000"/>
                <a:lnTo>
                  <a:pt x="76200" y="492760"/>
                </a:lnTo>
                <a:arcTo wR="76200" hR="76200" stAng="5400000" swAng="5400000"/>
                <a:lnTo>
                  <a:pt x="0" y="76200"/>
                </a:lnTo>
                <a:arcTo wR="76200" hR="76200" stAng="10800000" swAng="5400000"/>
                <a:close/>
              </a:path>
            </a:pathLst>
          </a:custGeom>
          <a:solidFill>
            <a:srgbClr val="13213A"/>
          </a:solidFill>
          <a:ln/>
        </p:spPr>
        <p:txBody>
          <a:bodyPr wrap="square" lIns="38100" tIns="63500" rIns="38100" bIns="381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Apply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Next.js :3002</a:t>
            </a:r>
            <a:endParaRPr lang="en-US" sz="1200" dirty="0"/>
          </a:p>
        </p:txBody>
      </p:sp>
      <p:sp>
        <p:nvSpPr>
          <p:cNvPr id="12" name="Text 10"/>
          <p:cNvSpPr/>
          <p:nvPr/>
        </p:nvSpPr>
        <p:spPr>
          <a:xfrm>
            <a:off x="6464300" y="1905000"/>
            <a:ext cx="1079500" cy="492760"/>
          </a:xfrm>
          <a:custGeom>
            <a:avLst/>
            <a:gdLst/>
            <a:ahLst/>
            <a:cxnLst/>
            <a:rect l="l" t="t" r="r" b="b"/>
            <a:pathLst>
              <a:path w="1079500" h="492760">
                <a:moveTo>
                  <a:pt x="76200" y="0"/>
                </a:moveTo>
                <a:lnTo>
                  <a:pt x="1003300" y="0"/>
                </a:lnTo>
                <a:arcTo wR="76200" hR="76200" stAng="16200000" swAng="5400000"/>
                <a:lnTo>
                  <a:pt x="1079500" y="416560"/>
                </a:lnTo>
                <a:arcTo wR="76200" hR="76200" stAng="0" swAng="5400000"/>
                <a:lnTo>
                  <a:pt x="76200" y="492760"/>
                </a:lnTo>
                <a:arcTo wR="76200" hR="76200" stAng="5400000" swAng="5400000"/>
                <a:lnTo>
                  <a:pt x="0" y="76200"/>
                </a:lnTo>
                <a:arcTo wR="76200" hR="76200" stAng="10800000" swAng="5400000"/>
                <a:close/>
              </a:path>
            </a:pathLst>
          </a:custGeom>
          <a:solidFill>
            <a:srgbClr val="E3ECFA"/>
          </a:solidFill>
          <a:ln/>
        </p:spPr>
        <p:txBody>
          <a:bodyPr wrap="square" lIns="38100" tIns="63500" rIns="38100" bIns="38100"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Postgres</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version 16</a:t>
            </a:r>
            <a:endParaRPr lang="en-US" sz="1200" dirty="0"/>
          </a:p>
        </p:txBody>
      </p:sp>
      <p:sp>
        <p:nvSpPr>
          <p:cNvPr id="13" name="Text 11"/>
          <p:cNvSpPr/>
          <p:nvPr/>
        </p:nvSpPr>
        <p:spPr>
          <a:xfrm>
            <a:off x="9134475" y="1908175"/>
            <a:ext cx="2114550" cy="496570"/>
          </a:xfrm>
          <a:custGeom>
            <a:avLst/>
            <a:gdLst/>
            <a:ahLst/>
            <a:cxnLst/>
            <a:rect l="l" t="t" r="r" b="b"/>
            <a:pathLst>
              <a:path w="2114550" h="496570">
                <a:moveTo>
                  <a:pt x="73025" y="0"/>
                </a:moveTo>
                <a:lnTo>
                  <a:pt x="2041525" y="0"/>
                </a:lnTo>
                <a:arcTo wR="73025" hR="73025" stAng="16200000" swAng="5400000"/>
                <a:lnTo>
                  <a:pt x="21145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35649" tIns="65405" rIns="35649"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Supabase</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profiles, resumes</a:t>
            </a:r>
            <a:endParaRPr lang="en-US" sz="1200" dirty="0"/>
          </a:p>
        </p:txBody>
      </p:sp>
      <p:sp>
        <p:nvSpPr>
          <p:cNvPr id="14" name="Text 12"/>
          <p:cNvSpPr/>
          <p:nvPr/>
        </p:nvSpPr>
        <p:spPr>
          <a:xfrm>
            <a:off x="9134475" y="2574925"/>
            <a:ext cx="2114550" cy="496570"/>
          </a:xfrm>
          <a:custGeom>
            <a:avLst/>
            <a:gdLst/>
            <a:ahLst/>
            <a:cxnLst/>
            <a:rect l="l" t="t" r="r" b="b"/>
            <a:pathLst>
              <a:path w="2114550" h="496570">
                <a:moveTo>
                  <a:pt x="73025" y="0"/>
                </a:moveTo>
                <a:lnTo>
                  <a:pt x="2041525" y="0"/>
                </a:lnTo>
                <a:arcTo wR="73025" hR="73025" stAng="16200000" swAng="5400000"/>
                <a:lnTo>
                  <a:pt x="21145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35649" tIns="65405" rIns="35649"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Google Gemini</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AI reading, scoring</a:t>
            </a:r>
            <a:endParaRPr lang="en-US" sz="1200" dirty="0"/>
          </a:p>
        </p:txBody>
      </p:sp>
      <p:sp>
        <p:nvSpPr>
          <p:cNvPr id="15" name="Text 13"/>
          <p:cNvSpPr/>
          <p:nvPr/>
        </p:nvSpPr>
        <p:spPr>
          <a:xfrm>
            <a:off x="9134475" y="3241675"/>
            <a:ext cx="2114550" cy="496570"/>
          </a:xfrm>
          <a:custGeom>
            <a:avLst/>
            <a:gdLst/>
            <a:ahLst/>
            <a:cxnLst/>
            <a:rect l="l" t="t" r="r" b="b"/>
            <a:pathLst>
              <a:path w="2114550" h="496570">
                <a:moveTo>
                  <a:pt x="73025" y="0"/>
                </a:moveTo>
                <a:lnTo>
                  <a:pt x="2041525" y="0"/>
                </a:lnTo>
                <a:arcTo wR="73025" hR="73025" stAng="16200000" swAng="5400000"/>
                <a:lnTo>
                  <a:pt x="21145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35649" tIns="65405" rIns="35649"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Vapi</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AI phone calls</a:t>
            </a:r>
            <a:endParaRPr lang="en-US" sz="1200" dirty="0"/>
          </a:p>
        </p:txBody>
      </p:sp>
      <p:sp>
        <p:nvSpPr>
          <p:cNvPr id="16" name="Text 14"/>
          <p:cNvSpPr/>
          <p:nvPr/>
        </p:nvSpPr>
        <p:spPr>
          <a:xfrm>
            <a:off x="9134475" y="3908425"/>
            <a:ext cx="2114550" cy="496570"/>
          </a:xfrm>
          <a:custGeom>
            <a:avLst/>
            <a:gdLst/>
            <a:ahLst/>
            <a:cxnLst/>
            <a:rect l="l" t="t" r="r" b="b"/>
            <a:pathLst>
              <a:path w="2114550" h="496570">
                <a:moveTo>
                  <a:pt x="73025" y="0"/>
                </a:moveTo>
                <a:lnTo>
                  <a:pt x="2041525" y="0"/>
                </a:lnTo>
                <a:arcTo wR="73025" hR="73025" stAng="16200000" swAng="5400000"/>
                <a:lnTo>
                  <a:pt x="2114550" y="423545"/>
                </a:lnTo>
                <a:arcTo wR="73025" hR="73025" stAng="0" swAng="5400000"/>
                <a:lnTo>
                  <a:pt x="73025" y="496570"/>
                </a:lnTo>
                <a:arcTo wR="73025" hR="73025" stAng="5400000" swAng="5400000"/>
                <a:lnTo>
                  <a:pt x="0" y="73025"/>
                </a:lnTo>
                <a:arcTo wR="73025" hR="73025" stAng="10800000" swAng="5400000"/>
                <a:close/>
              </a:path>
            </a:pathLst>
          </a:custGeom>
          <a:solidFill>
            <a:srgbClr val="FFFFFF"/>
          </a:solidFill>
          <a:ln w="6350">
            <a:solidFill>
              <a:srgbClr val="C9D1DC"/>
            </a:solidFill>
            <a:prstDash val="solid"/>
          </a:ln>
        </p:spPr>
        <p:txBody>
          <a:bodyPr wrap="square" lIns="35649" tIns="65405" rIns="35649" bIns="40005" rtlCol="0" anchor="t">
            <a:normAutofit/>
          </a:bodyPr>
          <a:lstStyle/>
          <a:p>
            <a:pPr marL="0" indent="0" algn="ctr">
              <a:lnSpc>
                <a:spcPts val="1440"/>
              </a:lnSpc>
              <a:buNone/>
            </a:pPr>
            <a:r>
              <a:rPr lang="en-US" sz="1200" b="1" dirty="0">
                <a:solidFill>
                  <a:srgbClr val="13213A"/>
                </a:solidFill>
                <a:latin typeface="DM Sans" pitchFamily="34" charset="0"/>
                <a:ea typeface="DM Sans" pitchFamily="34" charset="-122"/>
                <a:cs typeface="DM Sans" pitchFamily="34" charset="-120"/>
              </a:rPr>
              <a:t>Google Calendar</a:t>
            </a:r>
            <a:endParaRPr lang="en-US" sz="1200" dirty="0"/>
          </a:p>
          <a:p>
            <a:pPr marL="0" indent="0" algn="ctr">
              <a:lnSpc>
                <a:spcPts val="1440"/>
              </a:lnSpc>
              <a:buNone/>
            </a:pPr>
            <a:r>
              <a:rPr lang="en-US" sz="1200" dirty="0">
                <a:solidFill>
                  <a:srgbClr val="13213A"/>
                </a:solidFill>
                <a:latin typeface="DM Sans" pitchFamily="34" charset="0"/>
                <a:ea typeface="DM Sans" pitchFamily="34" charset="-122"/>
                <a:cs typeface="DM Sans" pitchFamily="34" charset="-120"/>
              </a:rPr>
              <a:t>interview booking</a:t>
            </a:r>
            <a:endParaRPr lang="en-US" sz="1200" dirty="0"/>
          </a:p>
        </p:txBody>
      </p:sp>
      <p:pic>
        <p:nvPicPr>
          <p:cNvPr id="17" name="Image 0" descr="connector"/>
          <p:cNvPicPr>
            <a:picLocks noChangeAspect="1"/>
          </p:cNvPicPr>
          <p:nvPr/>
        </p:nvPicPr>
        <p:blipFill>
          <a:blip r:embed="rId3"/>
          <a:srcRect/>
          <a:stretch/>
        </p:blipFill>
        <p:spPr>
          <a:xfrm>
            <a:off x="2286000" y="2520950"/>
            <a:ext cx="450850" cy="101600"/>
          </a:xfrm>
          <a:prstGeom prst="rect">
            <a:avLst/>
          </a:prstGeom>
        </p:spPr>
      </p:pic>
      <p:pic>
        <p:nvPicPr>
          <p:cNvPr id="18" name="Image 1" descr="connector"/>
          <p:cNvPicPr>
            <a:picLocks noChangeAspect="1"/>
          </p:cNvPicPr>
          <p:nvPr/>
        </p:nvPicPr>
        <p:blipFill>
          <a:blip r:embed="rId4"/>
          <a:srcRect/>
          <a:stretch/>
        </p:blipFill>
        <p:spPr>
          <a:xfrm>
            <a:off x="2635250" y="2520950"/>
            <a:ext cx="101600" cy="323850"/>
          </a:xfrm>
          <a:prstGeom prst="rect">
            <a:avLst/>
          </a:prstGeom>
        </p:spPr>
      </p:pic>
      <p:pic>
        <p:nvPicPr>
          <p:cNvPr id="19" name="Image 2" descr="connector"/>
          <p:cNvPicPr>
            <a:picLocks noChangeAspect="1"/>
          </p:cNvPicPr>
          <p:nvPr/>
        </p:nvPicPr>
        <p:blipFill>
          <a:blip r:embed="rId3"/>
          <a:srcRect/>
          <a:stretch/>
        </p:blipFill>
        <p:spPr>
          <a:xfrm>
            <a:off x="2286000" y="3536950"/>
            <a:ext cx="450850" cy="101600"/>
          </a:xfrm>
          <a:prstGeom prst="rect">
            <a:avLst/>
          </a:prstGeom>
        </p:spPr>
      </p:pic>
      <p:pic>
        <p:nvPicPr>
          <p:cNvPr id="20" name="Image 3" descr="connector"/>
          <p:cNvPicPr>
            <a:picLocks noChangeAspect="1"/>
          </p:cNvPicPr>
          <p:nvPr/>
        </p:nvPicPr>
        <p:blipFill>
          <a:blip r:embed="rId5"/>
          <a:srcRect/>
          <a:stretch/>
        </p:blipFill>
        <p:spPr>
          <a:xfrm>
            <a:off x="2635250" y="2743200"/>
            <a:ext cx="101600" cy="895350"/>
          </a:xfrm>
          <a:prstGeom prst="rect">
            <a:avLst/>
          </a:prstGeom>
        </p:spPr>
      </p:pic>
      <p:pic>
        <p:nvPicPr>
          <p:cNvPr id="21" name="Image 4" descr="connector"/>
          <p:cNvPicPr>
            <a:picLocks noChangeAspect="1"/>
          </p:cNvPicPr>
          <p:nvPr/>
        </p:nvPicPr>
        <p:blipFill>
          <a:blip r:embed="rId6"/>
          <a:srcRect/>
          <a:stretch/>
        </p:blipFill>
        <p:spPr>
          <a:xfrm>
            <a:off x="2635250" y="2743200"/>
            <a:ext cx="450850" cy="101600"/>
          </a:xfrm>
          <a:prstGeom prst="rect">
            <a:avLst/>
          </a:prstGeom>
        </p:spPr>
      </p:pic>
      <p:pic>
        <p:nvPicPr>
          <p:cNvPr id="22" name="Image 5" descr="connector"/>
          <p:cNvPicPr>
            <a:picLocks noChangeAspect="1"/>
          </p:cNvPicPr>
          <p:nvPr/>
        </p:nvPicPr>
        <p:blipFill>
          <a:blip r:embed="rId7"/>
          <a:srcRect/>
          <a:stretch/>
        </p:blipFill>
        <p:spPr>
          <a:xfrm>
            <a:off x="4254500" y="2743200"/>
            <a:ext cx="355600" cy="101600"/>
          </a:xfrm>
          <a:prstGeom prst="rect">
            <a:avLst/>
          </a:prstGeom>
        </p:spPr>
      </p:pic>
      <p:pic>
        <p:nvPicPr>
          <p:cNvPr id="23" name="Image 6" descr="connector"/>
          <p:cNvPicPr>
            <a:picLocks noChangeAspect="1"/>
          </p:cNvPicPr>
          <p:nvPr/>
        </p:nvPicPr>
        <p:blipFill>
          <a:blip r:embed="rId8"/>
          <a:srcRect/>
          <a:stretch/>
        </p:blipFill>
        <p:spPr>
          <a:xfrm>
            <a:off x="4508500" y="2139950"/>
            <a:ext cx="355600" cy="704850"/>
          </a:xfrm>
          <a:prstGeom prst="rect">
            <a:avLst/>
          </a:prstGeom>
        </p:spPr>
      </p:pic>
      <p:pic>
        <p:nvPicPr>
          <p:cNvPr id="24" name="Image 7" descr="connector"/>
          <p:cNvPicPr>
            <a:picLocks noChangeAspect="1"/>
          </p:cNvPicPr>
          <p:nvPr/>
        </p:nvPicPr>
        <p:blipFill>
          <a:blip r:embed="rId9"/>
          <a:srcRect/>
          <a:stretch/>
        </p:blipFill>
        <p:spPr>
          <a:xfrm>
            <a:off x="4508500" y="2743200"/>
            <a:ext cx="355600" cy="895350"/>
          </a:xfrm>
          <a:prstGeom prst="rect">
            <a:avLst/>
          </a:prstGeom>
        </p:spPr>
      </p:pic>
      <p:pic>
        <p:nvPicPr>
          <p:cNvPr id="25" name="Image 8" descr="connector"/>
          <p:cNvPicPr>
            <a:picLocks noChangeAspect="1"/>
          </p:cNvPicPr>
          <p:nvPr/>
        </p:nvPicPr>
        <p:blipFill>
          <a:blip r:embed="rId10"/>
          <a:srcRect/>
          <a:stretch/>
        </p:blipFill>
        <p:spPr>
          <a:xfrm>
            <a:off x="5461000" y="2425700"/>
            <a:ext cx="101600" cy="927100"/>
          </a:xfrm>
          <a:prstGeom prst="rect">
            <a:avLst/>
          </a:prstGeom>
        </p:spPr>
      </p:pic>
      <p:pic>
        <p:nvPicPr>
          <p:cNvPr id="26" name="Image 9" descr="connector"/>
          <p:cNvPicPr>
            <a:picLocks noChangeAspect="1"/>
          </p:cNvPicPr>
          <p:nvPr/>
        </p:nvPicPr>
        <p:blipFill>
          <a:blip r:embed="rId11"/>
          <a:srcRect/>
          <a:stretch/>
        </p:blipFill>
        <p:spPr>
          <a:xfrm>
            <a:off x="6159500" y="2139950"/>
            <a:ext cx="355600" cy="101600"/>
          </a:xfrm>
          <a:prstGeom prst="rect">
            <a:avLst/>
          </a:prstGeom>
        </p:spPr>
      </p:pic>
      <p:pic>
        <p:nvPicPr>
          <p:cNvPr id="27" name="Image 10" descr="connector"/>
          <p:cNvPicPr>
            <a:picLocks noChangeAspect="1"/>
          </p:cNvPicPr>
          <p:nvPr/>
        </p:nvPicPr>
        <p:blipFill>
          <a:blip r:embed="rId12"/>
          <a:srcRect/>
          <a:stretch/>
        </p:blipFill>
        <p:spPr>
          <a:xfrm>
            <a:off x="7683500" y="2679700"/>
            <a:ext cx="1371600" cy="101600"/>
          </a:xfrm>
          <a:prstGeom prst="rect">
            <a:avLst/>
          </a:prstGeom>
        </p:spPr>
      </p:pic>
      <p:pic>
        <p:nvPicPr>
          <p:cNvPr id="28" name="Image 11" descr="connector"/>
          <p:cNvPicPr>
            <a:picLocks noChangeAspect="1"/>
          </p:cNvPicPr>
          <p:nvPr/>
        </p:nvPicPr>
        <p:blipFill>
          <a:blip r:embed="rId13"/>
          <a:srcRect/>
          <a:stretch/>
        </p:blipFill>
        <p:spPr>
          <a:xfrm>
            <a:off x="7683500" y="3505200"/>
            <a:ext cx="1371600" cy="101600"/>
          </a:xfrm>
          <a:prstGeom prst="rect">
            <a:avLst/>
          </a:prstGeom>
        </p:spPr>
      </p:pic>
      <p:pic>
        <p:nvPicPr>
          <p:cNvPr id="29" name="Image 12" descr="connector"/>
          <p:cNvPicPr>
            <a:picLocks noChangeAspect="1"/>
          </p:cNvPicPr>
          <p:nvPr/>
        </p:nvPicPr>
        <p:blipFill>
          <a:blip r:embed="rId14"/>
          <a:srcRect/>
          <a:stretch/>
        </p:blipFill>
        <p:spPr>
          <a:xfrm>
            <a:off x="5238750" y="4546600"/>
            <a:ext cx="101600" cy="406400"/>
          </a:xfrm>
          <a:prstGeom prst="rect">
            <a:avLst/>
          </a:prstGeom>
        </p:spPr>
      </p:pic>
      <p:sp>
        <p:nvSpPr>
          <p:cNvPr id="30" name="Text 15"/>
          <p:cNvSpPr/>
          <p:nvPr/>
        </p:nvSpPr>
        <p:spPr>
          <a:xfrm>
            <a:off x="5588000" y="2794000"/>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4716"/>
                </a:solidFill>
                <a:latin typeface="DM Sans" pitchFamily="34" charset="0"/>
                <a:ea typeface="DM Sans" pitchFamily="34" charset="-122"/>
                <a:cs typeface="DM Sans" pitchFamily="34" charset="-120"/>
              </a:rPr>
              <a:t>shared secret API</a:t>
            </a:r>
            <a:endParaRPr lang="en-US" sz="1200" dirty="0"/>
          </a:p>
        </p:txBody>
      </p:sp>
      <p:sp>
        <p:nvSpPr>
          <p:cNvPr id="31" name="Text 16"/>
          <p:cNvSpPr/>
          <p:nvPr/>
        </p:nvSpPr>
        <p:spPr>
          <a:xfrm>
            <a:off x="7772400" y="2463800"/>
            <a:ext cx="1193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5FC4"/>
                </a:solidFill>
                <a:latin typeface="DM Sans" pitchFamily="34" charset="0"/>
                <a:ea typeface="DM Sans" pitchFamily="34" charset="-122"/>
                <a:cs typeface="DM Sans" pitchFamily="34" charset="-120"/>
              </a:rPr>
              <a:t>API calls</a:t>
            </a:r>
            <a:endParaRPr lang="en-US" sz="1200" dirty="0"/>
          </a:p>
        </p:txBody>
      </p:sp>
      <p:sp>
        <p:nvSpPr>
          <p:cNvPr id="32" name="Text 17"/>
          <p:cNvSpPr/>
          <p:nvPr/>
        </p:nvSpPr>
        <p:spPr>
          <a:xfrm>
            <a:off x="7772400" y="3289300"/>
            <a:ext cx="1193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F5FC4"/>
                </a:solidFill>
                <a:latin typeface="DM Sans" pitchFamily="34" charset="0"/>
                <a:ea typeface="DM Sans" pitchFamily="34" charset="-122"/>
                <a:cs typeface="DM Sans" pitchFamily="34" charset="-120"/>
              </a:rPr>
              <a:t>call webhook</a:t>
            </a:r>
            <a:endParaRPr lang="en-US" sz="1200" dirty="0"/>
          </a:p>
        </p:txBody>
      </p:sp>
      <p:sp>
        <p:nvSpPr>
          <p:cNvPr id="33" name="Shape 18"/>
          <p:cNvSpPr/>
          <p:nvPr/>
        </p:nvSpPr>
        <p:spPr>
          <a:xfrm>
            <a:off x="812800" y="4902200"/>
            <a:ext cx="10566400" cy="698500"/>
          </a:xfrm>
          <a:prstGeom prst="roundRect">
            <a:avLst>
              <a:gd name="adj" fmla="val 16364"/>
            </a:avLst>
          </a:prstGeom>
          <a:solidFill>
            <a:srgbClr val="13213A"/>
          </a:solidFill>
          <a:ln/>
        </p:spPr>
      </p:sp>
      <p:sp>
        <p:nvSpPr>
          <p:cNvPr id="34" name="Text 19"/>
          <p:cNvSpPr/>
          <p:nvPr/>
        </p:nvSpPr>
        <p:spPr>
          <a:xfrm>
            <a:off x="965200" y="5144770"/>
            <a:ext cx="1012666"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Release path</a:t>
            </a:r>
            <a:endParaRPr lang="en-US" sz="1200" dirty="0"/>
          </a:p>
        </p:txBody>
      </p:sp>
      <p:sp>
        <p:nvSpPr>
          <p:cNvPr id="35" name="Text 20"/>
          <p:cNvSpPr/>
          <p:nvPr/>
        </p:nvSpPr>
        <p:spPr>
          <a:xfrm>
            <a:off x="2028666" y="5096511"/>
            <a:ext cx="1828959" cy="309880"/>
          </a:xfrm>
          <a:custGeom>
            <a:avLst/>
            <a:gdLst/>
            <a:ahLst/>
            <a:cxnLst/>
            <a:rect l="l" t="t" r="r" b="b"/>
            <a:pathLst>
              <a:path w="1828959" h="309880">
                <a:moveTo>
                  <a:pt x="63500" y="0"/>
                </a:moveTo>
                <a:lnTo>
                  <a:pt x="1765459" y="0"/>
                </a:lnTo>
                <a:arcTo wR="63500" hR="63500" stAng="16200000" swAng="5400000"/>
                <a:lnTo>
                  <a:pt x="1828959" y="246380"/>
                </a:lnTo>
                <a:arcTo wR="63500" hR="63500" stAng="0" swAng="5400000"/>
                <a:lnTo>
                  <a:pt x="63500" y="309880"/>
                </a:lnTo>
                <a:arcTo wR="63500" hR="63500" stAng="5400000" swAng="5400000"/>
                <a:lnTo>
                  <a:pt x="0" y="63500"/>
                </a:lnTo>
                <a:arcTo wR="63500" hR="63500" stAng="10800000" swAng="5400000"/>
                <a:close/>
              </a:path>
            </a:pathLst>
          </a:custGeom>
          <a:solidFill>
            <a:srgbClr val="1C2E4D"/>
          </a:solidFill>
          <a:ln/>
        </p:spPr>
        <p:txBody>
          <a:bodyPr wrap="square" lIns="37971" tIns="63500" rIns="37971" bIns="38100" rtlCol="0" anchor="t">
            <a:normAutofit/>
          </a:bodyPr>
          <a:lstStyle/>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GitHub push</a:t>
            </a:r>
            <a:endParaRPr lang="en-US" sz="1200" dirty="0"/>
          </a:p>
        </p:txBody>
      </p:sp>
      <p:pic>
        <p:nvPicPr>
          <p:cNvPr id="36" name="Image 13" descr="arrow-right"/>
          <p:cNvPicPr>
            <a:picLocks noChangeAspect="1"/>
          </p:cNvPicPr>
          <p:nvPr/>
        </p:nvPicPr>
        <p:blipFill>
          <a:blip r:embed="rId15"/>
          <a:srcRect/>
          <a:stretch/>
        </p:blipFill>
        <p:spPr>
          <a:xfrm>
            <a:off x="3959225" y="5187950"/>
            <a:ext cx="254000" cy="127000"/>
          </a:xfrm>
          <a:prstGeom prst="rect">
            <a:avLst/>
          </a:prstGeom>
        </p:spPr>
      </p:pic>
      <p:sp>
        <p:nvSpPr>
          <p:cNvPr id="37" name="Text 21"/>
          <p:cNvSpPr/>
          <p:nvPr/>
        </p:nvSpPr>
        <p:spPr>
          <a:xfrm>
            <a:off x="4314825" y="5005070"/>
            <a:ext cx="1829038" cy="492760"/>
          </a:xfrm>
          <a:custGeom>
            <a:avLst/>
            <a:gdLst/>
            <a:ahLst/>
            <a:cxnLst/>
            <a:rect l="l" t="t" r="r" b="b"/>
            <a:pathLst>
              <a:path w="1829038" h="492760">
                <a:moveTo>
                  <a:pt x="63500" y="0"/>
                </a:moveTo>
                <a:lnTo>
                  <a:pt x="1765538" y="0"/>
                </a:lnTo>
                <a:arcTo wR="63500" hR="63500" stAng="16200000" swAng="5400000"/>
                <a:lnTo>
                  <a:pt x="1829038" y="429260"/>
                </a:lnTo>
                <a:arcTo wR="63500" hR="63500" stAng="0" swAng="5400000"/>
                <a:lnTo>
                  <a:pt x="63500" y="492760"/>
                </a:lnTo>
                <a:arcTo wR="63500" hR="63500" stAng="5400000" swAng="5400000"/>
                <a:lnTo>
                  <a:pt x="0" y="63500"/>
                </a:lnTo>
                <a:arcTo wR="63500" hR="63500" stAng="10800000" swAng="5400000"/>
                <a:close/>
              </a:path>
            </a:pathLst>
          </a:custGeom>
          <a:solidFill>
            <a:srgbClr val="1C2E4D"/>
          </a:solidFill>
          <a:ln/>
        </p:spPr>
        <p:txBody>
          <a:bodyPr wrap="square" lIns="37969" tIns="63500" rIns="37969" bIns="38100" rtlCol="0" anchor="t">
            <a:normAutofit/>
          </a:bodyPr>
          <a:lstStyle/>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Automated lint and build</a:t>
            </a:r>
            <a:endParaRPr lang="en-US" sz="1200" dirty="0"/>
          </a:p>
        </p:txBody>
      </p:sp>
      <p:pic>
        <p:nvPicPr>
          <p:cNvPr id="38" name="Image 14" descr="arrow-right"/>
          <p:cNvPicPr>
            <a:picLocks noChangeAspect="1"/>
          </p:cNvPicPr>
          <p:nvPr/>
        </p:nvPicPr>
        <p:blipFill>
          <a:blip r:embed="rId15"/>
          <a:srcRect/>
          <a:stretch/>
        </p:blipFill>
        <p:spPr>
          <a:xfrm>
            <a:off x="6245463" y="5187950"/>
            <a:ext cx="254000" cy="127000"/>
          </a:xfrm>
          <a:prstGeom prst="rect">
            <a:avLst/>
          </a:prstGeom>
        </p:spPr>
      </p:pic>
      <p:sp>
        <p:nvSpPr>
          <p:cNvPr id="39" name="Text 22"/>
          <p:cNvSpPr/>
          <p:nvPr/>
        </p:nvSpPr>
        <p:spPr>
          <a:xfrm>
            <a:off x="6601063" y="5005070"/>
            <a:ext cx="1828959" cy="492760"/>
          </a:xfrm>
          <a:custGeom>
            <a:avLst/>
            <a:gdLst/>
            <a:ahLst/>
            <a:cxnLst/>
            <a:rect l="l" t="t" r="r" b="b"/>
            <a:pathLst>
              <a:path w="1828959" h="492760">
                <a:moveTo>
                  <a:pt x="63500" y="0"/>
                </a:moveTo>
                <a:lnTo>
                  <a:pt x="1765459" y="0"/>
                </a:lnTo>
                <a:arcTo wR="63500" hR="63500" stAng="16200000" swAng="5400000"/>
                <a:lnTo>
                  <a:pt x="1828959" y="429260"/>
                </a:lnTo>
                <a:arcTo wR="63500" hR="63500" stAng="0" swAng="5400000"/>
                <a:lnTo>
                  <a:pt x="63500" y="492760"/>
                </a:lnTo>
                <a:arcTo wR="63500" hR="63500" stAng="5400000" swAng="5400000"/>
                <a:lnTo>
                  <a:pt x="0" y="63500"/>
                </a:lnTo>
                <a:arcTo wR="63500" hR="63500" stAng="10800000" swAng="5400000"/>
                <a:close/>
              </a:path>
            </a:pathLst>
          </a:custGeom>
          <a:solidFill>
            <a:srgbClr val="1C2E4D"/>
          </a:solidFill>
          <a:ln/>
        </p:spPr>
        <p:txBody>
          <a:bodyPr wrap="square" lIns="37971" tIns="63500" rIns="37971" bIns="38100" rtlCol="0" anchor="t">
            <a:normAutofit/>
          </a:bodyPr>
          <a:lstStyle/>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Container images (GHCR)</a:t>
            </a:r>
            <a:endParaRPr lang="en-US" sz="1200" dirty="0"/>
          </a:p>
        </p:txBody>
      </p:sp>
      <p:pic>
        <p:nvPicPr>
          <p:cNvPr id="40" name="Image 15" descr="arrow-right"/>
          <p:cNvPicPr>
            <a:picLocks noChangeAspect="1"/>
          </p:cNvPicPr>
          <p:nvPr/>
        </p:nvPicPr>
        <p:blipFill>
          <a:blip r:embed="rId15"/>
          <a:srcRect/>
          <a:stretch/>
        </p:blipFill>
        <p:spPr>
          <a:xfrm>
            <a:off x="8531622" y="5187950"/>
            <a:ext cx="254000" cy="127000"/>
          </a:xfrm>
          <a:prstGeom prst="rect">
            <a:avLst/>
          </a:prstGeom>
        </p:spPr>
      </p:pic>
      <p:sp>
        <p:nvSpPr>
          <p:cNvPr id="41" name="Text 23"/>
          <p:cNvSpPr/>
          <p:nvPr/>
        </p:nvSpPr>
        <p:spPr>
          <a:xfrm>
            <a:off x="8887222" y="5005070"/>
            <a:ext cx="2339578" cy="492760"/>
          </a:xfrm>
          <a:custGeom>
            <a:avLst/>
            <a:gdLst/>
            <a:ahLst/>
            <a:cxnLst/>
            <a:rect l="l" t="t" r="r" b="b"/>
            <a:pathLst>
              <a:path w="2339578" h="492760">
                <a:moveTo>
                  <a:pt x="63500" y="0"/>
                </a:moveTo>
                <a:lnTo>
                  <a:pt x="2276078" y="0"/>
                </a:lnTo>
                <a:arcTo wR="63500" hR="63500" stAng="16200000" swAng="5400000"/>
                <a:lnTo>
                  <a:pt x="2339578" y="429260"/>
                </a:lnTo>
                <a:arcTo wR="63500" hR="63500" stAng="0" swAng="5400000"/>
                <a:lnTo>
                  <a:pt x="63500" y="492760"/>
                </a:lnTo>
                <a:arcTo wR="63500" hR="63500" stAng="5400000" swAng="5400000"/>
                <a:lnTo>
                  <a:pt x="0" y="63500"/>
                </a:lnTo>
                <a:arcTo wR="63500" hR="63500" stAng="10800000" swAng="5400000"/>
                <a:close/>
              </a:path>
            </a:pathLst>
          </a:custGeom>
          <a:solidFill>
            <a:srgbClr val="1C2E4D"/>
          </a:solidFill>
          <a:ln/>
        </p:spPr>
        <p:txBody>
          <a:bodyPr wrap="square" lIns="30311" tIns="63500" rIns="30311" bIns="38100" rtlCol="0" anchor="t">
            <a:normAutofit/>
          </a:bodyPr>
          <a:lstStyle/>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Copy settings file and restart (SCP + SSH)</a:t>
            </a:r>
            <a:endParaRPr lang="en-US" sz="1200" dirty="0"/>
          </a:p>
        </p:txBody>
      </p:sp>
      <p:sp>
        <p:nvSpPr>
          <p:cNvPr id="42" name="Text 24"/>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Secrets sit in a plain-text file on the server; dev and production share the same machine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TECHNICAL FLOW 1 OF 2 · APPLY, SCREEN, SHORTLIST</a:t>
            </a:r>
            <a:endParaRPr lang="en-US" sz="1200" dirty="0"/>
          </a:p>
        </p:txBody>
      </p:sp>
      <p:sp>
        <p:nvSpPr>
          <p:cNvPr id="3" name="Text 1"/>
          <p:cNvSpPr>
            <a:spLocks noGrp="1"/>
          </p:cNvSpPr>
          <p:nvPr>
            <p:ph type="title"/>
          </p:nvPr>
        </p:nvSpPr>
        <p:spPr>
          <a:xfrm>
            <a:off x="812800" y="8102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3213A"/>
                </a:solidFill>
                <a:latin typeface="Space Grotesk" pitchFamily="34" charset="0"/>
                <a:ea typeface="Space Grotesk" pitchFamily="34" charset="-122"/>
                <a:cs typeface="Space Grotesk" pitchFamily="34" charset="-120"/>
              </a:rPr>
              <a:t>What happens behind the screen</a:t>
            </a:r>
            <a:endParaRPr lang="en-US" sz="2600" dirty="0"/>
          </a:p>
        </p:txBody>
      </p:sp>
      <p:pic>
        <p:nvPicPr>
          <p:cNvPr id="4" name="Image 0" descr="line"/>
          <p:cNvPicPr>
            <a:picLocks noChangeAspect="1"/>
          </p:cNvPicPr>
          <p:nvPr/>
        </p:nvPicPr>
        <p:blipFill>
          <a:blip r:embed="rId3"/>
          <a:srcRect/>
          <a:stretch/>
        </p:blipFill>
        <p:spPr>
          <a:xfrm>
            <a:off x="812800" y="1356361"/>
            <a:ext cx="355600" cy="25400"/>
          </a:xfrm>
          <a:prstGeom prst="rect">
            <a:avLst/>
          </a:prstGeom>
        </p:spPr>
      </p:pic>
      <p:sp>
        <p:nvSpPr>
          <p:cNvPr id="5" name="Text 2"/>
          <p:cNvSpPr/>
          <p:nvPr/>
        </p:nvSpPr>
        <p:spPr>
          <a:xfrm>
            <a:off x="1244600" y="1262382"/>
            <a:ext cx="92744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6B3A"/>
                </a:solidFill>
                <a:latin typeface="DM Sans" pitchFamily="34" charset="0"/>
                <a:ea typeface="DM Sans" pitchFamily="34" charset="-122"/>
                <a:cs typeface="DM Sans" pitchFamily="34" charset="-120"/>
              </a:rPr>
              <a:t>Live today</a:t>
            </a:r>
            <a:endParaRPr lang="en-US" sz="1200" dirty="0"/>
          </a:p>
        </p:txBody>
      </p:sp>
      <p:pic>
        <p:nvPicPr>
          <p:cNvPr id="6" name="Image 1" descr="line"/>
          <p:cNvPicPr>
            <a:picLocks noChangeAspect="1"/>
          </p:cNvPicPr>
          <p:nvPr/>
        </p:nvPicPr>
        <p:blipFill>
          <a:blip r:embed="rId4"/>
          <a:srcRect/>
          <a:stretch/>
        </p:blipFill>
        <p:spPr>
          <a:xfrm>
            <a:off x="2322274" y="1343661"/>
            <a:ext cx="355600" cy="50800"/>
          </a:xfrm>
          <a:prstGeom prst="rect">
            <a:avLst/>
          </a:prstGeom>
        </p:spPr>
      </p:pic>
      <p:sp>
        <p:nvSpPr>
          <p:cNvPr id="7" name="Text 3"/>
          <p:cNvSpPr/>
          <p:nvPr/>
        </p:nvSpPr>
        <p:spPr>
          <a:xfrm>
            <a:off x="2754074" y="1262382"/>
            <a:ext cx="95230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Being built</a:t>
            </a:r>
            <a:endParaRPr lang="en-US" sz="1200" dirty="0"/>
          </a:p>
        </p:txBody>
      </p:sp>
      <p:pic>
        <p:nvPicPr>
          <p:cNvPr id="8" name="Image 2" descr="line"/>
          <p:cNvPicPr>
            <a:picLocks noChangeAspect="1"/>
          </p:cNvPicPr>
          <p:nvPr/>
        </p:nvPicPr>
        <p:blipFill>
          <a:blip r:embed="rId5"/>
          <a:srcRect/>
          <a:stretch/>
        </p:blipFill>
        <p:spPr>
          <a:xfrm>
            <a:off x="3852466" y="1343661"/>
            <a:ext cx="355600" cy="50800"/>
          </a:xfrm>
          <a:prstGeom prst="rect">
            <a:avLst/>
          </a:prstGeom>
        </p:spPr>
      </p:pic>
      <p:sp>
        <p:nvSpPr>
          <p:cNvPr id="9" name="Text 4"/>
          <p:cNvSpPr/>
          <p:nvPr/>
        </p:nvSpPr>
        <p:spPr>
          <a:xfrm>
            <a:off x="4284266" y="1262382"/>
            <a:ext cx="210454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Proposed improvement</a:t>
            </a:r>
            <a:endParaRPr lang="en-US" sz="1200" dirty="0"/>
          </a:p>
        </p:txBody>
      </p:sp>
      <p:sp>
        <p:nvSpPr>
          <p:cNvPr id="10" name="Text 5"/>
          <p:cNvSpPr/>
          <p:nvPr/>
        </p:nvSpPr>
        <p:spPr>
          <a:xfrm>
            <a:off x="9017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Candidate</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browser · phone</a:t>
            </a:r>
            <a:endParaRPr lang="en-US" sz="1200" dirty="0"/>
          </a:p>
        </p:txBody>
      </p:sp>
      <p:sp>
        <p:nvSpPr>
          <p:cNvPr id="11" name="Text 6"/>
          <p:cNvSpPr/>
          <p:nvPr/>
        </p:nvSpPr>
        <p:spPr>
          <a:xfrm>
            <a:off x="266065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Apply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Next.js</a:t>
            </a:r>
            <a:endParaRPr lang="en-US" sz="1200" dirty="0"/>
          </a:p>
        </p:txBody>
      </p:sp>
      <p:sp>
        <p:nvSpPr>
          <p:cNvPr id="12" name="Text 7"/>
          <p:cNvSpPr/>
          <p:nvPr/>
        </p:nvSpPr>
        <p:spPr>
          <a:xfrm>
            <a:off x="44196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Storage</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Supabase</a:t>
            </a:r>
            <a:endParaRPr lang="en-US" sz="1200" dirty="0"/>
          </a:p>
        </p:txBody>
      </p:sp>
      <p:sp>
        <p:nvSpPr>
          <p:cNvPr id="13" name="Text 8"/>
          <p:cNvSpPr/>
          <p:nvPr/>
        </p:nvSpPr>
        <p:spPr>
          <a:xfrm>
            <a:off x="61849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AI models</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Gemini · Sarvam</a:t>
            </a:r>
            <a:endParaRPr lang="en-US" sz="1200" dirty="0"/>
          </a:p>
        </p:txBody>
      </p:sp>
      <p:sp>
        <p:nvSpPr>
          <p:cNvPr id="14" name="Text 9"/>
          <p:cNvSpPr/>
          <p:nvPr/>
        </p:nvSpPr>
        <p:spPr>
          <a:xfrm>
            <a:off x="794385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HR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app + Postgres</a:t>
            </a:r>
            <a:endParaRPr lang="en-US" sz="1200" dirty="0"/>
          </a:p>
        </p:txBody>
      </p:sp>
      <p:sp>
        <p:nvSpPr>
          <p:cNvPr id="15" name="Text 10"/>
          <p:cNvSpPr/>
          <p:nvPr/>
        </p:nvSpPr>
        <p:spPr>
          <a:xfrm>
            <a:off x="97028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Voice, calendar</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Vapi · Google</a:t>
            </a:r>
            <a:endParaRPr lang="en-US" sz="1200" dirty="0"/>
          </a:p>
        </p:txBody>
      </p:sp>
      <p:sp>
        <p:nvSpPr>
          <p:cNvPr id="16" name="Shape 11"/>
          <p:cNvSpPr/>
          <p:nvPr/>
        </p:nvSpPr>
        <p:spPr>
          <a:xfrm>
            <a:off x="1689100" y="2197100"/>
            <a:ext cx="12700" cy="3556000"/>
          </a:xfrm>
          <a:prstGeom prst="rect">
            <a:avLst/>
          </a:prstGeom>
          <a:solidFill>
            <a:srgbClr val="C9D1DC"/>
          </a:solidFill>
          <a:ln/>
        </p:spPr>
      </p:sp>
      <p:sp>
        <p:nvSpPr>
          <p:cNvPr id="17" name="Shape 12"/>
          <p:cNvSpPr/>
          <p:nvPr/>
        </p:nvSpPr>
        <p:spPr>
          <a:xfrm>
            <a:off x="3448050" y="2197100"/>
            <a:ext cx="12700" cy="3556000"/>
          </a:xfrm>
          <a:prstGeom prst="rect">
            <a:avLst/>
          </a:prstGeom>
          <a:solidFill>
            <a:srgbClr val="C9D1DC"/>
          </a:solidFill>
          <a:ln/>
        </p:spPr>
      </p:sp>
      <p:sp>
        <p:nvSpPr>
          <p:cNvPr id="18" name="Shape 13"/>
          <p:cNvSpPr/>
          <p:nvPr/>
        </p:nvSpPr>
        <p:spPr>
          <a:xfrm>
            <a:off x="5207000" y="2197100"/>
            <a:ext cx="12700" cy="3556000"/>
          </a:xfrm>
          <a:prstGeom prst="rect">
            <a:avLst/>
          </a:prstGeom>
          <a:solidFill>
            <a:srgbClr val="C9D1DC"/>
          </a:solidFill>
          <a:ln/>
        </p:spPr>
      </p:sp>
      <p:sp>
        <p:nvSpPr>
          <p:cNvPr id="19" name="Shape 14"/>
          <p:cNvSpPr/>
          <p:nvPr/>
        </p:nvSpPr>
        <p:spPr>
          <a:xfrm>
            <a:off x="6972300" y="2197100"/>
            <a:ext cx="12700" cy="3556000"/>
          </a:xfrm>
          <a:prstGeom prst="rect">
            <a:avLst/>
          </a:prstGeom>
          <a:solidFill>
            <a:srgbClr val="C9D1DC"/>
          </a:solidFill>
          <a:ln/>
        </p:spPr>
      </p:sp>
      <p:sp>
        <p:nvSpPr>
          <p:cNvPr id="20" name="Shape 15"/>
          <p:cNvSpPr/>
          <p:nvPr/>
        </p:nvSpPr>
        <p:spPr>
          <a:xfrm>
            <a:off x="8731250" y="2197100"/>
            <a:ext cx="12700" cy="3556000"/>
          </a:xfrm>
          <a:prstGeom prst="rect">
            <a:avLst/>
          </a:prstGeom>
          <a:solidFill>
            <a:srgbClr val="C9D1DC"/>
          </a:solidFill>
          <a:ln/>
        </p:spPr>
      </p:sp>
      <p:sp>
        <p:nvSpPr>
          <p:cNvPr id="21" name="Shape 16"/>
          <p:cNvSpPr/>
          <p:nvPr/>
        </p:nvSpPr>
        <p:spPr>
          <a:xfrm>
            <a:off x="10490200" y="2197100"/>
            <a:ext cx="12700" cy="3556000"/>
          </a:xfrm>
          <a:prstGeom prst="rect">
            <a:avLst/>
          </a:prstGeom>
          <a:solidFill>
            <a:srgbClr val="C9D1DC"/>
          </a:solidFill>
          <a:ln/>
        </p:spPr>
      </p:sp>
      <p:pic>
        <p:nvPicPr>
          <p:cNvPr id="22" name="Image 3" descr="connector"/>
          <p:cNvPicPr>
            <a:picLocks noChangeAspect="1"/>
          </p:cNvPicPr>
          <p:nvPr/>
        </p:nvPicPr>
        <p:blipFill>
          <a:blip r:embed="rId6"/>
          <a:srcRect/>
          <a:stretch/>
        </p:blipFill>
        <p:spPr>
          <a:xfrm>
            <a:off x="1663700" y="2489200"/>
            <a:ext cx="1822450" cy="101600"/>
          </a:xfrm>
          <a:prstGeom prst="rect">
            <a:avLst/>
          </a:prstGeom>
        </p:spPr>
      </p:pic>
      <p:pic>
        <p:nvPicPr>
          <p:cNvPr id="23" name="Image 4" descr="connector"/>
          <p:cNvPicPr>
            <a:picLocks noChangeAspect="1"/>
          </p:cNvPicPr>
          <p:nvPr/>
        </p:nvPicPr>
        <p:blipFill>
          <a:blip r:embed="rId7"/>
          <a:srcRect/>
          <a:stretch/>
        </p:blipFill>
        <p:spPr>
          <a:xfrm>
            <a:off x="1663700" y="2870200"/>
            <a:ext cx="1822450" cy="101600"/>
          </a:xfrm>
          <a:prstGeom prst="rect">
            <a:avLst/>
          </a:prstGeom>
        </p:spPr>
      </p:pic>
      <p:pic>
        <p:nvPicPr>
          <p:cNvPr id="24" name="Image 5" descr="connector"/>
          <p:cNvPicPr>
            <a:picLocks noChangeAspect="1"/>
          </p:cNvPicPr>
          <p:nvPr/>
        </p:nvPicPr>
        <p:blipFill>
          <a:blip r:embed="rId6"/>
          <a:srcRect/>
          <a:stretch/>
        </p:blipFill>
        <p:spPr>
          <a:xfrm>
            <a:off x="3422650" y="3251200"/>
            <a:ext cx="1822450" cy="101600"/>
          </a:xfrm>
          <a:prstGeom prst="rect">
            <a:avLst/>
          </a:prstGeom>
        </p:spPr>
      </p:pic>
      <p:pic>
        <p:nvPicPr>
          <p:cNvPr id="25" name="Image 6" descr="connector"/>
          <p:cNvPicPr>
            <a:picLocks noChangeAspect="1"/>
          </p:cNvPicPr>
          <p:nvPr/>
        </p:nvPicPr>
        <p:blipFill>
          <a:blip r:embed="rId8"/>
          <a:srcRect/>
          <a:stretch/>
        </p:blipFill>
        <p:spPr>
          <a:xfrm>
            <a:off x="3422650" y="3632200"/>
            <a:ext cx="3587750" cy="101600"/>
          </a:xfrm>
          <a:prstGeom prst="rect">
            <a:avLst/>
          </a:prstGeom>
        </p:spPr>
      </p:pic>
      <p:pic>
        <p:nvPicPr>
          <p:cNvPr id="26" name="Image 7" descr="connector"/>
          <p:cNvPicPr>
            <a:picLocks noChangeAspect="1"/>
          </p:cNvPicPr>
          <p:nvPr/>
        </p:nvPicPr>
        <p:blipFill>
          <a:blip r:embed="rId9"/>
          <a:srcRect/>
          <a:stretch/>
        </p:blipFill>
        <p:spPr>
          <a:xfrm>
            <a:off x="3422650" y="4013200"/>
            <a:ext cx="5346700" cy="101600"/>
          </a:xfrm>
          <a:prstGeom prst="rect">
            <a:avLst/>
          </a:prstGeom>
        </p:spPr>
      </p:pic>
      <p:pic>
        <p:nvPicPr>
          <p:cNvPr id="27" name="Image 8" descr="connector"/>
          <p:cNvPicPr>
            <a:picLocks noChangeAspect="1"/>
          </p:cNvPicPr>
          <p:nvPr/>
        </p:nvPicPr>
        <p:blipFill>
          <a:blip r:embed="rId10"/>
          <a:srcRect/>
          <a:stretch/>
        </p:blipFill>
        <p:spPr>
          <a:xfrm>
            <a:off x="6946900" y="4394200"/>
            <a:ext cx="1822450" cy="101600"/>
          </a:xfrm>
          <a:prstGeom prst="rect">
            <a:avLst/>
          </a:prstGeom>
        </p:spPr>
      </p:pic>
      <p:pic>
        <p:nvPicPr>
          <p:cNvPr id="28" name="Image 9" descr="connector"/>
          <p:cNvPicPr>
            <a:picLocks noChangeAspect="1"/>
          </p:cNvPicPr>
          <p:nvPr/>
        </p:nvPicPr>
        <p:blipFill>
          <a:blip r:embed="rId11"/>
          <a:srcRect/>
          <a:stretch/>
        </p:blipFill>
        <p:spPr>
          <a:xfrm>
            <a:off x="1663700" y="4775200"/>
            <a:ext cx="5346700" cy="101600"/>
          </a:xfrm>
          <a:prstGeom prst="rect">
            <a:avLst/>
          </a:prstGeom>
        </p:spPr>
      </p:pic>
      <p:pic>
        <p:nvPicPr>
          <p:cNvPr id="29" name="Image 10" descr="connector"/>
          <p:cNvPicPr>
            <a:picLocks noChangeAspect="1"/>
          </p:cNvPicPr>
          <p:nvPr/>
        </p:nvPicPr>
        <p:blipFill>
          <a:blip r:embed="rId7"/>
          <a:srcRect/>
          <a:stretch/>
        </p:blipFill>
        <p:spPr>
          <a:xfrm>
            <a:off x="6946900" y="5156200"/>
            <a:ext cx="1822450" cy="101600"/>
          </a:xfrm>
          <a:prstGeom prst="rect">
            <a:avLst/>
          </a:prstGeom>
        </p:spPr>
      </p:pic>
      <p:pic>
        <p:nvPicPr>
          <p:cNvPr id="30" name="Image 11" descr="connector"/>
          <p:cNvPicPr>
            <a:picLocks noChangeAspect="1"/>
          </p:cNvPicPr>
          <p:nvPr/>
        </p:nvPicPr>
        <p:blipFill>
          <a:blip r:embed="rId10"/>
          <a:srcRect/>
          <a:stretch/>
        </p:blipFill>
        <p:spPr>
          <a:xfrm>
            <a:off x="6946900" y="5537200"/>
            <a:ext cx="1822450" cy="101600"/>
          </a:xfrm>
          <a:prstGeom prst="rect">
            <a:avLst/>
          </a:prstGeom>
        </p:spPr>
      </p:pic>
      <p:sp>
        <p:nvSpPr>
          <p:cNvPr id="31" name="Text 17"/>
          <p:cNvSpPr/>
          <p:nvPr/>
        </p:nvSpPr>
        <p:spPr>
          <a:xfrm>
            <a:off x="1581150" y="2286000"/>
            <a:ext cx="19875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1 · Upload PDF resume</a:t>
            </a:r>
            <a:endParaRPr lang="en-US" sz="1200" dirty="0"/>
          </a:p>
        </p:txBody>
      </p:sp>
      <p:sp>
        <p:nvSpPr>
          <p:cNvPr id="32" name="Text 18"/>
          <p:cNvSpPr/>
          <p:nvPr/>
        </p:nvSpPr>
        <p:spPr>
          <a:xfrm>
            <a:off x="971550" y="2667000"/>
            <a:ext cx="32004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F5FC4"/>
                </a:solidFill>
                <a:latin typeface="DM Sans" pitchFamily="34" charset="0"/>
                <a:ea typeface="DM Sans" pitchFamily="34" charset="-122"/>
                <a:cs typeface="DM Sans" pitchFamily="34" charset="-120"/>
              </a:rPr>
              <a:t>2 · Verify email with one-time code</a:t>
            </a:r>
            <a:endParaRPr lang="en-US" sz="1200" dirty="0"/>
          </a:p>
        </p:txBody>
      </p:sp>
      <p:sp>
        <p:nvSpPr>
          <p:cNvPr id="33" name="Text 19"/>
          <p:cNvSpPr/>
          <p:nvPr/>
        </p:nvSpPr>
        <p:spPr>
          <a:xfrm>
            <a:off x="3340100" y="3048000"/>
            <a:ext cx="19875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3 · Store resume file</a:t>
            </a:r>
            <a:endParaRPr lang="en-US" sz="1200" dirty="0"/>
          </a:p>
        </p:txBody>
      </p:sp>
      <p:sp>
        <p:nvSpPr>
          <p:cNvPr id="34" name="Text 20"/>
          <p:cNvSpPr/>
          <p:nvPr/>
        </p:nvSpPr>
        <p:spPr>
          <a:xfrm>
            <a:off x="3702050" y="3429000"/>
            <a:ext cx="30226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4 · Extract skills and experience</a:t>
            </a:r>
            <a:endParaRPr lang="en-US" sz="1200" dirty="0"/>
          </a:p>
        </p:txBody>
      </p:sp>
      <p:sp>
        <p:nvSpPr>
          <p:cNvPr id="35" name="Text 21"/>
          <p:cNvSpPr/>
          <p:nvPr/>
        </p:nvSpPr>
        <p:spPr>
          <a:xfrm>
            <a:off x="4667250" y="3810000"/>
            <a:ext cx="28511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5 · Sync candidate (secret API)</a:t>
            </a:r>
            <a:endParaRPr lang="en-US" sz="1200" dirty="0"/>
          </a:p>
        </p:txBody>
      </p:sp>
      <p:sp>
        <p:nvSpPr>
          <p:cNvPr id="36" name="Text 22"/>
          <p:cNvSpPr/>
          <p:nvPr/>
        </p:nvSpPr>
        <p:spPr>
          <a:xfrm>
            <a:off x="6432550" y="4191000"/>
            <a:ext cx="28511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6 · Screening score and summary</a:t>
            </a:r>
            <a:endParaRPr lang="en-US" sz="1200" dirty="0"/>
          </a:p>
        </p:txBody>
      </p:sp>
      <p:sp>
        <p:nvSpPr>
          <p:cNvPr id="37" name="Text 23"/>
          <p:cNvSpPr/>
          <p:nvPr/>
        </p:nvSpPr>
        <p:spPr>
          <a:xfrm>
            <a:off x="2432050" y="4572000"/>
            <a:ext cx="38036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F5FC4"/>
                </a:solidFill>
                <a:latin typeface="DM Sans" pitchFamily="34" charset="0"/>
                <a:ea typeface="DM Sans" pitchFamily="34" charset="-122"/>
                <a:cs typeface="DM Sans" pitchFamily="34" charset="-120"/>
              </a:rPr>
              <a:t>7 · Work simulation and authenticity check</a:t>
            </a:r>
            <a:endParaRPr lang="en-US" sz="1200" dirty="0"/>
          </a:p>
        </p:txBody>
      </p:sp>
      <p:sp>
        <p:nvSpPr>
          <p:cNvPr id="38" name="Text 24"/>
          <p:cNvSpPr/>
          <p:nvPr/>
        </p:nvSpPr>
        <p:spPr>
          <a:xfrm>
            <a:off x="6216650" y="4953000"/>
            <a:ext cx="32829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F5FC4"/>
                </a:solidFill>
                <a:latin typeface="DM Sans" pitchFamily="34" charset="0"/>
                <a:ea typeface="DM Sans" pitchFamily="34" charset="-122"/>
                <a:cs typeface="DM Sans" pitchFamily="34" charset="-120"/>
              </a:rPr>
              <a:t>8 · Evidence-cited score, bias check</a:t>
            </a:r>
            <a:endParaRPr lang="en-US" sz="1200" dirty="0"/>
          </a:p>
        </p:txBody>
      </p:sp>
      <p:sp>
        <p:nvSpPr>
          <p:cNvPr id="39" name="Text 25"/>
          <p:cNvSpPr/>
          <p:nvPr/>
        </p:nvSpPr>
        <p:spPr>
          <a:xfrm>
            <a:off x="6470650" y="5334000"/>
            <a:ext cx="27686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9 · Rank and compare shortlist</a:t>
            </a:r>
            <a:endParaRPr lang="en-US" sz="1200" dirty="0"/>
          </a:p>
        </p:txBody>
      </p:sp>
      <p:sp>
        <p:nvSpPr>
          <p:cNvPr id="40" name="Text 2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Step 3 today stores files in a public bucket; moving to private, expiring links is part of Phase 0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TECHNICAL FLOW 2 OF 2 · CALL, BOOK, NOTIFY, LEARN</a:t>
            </a:r>
            <a:endParaRPr lang="en-US" sz="1200" dirty="0"/>
          </a:p>
        </p:txBody>
      </p:sp>
      <p:sp>
        <p:nvSpPr>
          <p:cNvPr id="3" name="Text 1"/>
          <p:cNvSpPr>
            <a:spLocks noGrp="1"/>
          </p:cNvSpPr>
          <p:nvPr>
            <p:ph type="title"/>
          </p:nvPr>
        </p:nvSpPr>
        <p:spPr>
          <a:xfrm>
            <a:off x="812800" y="8102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3213A"/>
                </a:solidFill>
                <a:latin typeface="Space Grotesk" pitchFamily="34" charset="0"/>
                <a:ea typeface="Space Grotesk" pitchFamily="34" charset="-122"/>
                <a:cs typeface="Space Grotesk" pitchFamily="34" charset="-120"/>
              </a:rPr>
              <a:t>From shortlist to hire, and back into the model</a:t>
            </a:r>
            <a:endParaRPr lang="en-US" sz="2600" dirty="0"/>
          </a:p>
        </p:txBody>
      </p:sp>
      <p:pic>
        <p:nvPicPr>
          <p:cNvPr id="4" name="Image 0" descr="line"/>
          <p:cNvPicPr>
            <a:picLocks noChangeAspect="1"/>
          </p:cNvPicPr>
          <p:nvPr/>
        </p:nvPicPr>
        <p:blipFill>
          <a:blip r:embed="rId3"/>
          <a:srcRect/>
          <a:stretch/>
        </p:blipFill>
        <p:spPr>
          <a:xfrm>
            <a:off x="812800" y="1356361"/>
            <a:ext cx="355600" cy="25400"/>
          </a:xfrm>
          <a:prstGeom prst="rect">
            <a:avLst/>
          </a:prstGeom>
        </p:spPr>
      </p:pic>
      <p:sp>
        <p:nvSpPr>
          <p:cNvPr id="5" name="Text 2"/>
          <p:cNvSpPr/>
          <p:nvPr/>
        </p:nvSpPr>
        <p:spPr>
          <a:xfrm>
            <a:off x="1244600" y="1262382"/>
            <a:ext cx="92744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6B3A"/>
                </a:solidFill>
                <a:latin typeface="DM Sans" pitchFamily="34" charset="0"/>
                <a:ea typeface="DM Sans" pitchFamily="34" charset="-122"/>
                <a:cs typeface="DM Sans" pitchFamily="34" charset="-120"/>
              </a:rPr>
              <a:t>Live today</a:t>
            </a:r>
            <a:endParaRPr lang="en-US" sz="1200" dirty="0"/>
          </a:p>
        </p:txBody>
      </p:sp>
      <p:pic>
        <p:nvPicPr>
          <p:cNvPr id="6" name="Image 1" descr="line"/>
          <p:cNvPicPr>
            <a:picLocks noChangeAspect="1"/>
          </p:cNvPicPr>
          <p:nvPr/>
        </p:nvPicPr>
        <p:blipFill>
          <a:blip r:embed="rId4"/>
          <a:srcRect/>
          <a:stretch/>
        </p:blipFill>
        <p:spPr>
          <a:xfrm>
            <a:off x="2322274" y="1343661"/>
            <a:ext cx="355600" cy="50800"/>
          </a:xfrm>
          <a:prstGeom prst="rect">
            <a:avLst/>
          </a:prstGeom>
        </p:spPr>
      </p:pic>
      <p:sp>
        <p:nvSpPr>
          <p:cNvPr id="7" name="Text 3"/>
          <p:cNvSpPr/>
          <p:nvPr/>
        </p:nvSpPr>
        <p:spPr>
          <a:xfrm>
            <a:off x="2754074" y="1262382"/>
            <a:ext cx="95230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Being built</a:t>
            </a:r>
            <a:endParaRPr lang="en-US" sz="1200" dirty="0"/>
          </a:p>
        </p:txBody>
      </p:sp>
      <p:pic>
        <p:nvPicPr>
          <p:cNvPr id="8" name="Image 2" descr="line"/>
          <p:cNvPicPr>
            <a:picLocks noChangeAspect="1"/>
          </p:cNvPicPr>
          <p:nvPr/>
        </p:nvPicPr>
        <p:blipFill>
          <a:blip r:embed="rId5"/>
          <a:srcRect/>
          <a:stretch/>
        </p:blipFill>
        <p:spPr>
          <a:xfrm>
            <a:off x="3852466" y="1343661"/>
            <a:ext cx="355600" cy="50800"/>
          </a:xfrm>
          <a:prstGeom prst="rect">
            <a:avLst/>
          </a:prstGeom>
        </p:spPr>
      </p:pic>
      <p:sp>
        <p:nvSpPr>
          <p:cNvPr id="9" name="Text 4"/>
          <p:cNvSpPr/>
          <p:nvPr/>
        </p:nvSpPr>
        <p:spPr>
          <a:xfrm>
            <a:off x="4284266" y="1262382"/>
            <a:ext cx="210454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Proposed improvement</a:t>
            </a:r>
            <a:endParaRPr lang="en-US" sz="1200" dirty="0"/>
          </a:p>
        </p:txBody>
      </p:sp>
      <p:sp>
        <p:nvSpPr>
          <p:cNvPr id="10" name="Text 5"/>
          <p:cNvSpPr/>
          <p:nvPr/>
        </p:nvSpPr>
        <p:spPr>
          <a:xfrm>
            <a:off x="9017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Candidate</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browser · phone</a:t>
            </a:r>
            <a:endParaRPr lang="en-US" sz="1200" dirty="0"/>
          </a:p>
        </p:txBody>
      </p:sp>
      <p:sp>
        <p:nvSpPr>
          <p:cNvPr id="11" name="Text 6"/>
          <p:cNvSpPr/>
          <p:nvPr/>
        </p:nvSpPr>
        <p:spPr>
          <a:xfrm>
            <a:off x="266065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Apply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Next.js</a:t>
            </a:r>
            <a:endParaRPr lang="en-US" sz="1200" dirty="0"/>
          </a:p>
        </p:txBody>
      </p:sp>
      <p:sp>
        <p:nvSpPr>
          <p:cNvPr id="12" name="Text 7"/>
          <p:cNvSpPr/>
          <p:nvPr/>
        </p:nvSpPr>
        <p:spPr>
          <a:xfrm>
            <a:off x="44196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Storage</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Supabase</a:t>
            </a:r>
            <a:endParaRPr lang="en-US" sz="1200" dirty="0"/>
          </a:p>
        </p:txBody>
      </p:sp>
      <p:sp>
        <p:nvSpPr>
          <p:cNvPr id="13" name="Text 8"/>
          <p:cNvSpPr/>
          <p:nvPr/>
        </p:nvSpPr>
        <p:spPr>
          <a:xfrm>
            <a:off x="61849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AI models</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Gemini · Sarvam</a:t>
            </a:r>
            <a:endParaRPr lang="en-US" sz="1200" dirty="0"/>
          </a:p>
        </p:txBody>
      </p:sp>
      <p:sp>
        <p:nvSpPr>
          <p:cNvPr id="14" name="Text 9"/>
          <p:cNvSpPr/>
          <p:nvPr/>
        </p:nvSpPr>
        <p:spPr>
          <a:xfrm>
            <a:off x="794385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HR portal</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app + Postgres</a:t>
            </a:r>
            <a:endParaRPr lang="en-US" sz="1200" dirty="0"/>
          </a:p>
        </p:txBody>
      </p:sp>
      <p:sp>
        <p:nvSpPr>
          <p:cNvPr id="15" name="Text 10"/>
          <p:cNvSpPr/>
          <p:nvPr/>
        </p:nvSpPr>
        <p:spPr>
          <a:xfrm>
            <a:off x="9702800" y="1714500"/>
            <a:ext cx="1587500" cy="441960"/>
          </a:xfrm>
          <a:custGeom>
            <a:avLst/>
            <a:gdLst/>
            <a:ahLst/>
            <a:cxnLst/>
            <a:rect l="l" t="t" r="r" b="b"/>
            <a:pathLst>
              <a:path w="1587500" h="441960">
                <a:moveTo>
                  <a:pt x="76200" y="0"/>
                </a:moveTo>
                <a:lnTo>
                  <a:pt x="1511300" y="0"/>
                </a:lnTo>
                <a:arcTo wR="76200" hR="76200" stAng="16200000" swAng="5400000"/>
                <a:lnTo>
                  <a:pt x="1587500" y="365760"/>
                </a:lnTo>
                <a:arcTo wR="76200" hR="76200" stAng="0" swAng="5400000"/>
                <a:lnTo>
                  <a:pt x="76200" y="441960"/>
                </a:lnTo>
                <a:arcTo wR="76200" hR="76200" stAng="5400000" swAng="5400000"/>
                <a:lnTo>
                  <a:pt x="0" y="76200"/>
                </a:lnTo>
                <a:arcTo wR="76200" hR="76200" stAng="10800000" swAng="5400000"/>
                <a:close/>
              </a:path>
            </a:pathLst>
          </a:custGeom>
          <a:solidFill>
            <a:srgbClr val="13213A"/>
          </a:solidFill>
          <a:ln/>
        </p:spPr>
        <p:txBody>
          <a:bodyPr wrap="square" lIns="12700" tIns="38100" rIns="12700" bIns="12700" rtlCol="0" anchor="t">
            <a:normAutofit/>
          </a:bodyPr>
          <a:lstStyle/>
          <a:p>
            <a:pPr marL="0" indent="0" algn="ctr">
              <a:lnSpc>
                <a:spcPts val="1440"/>
              </a:lnSpc>
              <a:buNone/>
            </a:pPr>
            <a:r>
              <a:rPr lang="en-US" sz="1200" b="1" dirty="0">
                <a:solidFill>
                  <a:srgbClr val="F7F6F2"/>
                </a:solidFill>
                <a:latin typeface="DM Sans" pitchFamily="34" charset="0"/>
                <a:ea typeface="DM Sans" pitchFamily="34" charset="-122"/>
                <a:cs typeface="DM Sans" pitchFamily="34" charset="-120"/>
              </a:rPr>
              <a:t>Voice, calendar</a:t>
            </a:r>
            <a:endParaRPr lang="en-US" sz="1200" dirty="0"/>
          </a:p>
          <a:p>
            <a:pPr marL="0" indent="0" algn="ctr">
              <a:lnSpc>
                <a:spcPts val="1440"/>
              </a:lnSpc>
              <a:buNone/>
            </a:pPr>
            <a:r>
              <a:rPr lang="en-US" sz="1200" dirty="0">
                <a:solidFill>
                  <a:srgbClr val="F7F6F2"/>
                </a:solidFill>
                <a:latin typeface="DM Sans" pitchFamily="34" charset="0"/>
                <a:ea typeface="DM Sans" pitchFamily="34" charset="-122"/>
                <a:cs typeface="DM Sans" pitchFamily="34" charset="-120"/>
              </a:rPr>
              <a:t>Vapi · Google</a:t>
            </a:r>
            <a:endParaRPr lang="en-US" sz="1200" dirty="0"/>
          </a:p>
        </p:txBody>
      </p:sp>
      <p:sp>
        <p:nvSpPr>
          <p:cNvPr id="16" name="Shape 11"/>
          <p:cNvSpPr/>
          <p:nvPr/>
        </p:nvSpPr>
        <p:spPr>
          <a:xfrm>
            <a:off x="1689100" y="2197100"/>
            <a:ext cx="12700" cy="3556000"/>
          </a:xfrm>
          <a:prstGeom prst="rect">
            <a:avLst/>
          </a:prstGeom>
          <a:solidFill>
            <a:srgbClr val="C9D1DC"/>
          </a:solidFill>
          <a:ln/>
        </p:spPr>
      </p:sp>
      <p:sp>
        <p:nvSpPr>
          <p:cNvPr id="17" name="Shape 12"/>
          <p:cNvSpPr/>
          <p:nvPr/>
        </p:nvSpPr>
        <p:spPr>
          <a:xfrm>
            <a:off x="3448050" y="2197100"/>
            <a:ext cx="12700" cy="3556000"/>
          </a:xfrm>
          <a:prstGeom prst="rect">
            <a:avLst/>
          </a:prstGeom>
          <a:solidFill>
            <a:srgbClr val="C9D1DC"/>
          </a:solidFill>
          <a:ln/>
        </p:spPr>
      </p:sp>
      <p:sp>
        <p:nvSpPr>
          <p:cNvPr id="18" name="Shape 13"/>
          <p:cNvSpPr/>
          <p:nvPr/>
        </p:nvSpPr>
        <p:spPr>
          <a:xfrm>
            <a:off x="5207000" y="2197100"/>
            <a:ext cx="12700" cy="3556000"/>
          </a:xfrm>
          <a:prstGeom prst="rect">
            <a:avLst/>
          </a:prstGeom>
          <a:solidFill>
            <a:srgbClr val="C9D1DC"/>
          </a:solidFill>
          <a:ln/>
        </p:spPr>
      </p:sp>
      <p:sp>
        <p:nvSpPr>
          <p:cNvPr id="19" name="Shape 14"/>
          <p:cNvSpPr/>
          <p:nvPr/>
        </p:nvSpPr>
        <p:spPr>
          <a:xfrm>
            <a:off x="6972300" y="2197100"/>
            <a:ext cx="12700" cy="3556000"/>
          </a:xfrm>
          <a:prstGeom prst="rect">
            <a:avLst/>
          </a:prstGeom>
          <a:solidFill>
            <a:srgbClr val="C9D1DC"/>
          </a:solidFill>
          <a:ln/>
        </p:spPr>
      </p:sp>
      <p:sp>
        <p:nvSpPr>
          <p:cNvPr id="20" name="Shape 15"/>
          <p:cNvSpPr/>
          <p:nvPr/>
        </p:nvSpPr>
        <p:spPr>
          <a:xfrm>
            <a:off x="8731250" y="2197100"/>
            <a:ext cx="12700" cy="3556000"/>
          </a:xfrm>
          <a:prstGeom prst="rect">
            <a:avLst/>
          </a:prstGeom>
          <a:solidFill>
            <a:srgbClr val="C9D1DC"/>
          </a:solidFill>
          <a:ln/>
        </p:spPr>
      </p:sp>
      <p:sp>
        <p:nvSpPr>
          <p:cNvPr id="21" name="Shape 16"/>
          <p:cNvSpPr/>
          <p:nvPr/>
        </p:nvSpPr>
        <p:spPr>
          <a:xfrm>
            <a:off x="10490200" y="2197100"/>
            <a:ext cx="12700" cy="3556000"/>
          </a:xfrm>
          <a:prstGeom prst="rect">
            <a:avLst/>
          </a:prstGeom>
          <a:solidFill>
            <a:srgbClr val="C9D1DC"/>
          </a:solidFill>
          <a:ln/>
        </p:spPr>
      </p:sp>
      <p:pic>
        <p:nvPicPr>
          <p:cNvPr id="22" name="Image 3" descr="connector"/>
          <p:cNvPicPr>
            <a:picLocks noChangeAspect="1"/>
          </p:cNvPicPr>
          <p:nvPr/>
        </p:nvPicPr>
        <p:blipFill>
          <a:blip r:embed="rId6"/>
          <a:srcRect/>
          <a:stretch/>
        </p:blipFill>
        <p:spPr>
          <a:xfrm>
            <a:off x="8705850" y="2489200"/>
            <a:ext cx="1822450" cy="101600"/>
          </a:xfrm>
          <a:prstGeom prst="rect">
            <a:avLst/>
          </a:prstGeom>
        </p:spPr>
      </p:pic>
      <p:pic>
        <p:nvPicPr>
          <p:cNvPr id="23" name="Image 4" descr="connector"/>
          <p:cNvPicPr>
            <a:picLocks noChangeAspect="1"/>
          </p:cNvPicPr>
          <p:nvPr/>
        </p:nvPicPr>
        <p:blipFill>
          <a:blip r:embed="rId7"/>
          <a:srcRect/>
          <a:stretch/>
        </p:blipFill>
        <p:spPr>
          <a:xfrm>
            <a:off x="1663700" y="2870200"/>
            <a:ext cx="8864600" cy="101600"/>
          </a:xfrm>
          <a:prstGeom prst="rect">
            <a:avLst/>
          </a:prstGeom>
        </p:spPr>
      </p:pic>
      <p:pic>
        <p:nvPicPr>
          <p:cNvPr id="24" name="Image 5" descr="connector"/>
          <p:cNvPicPr>
            <a:picLocks noChangeAspect="1"/>
          </p:cNvPicPr>
          <p:nvPr/>
        </p:nvPicPr>
        <p:blipFill>
          <a:blip r:embed="rId8"/>
          <a:srcRect/>
          <a:stretch/>
        </p:blipFill>
        <p:spPr>
          <a:xfrm>
            <a:off x="6946900" y="3251200"/>
            <a:ext cx="3581400" cy="101600"/>
          </a:xfrm>
          <a:prstGeom prst="rect">
            <a:avLst/>
          </a:prstGeom>
        </p:spPr>
      </p:pic>
      <p:pic>
        <p:nvPicPr>
          <p:cNvPr id="25" name="Image 6" descr="connector"/>
          <p:cNvPicPr>
            <a:picLocks noChangeAspect="1"/>
          </p:cNvPicPr>
          <p:nvPr/>
        </p:nvPicPr>
        <p:blipFill>
          <a:blip r:embed="rId9"/>
          <a:srcRect/>
          <a:stretch/>
        </p:blipFill>
        <p:spPr>
          <a:xfrm>
            <a:off x="8705850" y="3632200"/>
            <a:ext cx="1822450" cy="101600"/>
          </a:xfrm>
          <a:prstGeom prst="rect">
            <a:avLst/>
          </a:prstGeom>
        </p:spPr>
      </p:pic>
      <p:pic>
        <p:nvPicPr>
          <p:cNvPr id="26" name="Image 7" descr="connector"/>
          <p:cNvPicPr>
            <a:picLocks noChangeAspect="1"/>
          </p:cNvPicPr>
          <p:nvPr/>
        </p:nvPicPr>
        <p:blipFill>
          <a:blip r:embed="rId9"/>
          <a:srcRect/>
          <a:stretch/>
        </p:blipFill>
        <p:spPr>
          <a:xfrm>
            <a:off x="6946900" y="4013200"/>
            <a:ext cx="1822450" cy="101600"/>
          </a:xfrm>
          <a:prstGeom prst="rect">
            <a:avLst/>
          </a:prstGeom>
        </p:spPr>
      </p:pic>
      <p:pic>
        <p:nvPicPr>
          <p:cNvPr id="27" name="Image 8" descr="connector"/>
          <p:cNvPicPr>
            <a:picLocks noChangeAspect="1"/>
          </p:cNvPicPr>
          <p:nvPr/>
        </p:nvPicPr>
        <p:blipFill>
          <a:blip r:embed="rId6"/>
          <a:srcRect/>
          <a:stretch/>
        </p:blipFill>
        <p:spPr>
          <a:xfrm>
            <a:off x="8705850" y="4394200"/>
            <a:ext cx="1822450" cy="101600"/>
          </a:xfrm>
          <a:prstGeom prst="rect">
            <a:avLst/>
          </a:prstGeom>
        </p:spPr>
      </p:pic>
      <p:pic>
        <p:nvPicPr>
          <p:cNvPr id="28" name="Image 9" descr="connector"/>
          <p:cNvPicPr>
            <a:picLocks noChangeAspect="1"/>
          </p:cNvPicPr>
          <p:nvPr/>
        </p:nvPicPr>
        <p:blipFill>
          <a:blip r:embed="rId10"/>
          <a:srcRect/>
          <a:stretch/>
        </p:blipFill>
        <p:spPr>
          <a:xfrm>
            <a:off x="1663700" y="4775200"/>
            <a:ext cx="7105650" cy="101600"/>
          </a:xfrm>
          <a:prstGeom prst="rect">
            <a:avLst/>
          </a:prstGeom>
        </p:spPr>
      </p:pic>
      <p:pic>
        <p:nvPicPr>
          <p:cNvPr id="29" name="Image 10" descr="connector"/>
          <p:cNvPicPr>
            <a:picLocks noChangeAspect="1"/>
          </p:cNvPicPr>
          <p:nvPr/>
        </p:nvPicPr>
        <p:blipFill>
          <a:blip r:embed="rId11"/>
          <a:srcRect/>
          <a:stretch/>
        </p:blipFill>
        <p:spPr>
          <a:xfrm>
            <a:off x="1663700" y="5156200"/>
            <a:ext cx="8864600" cy="101600"/>
          </a:xfrm>
          <a:prstGeom prst="rect">
            <a:avLst/>
          </a:prstGeom>
        </p:spPr>
      </p:pic>
      <p:pic>
        <p:nvPicPr>
          <p:cNvPr id="30" name="Image 11" descr="connector"/>
          <p:cNvPicPr>
            <a:picLocks noChangeAspect="1"/>
          </p:cNvPicPr>
          <p:nvPr/>
        </p:nvPicPr>
        <p:blipFill>
          <a:blip r:embed="rId12"/>
          <a:srcRect/>
          <a:stretch/>
        </p:blipFill>
        <p:spPr>
          <a:xfrm>
            <a:off x="6946900" y="5537200"/>
            <a:ext cx="1822450" cy="101600"/>
          </a:xfrm>
          <a:prstGeom prst="rect">
            <a:avLst/>
          </a:prstGeom>
        </p:spPr>
      </p:pic>
      <p:sp>
        <p:nvSpPr>
          <p:cNvPr id="31" name="Text 17"/>
          <p:cNvSpPr/>
          <p:nvPr/>
        </p:nvSpPr>
        <p:spPr>
          <a:xfrm>
            <a:off x="8318500" y="2286000"/>
            <a:ext cx="25908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1 · Start AI scheduling call</a:t>
            </a:r>
            <a:endParaRPr lang="en-US" sz="1200" dirty="0"/>
          </a:p>
        </p:txBody>
      </p:sp>
      <p:sp>
        <p:nvSpPr>
          <p:cNvPr id="32" name="Text 18"/>
          <p:cNvSpPr/>
          <p:nvPr/>
        </p:nvSpPr>
        <p:spPr>
          <a:xfrm>
            <a:off x="4584700" y="2667000"/>
            <a:ext cx="30226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2 · Phone call to candidate (+91)</a:t>
            </a:r>
            <a:endParaRPr lang="en-US" sz="1200" dirty="0"/>
          </a:p>
        </p:txBody>
      </p:sp>
      <p:sp>
        <p:nvSpPr>
          <p:cNvPr id="33" name="Text 19"/>
          <p:cNvSpPr/>
          <p:nvPr/>
        </p:nvSpPr>
        <p:spPr>
          <a:xfrm>
            <a:off x="7226300" y="3048000"/>
            <a:ext cx="30226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A84716"/>
                </a:solidFill>
                <a:latin typeface="DM Sans" pitchFamily="34" charset="0"/>
                <a:ea typeface="DM Sans" pitchFamily="34" charset="-122"/>
                <a:cs typeface="DM Sans" pitchFamily="34" charset="-120"/>
              </a:rPr>
              <a:t>3 · Sarvam speech in 22 languages</a:t>
            </a:r>
            <a:endParaRPr lang="en-US" sz="1200" dirty="0"/>
          </a:p>
        </p:txBody>
      </p:sp>
      <p:sp>
        <p:nvSpPr>
          <p:cNvPr id="34" name="Text 20"/>
          <p:cNvSpPr/>
          <p:nvPr/>
        </p:nvSpPr>
        <p:spPr>
          <a:xfrm>
            <a:off x="8318500" y="3429000"/>
            <a:ext cx="25908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4 · Webhook: call transcript</a:t>
            </a:r>
            <a:endParaRPr lang="en-US" sz="1200" dirty="0"/>
          </a:p>
        </p:txBody>
      </p:sp>
      <p:sp>
        <p:nvSpPr>
          <p:cNvPr id="35" name="Text 21"/>
          <p:cNvSpPr/>
          <p:nvPr/>
        </p:nvSpPr>
        <p:spPr>
          <a:xfrm>
            <a:off x="6864350" y="3810000"/>
            <a:ext cx="19875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5 · Read availability</a:t>
            </a:r>
            <a:endParaRPr lang="en-US" sz="1200" dirty="0"/>
          </a:p>
        </p:txBody>
      </p:sp>
      <p:sp>
        <p:nvSpPr>
          <p:cNvPr id="36" name="Text 22"/>
          <p:cNvSpPr/>
          <p:nvPr/>
        </p:nvSpPr>
        <p:spPr>
          <a:xfrm>
            <a:off x="8058150" y="4191000"/>
            <a:ext cx="31115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E6B3A"/>
                </a:solidFill>
                <a:latin typeface="DM Sans" pitchFamily="34" charset="0"/>
                <a:ea typeface="DM Sans" pitchFamily="34" charset="-122"/>
                <a:cs typeface="DM Sans" pitchFamily="34" charset="-120"/>
              </a:rPr>
              <a:t>6 · Check calendar, book interview</a:t>
            </a:r>
            <a:endParaRPr lang="en-US" sz="1200" dirty="0"/>
          </a:p>
        </p:txBody>
      </p:sp>
      <p:sp>
        <p:nvSpPr>
          <p:cNvPr id="37" name="Text 23"/>
          <p:cNvSpPr/>
          <p:nvPr/>
        </p:nvSpPr>
        <p:spPr>
          <a:xfrm>
            <a:off x="3613150" y="4572000"/>
            <a:ext cx="32004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A84716"/>
                </a:solidFill>
                <a:latin typeface="DM Sans" pitchFamily="34" charset="0"/>
                <a:ea typeface="DM Sans" pitchFamily="34" charset="-122"/>
                <a:cs typeface="DM Sans" pitchFamily="34" charset="-120"/>
              </a:rPr>
              <a:t>7 · Email and WhatsApp confirmation</a:t>
            </a:r>
            <a:endParaRPr lang="en-US" sz="1200" dirty="0"/>
          </a:p>
        </p:txBody>
      </p:sp>
      <p:sp>
        <p:nvSpPr>
          <p:cNvPr id="38" name="Text 24"/>
          <p:cNvSpPr/>
          <p:nvPr/>
        </p:nvSpPr>
        <p:spPr>
          <a:xfrm>
            <a:off x="4667250" y="4953000"/>
            <a:ext cx="285115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F5FC4"/>
                </a:solidFill>
                <a:latin typeface="DM Sans" pitchFamily="34" charset="0"/>
                <a:ea typeface="DM Sans" pitchFamily="34" charset="-122"/>
                <a:cs typeface="DM Sans" pitchFamily="34" charset="-120"/>
              </a:rPr>
              <a:t>8 · 30/60/90-day check-in calls</a:t>
            </a:r>
            <a:endParaRPr lang="en-US" sz="1200" dirty="0"/>
          </a:p>
        </p:txBody>
      </p:sp>
      <p:sp>
        <p:nvSpPr>
          <p:cNvPr id="39" name="Text 25"/>
          <p:cNvSpPr/>
          <p:nvPr/>
        </p:nvSpPr>
        <p:spPr>
          <a:xfrm>
            <a:off x="6559550" y="5334000"/>
            <a:ext cx="2590800" cy="202644"/>
          </a:xfrm>
          <a:prstGeom prst="rect">
            <a:avLst/>
          </a:prstGeom>
          <a:solidFill>
            <a:srgbClr val="F7F6F2"/>
          </a:solidFill>
          <a:ln/>
        </p:spPr>
        <p:txBody>
          <a:bodyPr wrap="none" lIns="0" tIns="0" rIns="0" bIns="0" rtlCol="0" anchor="t">
            <a:normAutofit/>
          </a:bodyPr>
          <a:lstStyle/>
          <a:p>
            <a:pPr marL="0" indent="0" algn="ctr">
              <a:lnSpc>
                <a:spcPts val="1596"/>
              </a:lnSpc>
              <a:buNone/>
            </a:pPr>
            <a:r>
              <a:rPr lang="en-US" sz="1200" dirty="0">
                <a:solidFill>
                  <a:srgbClr val="1F5FC4"/>
                </a:solidFill>
                <a:latin typeface="DM Sans" pitchFamily="34" charset="0"/>
                <a:ea typeface="DM Sans" pitchFamily="34" charset="-122"/>
                <a:cs typeface="DM Sans" pitchFamily="34" charset="-120"/>
              </a:rPr>
              <a:t>9 · Outcomes retrain ranking</a:t>
            </a:r>
            <a:endParaRPr lang="en-US" sz="1200" dirty="0"/>
          </a:p>
        </p:txBody>
      </p:sp>
      <p:sp>
        <p:nvSpPr>
          <p:cNvPr id="40" name="Text 2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Steps 8 and 9 are the learning loop: outcome data hard for competitors to copy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WHERE THE PRODUCT STANDS</a:t>
            </a:r>
            <a:endParaRPr lang="en-US" sz="1200" dirty="0"/>
          </a:p>
        </p:txBody>
      </p:sp>
      <p:sp>
        <p:nvSpPr>
          <p:cNvPr id="3" name="Text 1"/>
          <p:cNvSpPr>
            <a:spLocks noGrp="1"/>
          </p:cNvSpPr>
          <p:nvPr>
            <p:ph type="title"/>
          </p:nvPr>
        </p:nvSpPr>
        <p:spPr>
          <a:xfrm>
            <a:off x="812800" y="8991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Strong feature coverage, thin foundations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7021"/>
          <a:ext cx="10556239" cy="3568700"/>
        </p:xfrm>
        <a:graphic>
          <a:graphicData uri="http://schemas.openxmlformats.org/drawingml/2006/table">
            <a:tbl>
              <a:tblPr/>
              <a:tblGrid>
                <a:gridCol w="4855870">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Capability</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Status</a:t>
                      </a:r>
                      <a:endParaRPr lang="en-US" sz="1300" dirty="0">
                        <a:latin typeface="DM Sans" charset="0"/>
                        <a:ea typeface="DM Sans" charset="0"/>
                        <a:cs typeface="DM Sans" charset="0"/>
                      </a:endParaRPr>
                    </a:p>
                  </a:txBody>
                  <a:tcPr marL="57785" marR="57785" marT="57785" marB="57785">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Note</a:t>
                      </a:r>
                      <a:endParaRPr lang="en-US" sz="1300" dirty="0">
                        <a:latin typeface="DM Sans" charset="0"/>
                        <a:ea typeface="DM Sans" charset="0"/>
                        <a:cs typeface="DM Sans" charset="0"/>
                      </a:endParaRPr>
                    </a:p>
                  </a:txBody>
                  <a:tcPr marL="57785" marR="57785" marT="57785" marB="57785">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AI job description and screening questions</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Built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Gemini 2.5 Flash</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Resume upload and AI parsing</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Built</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PDF, up to 2 pages</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AI screening score and summary</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Built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Text or voice answers</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AI shortlist comparison and copilot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Built</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Scoped to each HR user</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AI phone calls that book interviews</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Built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India +91 and IST only</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Sending emails to candidates</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Not built</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AI drafts exist</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Secure candidate login</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Not built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Email typed in, not verified</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Separate customer companies</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Not built</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Needed to sell as SaaS</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8"/>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Backups, tests, monitoring</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Not built</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Phase 0 and 1 priority</a:t>
                      </a:r>
                      <a:endParaRPr lang="en-US" sz="1300" dirty="0">
                        <a:latin typeface="DM Sans" charset="0"/>
                        <a:ea typeface="DM Sans" charset="0"/>
                        <a:cs typeface="DM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Source: code review of the Hr-tech repository, Oct 2026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13A"/>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9A276"/>
                </a:solidFill>
                <a:latin typeface="DM Sans" pitchFamily="34" charset="0"/>
                <a:ea typeface="DM Sans" pitchFamily="34" charset="-122"/>
                <a:cs typeface="DM Sans" pitchFamily="34" charset="-120"/>
              </a:rPr>
              <a:t>TOP RISKS IN THE CURRENT BUILD</a:t>
            </a:r>
            <a:endParaRPr lang="en-US" sz="1200" dirty="0"/>
          </a:p>
        </p:txBody>
      </p:sp>
      <p:sp>
        <p:nvSpPr>
          <p:cNvPr id="3" name="Text 1"/>
          <p:cNvSpPr>
            <a:spLocks noGrp="1"/>
          </p:cNvSpPr>
          <p:nvPr>
            <p:ph type="title"/>
          </p:nvPr>
        </p:nvSpPr>
        <p:spPr>
          <a:xfrm>
            <a:off x="812800" y="8991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7F6F2"/>
                </a:solidFill>
                <a:latin typeface="Space Grotesk" pitchFamily="34" charset="0"/>
                <a:ea typeface="Space Grotesk" pitchFamily="34" charset="-122"/>
                <a:cs typeface="Space Grotesk" pitchFamily="34" charset="-120"/>
              </a:rPr>
              <a:t>Fix these before we scale or raise</a:t>
            </a:r>
            <a:endParaRPr lang="en-US" sz="3000" dirty="0"/>
          </a:p>
        </p:txBody>
      </p:sp>
      <p:sp>
        <p:nvSpPr>
          <p:cNvPr id="4" name="Shape 2"/>
          <p:cNvSpPr/>
          <p:nvPr/>
        </p:nvSpPr>
        <p:spPr>
          <a:xfrm>
            <a:off x="812800" y="1572261"/>
            <a:ext cx="3420507" cy="1351280"/>
          </a:xfrm>
          <a:prstGeom prst="roundRect">
            <a:avLst>
              <a:gd name="adj" fmla="val 8459"/>
            </a:avLst>
          </a:prstGeom>
          <a:solidFill>
            <a:srgbClr val="1C2E4D"/>
          </a:solidFill>
          <a:ln/>
        </p:spPr>
      </p:sp>
      <p:sp>
        <p:nvSpPr>
          <p:cNvPr id="5" name="Text 3"/>
          <p:cNvSpPr/>
          <p:nvPr/>
        </p:nvSpPr>
        <p:spPr>
          <a:xfrm>
            <a:off x="990600" y="1750061"/>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Critical</a:t>
            </a:r>
            <a:endParaRPr lang="en-US" sz="1200" dirty="0"/>
          </a:p>
        </p:txBody>
      </p:sp>
      <p:sp>
        <p:nvSpPr>
          <p:cNvPr id="6" name="Text 4"/>
          <p:cNvSpPr/>
          <p:nvPr/>
        </p:nvSpPr>
        <p:spPr>
          <a:xfrm>
            <a:off x="990600" y="2026921"/>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Candidate data is public</a:t>
            </a:r>
            <a:endParaRPr lang="en-US" sz="1600" dirty="0"/>
          </a:p>
        </p:txBody>
      </p:sp>
      <p:sp>
        <p:nvSpPr>
          <p:cNvPr id="7" name="Text 5"/>
          <p:cNvSpPr/>
          <p:nvPr/>
        </p:nvSpPr>
        <p:spPr>
          <a:xfrm>
            <a:off x="990600" y="2334261"/>
            <a:ext cx="315685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Profiles and resume files can be read by anyone who has the site's public key.</a:t>
            </a:r>
            <a:endParaRPr lang="en-US" sz="1200" dirty="0"/>
          </a:p>
        </p:txBody>
      </p:sp>
      <p:sp>
        <p:nvSpPr>
          <p:cNvPr id="8" name="Shape 6"/>
          <p:cNvSpPr/>
          <p:nvPr/>
        </p:nvSpPr>
        <p:spPr>
          <a:xfrm>
            <a:off x="4385707" y="1572261"/>
            <a:ext cx="3420507" cy="1351280"/>
          </a:xfrm>
          <a:prstGeom prst="roundRect">
            <a:avLst>
              <a:gd name="adj" fmla="val 8459"/>
            </a:avLst>
          </a:prstGeom>
          <a:solidFill>
            <a:srgbClr val="1C2E4D"/>
          </a:solidFill>
          <a:ln/>
        </p:spPr>
      </p:sp>
      <p:sp>
        <p:nvSpPr>
          <p:cNvPr id="9" name="Text 7"/>
          <p:cNvSpPr/>
          <p:nvPr/>
        </p:nvSpPr>
        <p:spPr>
          <a:xfrm>
            <a:off x="4563507" y="1750061"/>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Critical</a:t>
            </a:r>
            <a:endParaRPr lang="en-US" sz="1200" dirty="0"/>
          </a:p>
        </p:txBody>
      </p:sp>
      <p:sp>
        <p:nvSpPr>
          <p:cNvPr id="10" name="Text 8"/>
          <p:cNvSpPr/>
          <p:nvPr/>
        </p:nvSpPr>
        <p:spPr>
          <a:xfrm>
            <a:off x="4563507" y="2026921"/>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No candidate login</a:t>
            </a:r>
            <a:endParaRPr lang="en-US" sz="1600" dirty="0"/>
          </a:p>
        </p:txBody>
      </p:sp>
      <p:sp>
        <p:nvSpPr>
          <p:cNvPr id="11" name="Text 9"/>
          <p:cNvSpPr/>
          <p:nvPr/>
        </p:nvSpPr>
        <p:spPr>
          <a:xfrm>
            <a:off x="4563507" y="2334261"/>
            <a:ext cx="324270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Typing someone's email shows their profile.</a:t>
            </a:r>
            <a:endParaRPr lang="en-US" sz="1200" dirty="0"/>
          </a:p>
        </p:txBody>
      </p:sp>
      <p:sp>
        <p:nvSpPr>
          <p:cNvPr id="12" name="Shape 10"/>
          <p:cNvSpPr/>
          <p:nvPr/>
        </p:nvSpPr>
        <p:spPr>
          <a:xfrm>
            <a:off x="7958614" y="1572261"/>
            <a:ext cx="3420507" cy="1351280"/>
          </a:xfrm>
          <a:prstGeom prst="roundRect">
            <a:avLst>
              <a:gd name="adj" fmla="val 8459"/>
            </a:avLst>
          </a:prstGeom>
          <a:solidFill>
            <a:srgbClr val="1C2E4D"/>
          </a:solidFill>
          <a:ln/>
        </p:spPr>
      </p:sp>
      <p:sp>
        <p:nvSpPr>
          <p:cNvPr id="13" name="Text 11"/>
          <p:cNvSpPr/>
          <p:nvPr/>
        </p:nvSpPr>
        <p:spPr>
          <a:xfrm>
            <a:off x="8136414" y="1750061"/>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Critical</a:t>
            </a:r>
            <a:endParaRPr lang="en-US" sz="1200" dirty="0"/>
          </a:p>
        </p:txBody>
      </p:sp>
      <p:sp>
        <p:nvSpPr>
          <p:cNvPr id="14" name="Text 12"/>
          <p:cNvSpPr/>
          <p:nvPr/>
        </p:nvSpPr>
        <p:spPr>
          <a:xfrm>
            <a:off x="8136414" y="2026921"/>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No backups</a:t>
            </a:r>
            <a:endParaRPr lang="en-US" sz="1600" dirty="0"/>
          </a:p>
        </p:txBody>
      </p:sp>
      <p:sp>
        <p:nvSpPr>
          <p:cNvPr id="15" name="Text 13"/>
          <p:cNvSpPr/>
          <p:nvPr/>
        </p:nvSpPr>
        <p:spPr>
          <a:xfrm>
            <a:off x="8136414" y="2334261"/>
            <a:ext cx="315685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Database lives on one server; startup command may also drop data.</a:t>
            </a:r>
            <a:endParaRPr lang="en-US" sz="1200" dirty="0"/>
          </a:p>
        </p:txBody>
      </p:sp>
      <p:sp>
        <p:nvSpPr>
          <p:cNvPr id="16" name="Shape 14"/>
          <p:cNvSpPr/>
          <p:nvPr/>
        </p:nvSpPr>
        <p:spPr>
          <a:xfrm>
            <a:off x="812800" y="3075939"/>
            <a:ext cx="3420507" cy="1351280"/>
          </a:xfrm>
          <a:prstGeom prst="roundRect">
            <a:avLst>
              <a:gd name="adj" fmla="val 8459"/>
            </a:avLst>
          </a:prstGeom>
          <a:solidFill>
            <a:srgbClr val="1C2E4D"/>
          </a:solidFill>
          <a:ln/>
        </p:spPr>
      </p:sp>
      <p:sp>
        <p:nvSpPr>
          <p:cNvPr id="17" name="Text 15"/>
          <p:cNvSpPr/>
          <p:nvPr/>
        </p:nvSpPr>
        <p:spPr>
          <a:xfrm>
            <a:off x="990600" y="3253739"/>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D6E6"/>
                </a:solidFill>
                <a:latin typeface="DM Sans" pitchFamily="34" charset="0"/>
                <a:ea typeface="DM Sans" pitchFamily="34" charset="-122"/>
                <a:cs typeface="DM Sans" pitchFamily="34" charset="-120"/>
              </a:rPr>
              <a:t>High</a:t>
            </a:r>
            <a:endParaRPr lang="en-US" sz="1200" dirty="0"/>
          </a:p>
        </p:txBody>
      </p:sp>
      <p:sp>
        <p:nvSpPr>
          <p:cNvPr id="18" name="Text 16"/>
          <p:cNvSpPr/>
          <p:nvPr/>
        </p:nvSpPr>
        <p:spPr>
          <a:xfrm>
            <a:off x="990600" y="3530600"/>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One admin sees all</a:t>
            </a:r>
            <a:endParaRPr lang="en-US" sz="1600" dirty="0"/>
          </a:p>
        </p:txBody>
      </p:sp>
      <p:sp>
        <p:nvSpPr>
          <p:cNvPr id="19" name="Text 17"/>
          <p:cNvSpPr/>
          <p:nvPr/>
        </p:nvSpPr>
        <p:spPr>
          <a:xfrm>
            <a:off x="990600" y="3837939"/>
            <a:ext cx="315685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First sign-up becomes a global admin; no separation between client companies.</a:t>
            </a:r>
            <a:endParaRPr lang="en-US" sz="1200" dirty="0"/>
          </a:p>
        </p:txBody>
      </p:sp>
      <p:sp>
        <p:nvSpPr>
          <p:cNvPr id="20" name="Shape 18"/>
          <p:cNvSpPr/>
          <p:nvPr/>
        </p:nvSpPr>
        <p:spPr>
          <a:xfrm>
            <a:off x="4385707" y="3075939"/>
            <a:ext cx="3420507" cy="1351280"/>
          </a:xfrm>
          <a:prstGeom prst="roundRect">
            <a:avLst>
              <a:gd name="adj" fmla="val 8459"/>
            </a:avLst>
          </a:prstGeom>
          <a:solidFill>
            <a:srgbClr val="1C2E4D"/>
          </a:solidFill>
          <a:ln/>
        </p:spPr>
      </p:sp>
      <p:sp>
        <p:nvSpPr>
          <p:cNvPr id="21" name="Text 19"/>
          <p:cNvSpPr/>
          <p:nvPr/>
        </p:nvSpPr>
        <p:spPr>
          <a:xfrm>
            <a:off x="4563507" y="3253739"/>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D6E6"/>
                </a:solidFill>
                <a:latin typeface="DM Sans" pitchFamily="34" charset="0"/>
                <a:ea typeface="DM Sans" pitchFamily="34" charset="-122"/>
                <a:cs typeface="DM Sans" pitchFamily="34" charset="-120"/>
              </a:rPr>
              <a:t>High</a:t>
            </a:r>
            <a:endParaRPr lang="en-US" sz="1200" dirty="0"/>
          </a:p>
        </p:txBody>
      </p:sp>
      <p:sp>
        <p:nvSpPr>
          <p:cNvPr id="22" name="Text 20"/>
          <p:cNvSpPr/>
          <p:nvPr/>
        </p:nvSpPr>
        <p:spPr>
          <a:xfrm>
            <a:off x="4563507" y="3530600"/>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Open doors</a:t>
            </a:r>
            <a:endParaRPr lang="en-US" sz="1600" dirty="0"/>
          </a:p>
        </p:txBody>
      </p:sp>
      <p:sp>
        <p:nvSpPr>
          <p:cNvPr id="23" name="Text 21"/>
          <p:cNvSpPr/>
          <p:nvPr/>
        </p:nvSpPr>
        <p:spPr>
          <a:xfrm>
            <a:off x="4563507" y="3837939"/>
            <a:ext cx="315685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App ports can bypass HTTPS; call webhook works without a secret.</a:t>
            </a:r>
            <a:endParaRPr lang="en-US" sz="1200" dirty="0"/>
          </a:p>
        </p:txBody>
      </p:sp>
      <p:sp>
        <p:nvSpPr>
          <p:cNvPr id="24" name="Shape 22"/>
          <p:cNvSpPr/>
          <p:nvPr/>
        </p:nvSpPr>
        <p:spPr>
          <a:xfrm>
            <a:off x="7958614" y="3075939"/>
            <a:ext cx="3420507" cy="1351280"/>
          </a:xfrm>
          <a:prstGeom prst="roundRect">
            <a:avLst>
              <a:gd name="adj" fmla="val 8459"/>
            </a:avLst>
          </a:prstGeom>
          <a:solidFill>
            <a:srgbClr val="1C2E4D"/>
          </a:solidFill>
          <a:ln/>
        </p:spPr>
      </p:sp>
      <p:sp>
        <p:nvSpPr>
          <p:cNvPr id="25" name="Text 23"/>
          <p:cNvSpPr/>
          <p:nvPr/>
        </p:nvSpPr>
        <p:spPr>
          <a:xfrm>
            <a:off x="8136414" y="3253739"/>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D6E6"/>
                </a:solidFill>
                <a:latin typeface="DM Sans" pitchFamily="34" charset="0"/>
                <a:ea typeface="DM Sans" pitchFamily="34" charset="-122"/>
                <a:cs typeface="DM Sans" pitchFamily="34" charset="-120"/>
              </a:rPr>
              <a:t>High</a:t>
            </a:r>
            <a:endParaRPr lang="en-US" sz="1200" dirty="0"/>
          </a:p>
        </p:txBody>
      </p:sp>
      <p:sp>
        <p:nvSpPr>
          <p:cNvPr id="26" name="Text 24"/>
          <p:cNvSpPr/>
          <p:nvPr/>
        </p:nvSpPr>
        <p:spPr>
          <a:xfrm>
            <a:off x="8136414" y="3530600"/>
            <a:ext cx="31568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DM Sans" pitchFamily="34" charset="0"/>
                <a:ea typeface="DM Sans" pitchFamily="34" charset="-122"/>
                <a:cs typeface="DM Sans" pitchFamily="34" charset="-120"/>
              </a:rPr>
              <a:t>Not compliance-ready</a:t>
            </a:r>
            <a:endParaRPr lang="en-US" sz="1600" dirty="0"/>
          </a:p>
        </p:txBody>
      </p:sp>
      <p:sp>
        <p:nvSpPr>
          <p:cNvPr id="27" name="Text 25"/>
          <p:cNvSpPr/>
          <p:nvPr/>
        </p:nvSpPr>
        <p:spPr>
          <a:xfrm>
            <a:off x="8136414" y="3837939"/>
            <a:ext cx="315685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No consent, retention or deletion flows for India's DPDP rules or GDPR.</a:t>
            </a:r>
            <a:endParaRPr lang="en-US" sz="1200" dirty="0"/>
          </a:p>
        </p:txBody>
      </p:sp>
      <p:sp>
        <p:nvSpPr>
          <p:cNvPr id="28" name="Text 2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FC0D4"/>
                </a:solidFill>
                <a:latin typeface="DM Sans" pitchFamily="34" charset="0"/>
                <a:ea typeface="DM Sans" pitchFamily="34" charset="-122"/>
                <a:cs typeface="DM Sans" pitchFamily="34" charset="-120"/>
              </a:rPr>
              <a:t>All six are fixable in 4–6 weeks at near-zero cost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PRIORITY P0 · GUARDRAILS BEFORE GROWTH</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Make today's product safe before adding new AI</a:t>
            </a:r>
            <a:endParaRPr lang="en-US" sz="3000" dirty="0"/>
          </a:p>
        </p:txBody>
      </p:sp>
      <p:sp>
        <p:nvSpPr>
          <p:cNvPr id="4" name="Shape 2"/>
          <p:cNvSpPr/>
          <p:nvPr/>
        </p:nvSpPr>
        <p:spPr>
          <a:xfrm>
            <a:off x="815975" y="1550039"/>
            <a:ext cx="3400584" cy="2480310"/>
          </a:xfrm>
          <a:prstGeom prst="roundRect">
            <a:avLst>
              <a:gd name="adj" fmla="val 4480"/>
            </a:avLst>
          </a:prstGeom>
          <a:solidFill>
            <a:srgbClr val="FFFFFF"/>
          </a:solidFill>
          <a:ln w="6350">
            <a:solidFill>
              <a:srgbClr val="DCDDD6"/>
            </a:solidFill>
            <a:prstDash val="solid"/>
          </a:ln>
        </p:spPr>
      </p:sp>
      <p:sp>
        <p:nvSpPr>
          <p:cNvPr id="5" name="Text 3"/>
          <p:cNvSpPr/>
          <p:nvPr/>
        </p:nvSpPr>
        <p:spPr>
          <a:xfrm>
            <a:off x="1008380" y="1742442"/>
            <a:ext cx="310624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13A"/>
                </a:solidFill>
                <a:latin typeface="Space Grotesk" pitchFamily="34" charset="0"/>
                <a:ea typeface="Space Grotesk" pitchFamily="34" charset="-122"/>
                <a:cs typeface="Space Grotesk" pitchFamily="34" charset="-120"/>
              </a:rPr>
              <a:t>Security and privacy</a:t>
            </a:r>
            <a:endParaRPr lang="en-US" sz="1700" dirty="0"/>
          </a:p>
        </p:txBody>
      </p:sp>
      <p:sp>
        <p:nvSpPr>
          <p:cNvPr id="6" name="Text 4"/>
          <p:cNvSpPr/>
          <p:nvPr/>
        </p:nvSpPr>
        <p:spPr>
          <a:xfrm>
            <a:off x="1107186" y="2090421"/>
            <a:ext cx="2999821" cy="15189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Private resume storage, expiring links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Candidate login with email verification</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Company separation, role-based access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Encrypted secrets, tokens and data</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Consent, retention and deletion</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Audit log of record access</a:t>
            </a:r>
            <a:endParaRPr lang="en-US" sz="1200" dirty="0"/>
          </a:p>
        </p:txBody>
      </p:sp>
      <p:sp>
        <p:nvSpPr>
          <p:cNvPr id="7" name="Shape 5"/>
          <p:cNvSpPr/>
          <p:nvPr/>
        </p:nvSpPr>
        <p:spPr>
          <a:xfrm>
            <a:off x="4400709" y="1550039"/>
            <a:ext cx="3400663" cy="2480310"/>
          </a:xfrm>
          <a:prstGeom prst="roundRect">
            <a:avLst>
              <a:gd name="adj" fmla="val 4480"/>
            </a:avLst>
          </a:prstGeom>
          <a:solidFill>
            <a:srgbClr val="FFFFFF"/>
          </a:solidFill>
          <a:ln w="6350">
            <a:solidFill>
              <a:srgbClr val="DCDDD6"/>
            </a:solidFill>
            <a:prstDash val="solid"/>
          </a:ln>
        </p:spPr>
      </p:sp>
      <p:sp>
        <p:nvSpPr>
          <p:cNvPr id="8" name="Text 6"/>
          <p:cNvSpPr/>
          <p:nvPr/>
        </p:nvSpPr>
        <p:spPr>
          <a:xfrm>
            <a:off x="4593114" y="1742442"/>
            <a:ext cx="310632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13A"/>
                </a:solidFill>
                <a:latin typeface="Space Grotesk" pitchFamily="34" charset="0"/>
                <a:ea typeface="Space Grotesk" pitchFamily="34" charset="-122"/>
                <a:cs typeface="Space Grotesk" pitchFamily="34" charset="-120"/>
              </a:rPr>
              <a:t>Reliability and operations</a:t>
            </a:r>
            <a:endParaRPr lang="en-US" sz="1700" dirty="0"/>
          </a:p>
        </p:txBody>
      </p:sp>
      <p:sp>
        <p:nvSpPr>
          <p:cNvPr id="9" name="Text 7"/>
          <p:cNvSpPr/>
          <p:nvPr/>
        </p:nvSpPr>
        <p:spPr>
          <a:xfrm>
            <a:off x="4691920" y="2090421"/>
            <a:ext cx="2999903" cy="130556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Automated backups, tested restores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Separate dev and production</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Error tracking and uptime alerts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Automated workflow tests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Job queue with retries and fallbacks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AI cost tracked per candidate and job</a:t>
            </a:r>
            <a:endParaRPr lang="en-US" sz="1200" dirty="0"/>
          </a:p>
        </p:txBody>
      </p:sp>
      <p:sp>
        <p:nvSpPr>
          <p:cNvPr id="10" name="Shape 8"/>
          <p:cNvSpPr/>
          <p:nvPr/>
        </p:nvSpPr>
        <p:spPr>
          <a:xfrm>
            <a:off x="7982347" y="1546864"/>
            <a:ext cx="3396853" cy="2486660"/>
          </a:xfrm>
          <a:prstGeom prst="roundRect">
            <a:avLst>
              <a:gd name="adj" fmla="val 4597"/>
            </a:avLst>
          </a:prstGeom>
          <a:solidFill>
            <a:srgbClr val="13213A"/>
          </a:solidFill>
          <a:ln/>
        </p:spPr>
      </p:sp>
      <p:sp>
        <p:nvSpPr>
          <p:cNvPr id="11" name="Shape 9"/>
          <p:cNvSpPr/>
          <p:nvPr/>
        </p:nvSpPr>
        <p:spPr>
          <a:xfrm>
            <a:off x="7982347" y="1546864"/>
            <a:ext cx="3396853" cy="2486660"/>
          </a:xfrm>
          <a:custGeom>
            <a:avLst/>
            <a:gdLst/>
            <a:ahLst/>
            <a:cxnLst/>
            <a:rect l="l" t="t" r="r" b="b"/>
            <a:pathLst>
              <a:path w="3396853" h="2486660">
                <a:moveTo>
                  <a:pt x="0" y="114300"/>
                </a:moveTo>
                <a:lnTo>
                  <a:pt x="0" y="114300"/>
                </a:lnTo>
                <a:arcTo wR="114300" hR="114300" stAng="10800000" swAng="5400000"/>
                <a:lnTo>
                  <a:pt x="3282553" y="0"/>
                </a:lnTo>
                <a:arcTo wR="114300" hR="114300" stAng="16200000" swAng="5400000"/>
                <a:lnTo>
                  <a:pt x="3396853" y="114300"/>
                </a:lnTo>
                <a:arcTo wR="114300" hR="63500" stAng="0" swAng="-5400000"/>
                <a:lnTo>
                  <a:pt x="114300" y="50800"/>
                </a:lnTo>
                <a:arcTo wR="114300" hR="63500" stAng="16200000" swAng="-5400000"/>
                <a:close/>
              </a:path>
            </a:pathLst>
          </a:custGeom>
          <a:solidFill>
            <a:srgbClr val="E9A276"/>
          </a:solidFill>
          <a:ln/>
        </p:spPr>
      </p:sp>
      <p:sp>
        <p:nvSpPr>
          <p:cNvPr id="12" name="Text 10"/>
          <p:cNvSpPr/>
          <p:nvPr/>
        </p:nvSpPr>
        <p:spPr>
          <a:xfrm>
            <a:off x="8172847" y="1788164"/>
            <a:ext cx="310632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6F2"/>
                </a:solidFill>
                <a:latin typeface="Space Grotesk" pitchFamily="34" charset="0"/>
                <a:ea typeface="Space Grotesk" pitchFamily="34" charset="-122"/>
                <a:cs typeface="Space Grotesk" pitchFamily="34" charset="-120"/>
              </a:rPr>
              <a:t>AI hiring guardrails</a:t>
            </a:r>
            <a:endParaRPr lang="en-US" sz="1700" dirty="0"/>
          </a:p>
        </p:txBody>
      </p:sp>
      <p:sp>
        <p:nvSpPr>
          <p:cNvPr id="13" name="Text 11"/>
          <p:cNvSpPr/>
          <p:nvPr/>
        </p:nvSpPr>
        <p:spPr>
          <a:xfrm>
            <a:off x="8271653" y="2136142"/>
            <a:ext cx="2999903" cy="173228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Evidence behind every score</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No rejection by AI score alone</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Human approval to shortlist, reject or hire</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Resumes cannot inject instructions</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Consistency tests on matched profiles</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Consent for calls, a non-voice option</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No judging accent or personality</a:t>
            </a:r>
            <a:endParaRPr lang="en-US" sz="12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Outcome: a secure, explainable and reliable version of today's product, without a rebuild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TECHNICAL ARCHITECTURE · TARGET</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Secure by default, still low cost</a:t>
            </a:r>
            <a:endParaRPr lang="en-US" sz="3000" dirty="0"/>
          </a:p>
        </p:txBody>
      </p:sp>
      <p:sp>
        <p:nvSpPr>
          <p:cNvPr id="4" name="Shape 2"/>
          <p:cNvSpPr/>
          <p:nvPr/>
        </p:nvSpPr>
        <p:spPr>
          <a:xfrm>
            <a:off x="815975" y="1499239"/>
            <a:ext cx="1804114" cy="1563370"/>
          </a:xfrm>
          <a:prstGeom prst="roundRect">
            <a:avLst>
              <a:gd name="adj" fmla="val 6296"/>
            </a:avLst>
          </a:prstGeom>
          <a:solidFill>
            <a:srgbClr val="FFFFFF"/>
          </a:solidFill>
          <a:ln w="6350">
            <a:solidFill>
              <a:srgbClr val="C9D1DC"/>
            </a:solidFill>
            <a:prstDash val="solid"/>
          </a:ln>
        </p:spPr>
      </p:sp>
      <p:sp>
        <p:nvSpPr>
          <p:cNvPr id="5" name="Text 3"/>
          <p:cNvSpPr/>
          <p:nvPr/>
        </p:nvSpPr>
        <p:spPr>
          <a:xfrm>
            <a:off x="944880" y="1628142"/>
            <a:ext cx="1597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Users</a:t>
            </a:r>
            <a:endParaRPr lang="en-US" sz="1200" dirty="0"/>
          </a:p>
        </p:txBody>
      </p:sp>
      <p:sp>
        <p:nvSpPr>
          <p:cNvPr id="6" name="Text 4"/>
          <p:cNvSpPr/>
          <p:nvPr/>
        </p:nvSpPr>
        <p:spPr>
          <a:xfrm>
            <a:off x="944880" y="1892300"/>
            <a:ext cx="159710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HR teams</a:t>
            </a:r>
            <a:endParaRPr lang="en-US" sz="1200" dirty="0"/>
          </a:p>
        </p:txBody>
      </p:sp>
      <p:sp>
        <p:nvSpPr>
          <p:cNvPr id="7" name="Text 5"/>
          <p:cNvSpPr/>
          <p:nvPr/>
        </p:nvSpPr>
        <p:spPr>
          <a:xfrm>
            <a:off x="944880" y="2141221"/>
            <a:ext cx="159710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Candidates</a:t>
            </a:r>
            <a:endParaRPr lang="en-US" sz="1200" dirty="0"/>
          </a:p>
        </p:txBody>
      </p:sp>
      <p:sp>
        <p:nvSpPr>
          <p:cNvPr id="8" name="Text 6"/>
          <p:cNvSpPr/>
          <p:nvPr/>
        </p:nvSpPr>
        <p:spPr>
          <a:xfrm>
            <a:off x="944880" y="2390142"/>
            <a:ext cx="167203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Phone and WhatsApp</a:t>
            </a:r>
            <a:endParaRPr lang="en-US" sz="1200" dirty="0"/>
          </a:p>
        </p:txBody>
      </p:sp>
      <p:pic>
        <p:nvPicPr>
          <p:cNvPr id="9" name="Image 0" descr="arrow-right"/>
          <p:cNvPicPr>
            <a:picLocks noChangeAspect="1"/>
          </p:cNvPicPr>
          <p:nvPr/>
        </p:nvPicPr>
        <p:blipFill>
          <a:blip r:embed="rId3"/>
          <a:srcRect/>
          <a:stretch/>
        </p:blipFill>
        <p:spPr>
          <a:xfrm>
            <a:off x="2699464" y="2217421"/>
            <a:ext cx="228600" cy="127000"/>
          </a:xfrm>
          <a:prstGeom prst="rect">
            <a:avLst/>
          </a:prstGeom>
        </p:spPr>
      </p:pic>
      <p:sp>
        <p:nvSpPr>
          <p:cNvPr id="10" name="Shape 7"/>
          <p:cNvSpPr/>
          <p:nvPr/>
        </p:nvSpPr>
        <p:spPr>
          <a:xfrm>
            <a:off x="3004264" y="1496064"/>
            <a:ext cx="1800384" cy="1569720"/>
          </a:xfrm>
          <a:prstGeom prst="roundRect">
            <a:avLst>
              <a:gd name="adj" fmla="val 6472"/>
            </a:avLst>
          </a:prstGeom>
          <a:solidFill>
            <a:srgbClr val="13213A"/>
          </a:solidFill>
          <a:ln/>
        </p:spPr>
      </p:sp>
      <p:sp>
        <p:nvSpPr>
          <p:cNvPr id="11" name="Text 8"/>
          <p:cNvSpPr/>
          <p:nvPr/>
        </p:nvSpPr>
        <p:spPr>
          <a:xfrm>
            <a:off x="3131264" y="1623064"/>
            <a:ext cx="159718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Edge</a:t>
            </a:r>
            <a:endParaRPr lang="en-US" sz="1200" dirty="0"/>
          </a:p>
        </p:txBody>
      </p:sp>
      <p:sp>
        <p:nvSpPr>
          <p:cNvPr id="12" name="Text 9"/>
          <p:cNvSpPr/>
          <p:nvPr/>
        </p:nvSpPr>
        <p:spPr>
          <a:xfrm>
            <a:off x="3131264" y="1887221"/>
            <a:ext cx="159718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7F6F2"/>
                </a:solidFill>
                <a:latin typeface="DM Sans" pitchFamily="34" charset="0"/>
                <a:ea typeface="DM Sans" pitchFamily="34" charset="-122"/>
                <a:cs typeface="DM Sans" pitchFamily="34" charset="-120"/>
              </a:rPr>
              <a:t>Cloudflare DNS, firewall, DDoS</a:t>
            </a:r>
            <a:endParaRPr lang="en-US" sz="1200" dirty="0"/>
          </a:p>
        </p:txBody>
      </p:sp>
      <p:sp>
        <p:nvSpPr>
          <p:cNvPr id="13" name="Text 10"/>
          <p:cNvSpPr/>
          <p:nvPr/>
        </p:nvSpPr>
        <p:spPr>
          <a:xfrm>
            <a:off x="3131264" y="2334264"/>
            <a:ext cx="167338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7F6F2"/>
                </a:solidFill>
                <a:latin typeface="DM Sans" pitchFamily="34" charset="0"/>
                <a:ea typeface="DM Sans" pitchFamily="34" charset="-122"/>
                <a:cs typeface="DM Sans" pitchFamily="34" charset="-120"/>
              </a:rPr>
              <a:t>Tunnel: no open ports</a:t>
            </a:r>
            <a:endParaRPr lang="en-US" sz="1200" dirty="0"/>
          </a:p>
        </p:txBody>
      </p:sp>
      <p:pic>
        <p:nvPicPr>
          <p:cNvPr id="14" name="Image 1" descr="arrow-right"/>
          <p:cNvPicPr>
            <a:picLocks noChangeAspect="1"/>
          </p:cNvPicPr>
          <p:nvPr/>
        </p:nvPicPr>
        <p:blipFill>
          <a:blip r:embed="rId3"/>
          <a:srcRect/>
          <a:stretch/>
        </p:blipFill>
        <p:spPr>
          <a:xfrm>
            <a:off x="4880848" y="2217421"/>
            <a:ext cx="228600" cy="127000"/>
          </a:xfrm>
          <a:prstGeom prst="rect">
            <a:avLst/>
          </a:prstGeom>
        </p:spPr>
      </p:pic>
      <p:sp>
        <p:nvSpPr>
          <p:cNvPr id="15" name="Shape 11"/>
          <p:cNvSpPr/>
          <p:nvPr/>
        </p:nvSpPr>
        <p:spPr>
          <a:xfrm>
            <a:off x="5188823" y="1499239"/>
            <a:ext cx="1804114" cy="1563370"/>
          </a:xfrm>
          <a:prstGeom prst="roundRect">
            <a:avLst>
              <a:gd name="adj" fmla="val 6296"/>
            </a:avLst>
          </a:prstGeom>
          <a:solidFill>
            <a:srgbClr val="FFFFFF"/>
          </a:solidFill>
          <a:ln w="6350">
            <a:solidFill>
              <a:srgbClr val="C9D1DC"/>
            </a:solidFill>
            <a:prstDash val="solid"/>
          </a:ln>
        </p:spPr>
      </p:sp>
      <p:sp>
        <p:nvSpPr>
          <p:cNvPr id="16" name="Text 12"/>
          <p:cNvSpPr/>
          <p:nvPr/>
        </p:nvSpPr>
        <p:spPr>
          <a:xfrm>
            <a:off x="5317728" y="1628142"/>
            <a:ext cx="1597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Apps</a:t>
            </a:r>
            <a:endParaRPr lang="en-US" sz="1200" dirty="0"/>
          </a:p>
        </p:txBody>
      </p:sp>
      <p:sp>
        <p:nvSpPr>
          <p:cNvPr id="17" name="Text 13"/>
          <p:cNvSpPr/>
          <p:nvPr/>
        </p:nvSpPr>
        <p:spPr>
          <a:xfrm>
            <a:off x="5317728" y="1892300"/>
            <a:ext cx="159710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HR portal</a:t>
            </a:r>
            <a:endParaRPr lang="en-US" sz="1200" dirty="0"/>
          </a:p>
        </p:txBody>
      </p:sp>
      <p:sp>
        <p:nvSpPr>
          <p:cNvPr id="18" name="Text 14"/>
          <p:cNvSpPr/>
          <p:nvPr/>
        </p:nvSpPr>
        <p:spPr>
          <a:xfrm>
            <a:off x="5317728" y="2141221"/>
            <a:ext cx="159710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Candidate portal</a:t>
            </a:r>
            <a:endParaRPr lang="en-US" sz="1200" dirty="0"/>
          </a:p>
        </p:txBody>
      </p:sp>
      <p:sp>
        <p:nvSpPr>
          <p:cNvPr id="19" name="Text 15"/>
          <p:cNvSpPr/>
          <p:nvPr/>
        </p:nvSpPr>
        <p:spPr>
          <a:xfrm>
            <a:off x="5317728" y="2390142"/>
            <a:ext cx="159710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Public API for ATS partners</a:t>
            </a:r>
            <a:endParaRPr lang="en-US" sz="1200" dirty="0"/>
          </a:p>
        </p:txBody>
      </p:sp>
      <p:pic>
        <p:nvPicPr>
          <p:cNvPr id="20" name="Image 2" descr="arrow-right"/>
          <p:cNvPicPr>
            <a:picLocks noChangeAspect="1"/>
          </p:cNvPicPr>
          <p:nvPr/>
        </p:nvPicPr>
        <p:blipFill>
          <a:blip r:embed="rId3"/>
          <a:srcRect/>
          <a:stretch/>
        </p:blipFill>
        <p:spPr>
          <a:xfrm>
            <a:off x="7072313" y="2217421"/>
            <a:ext cx="228600" cy="127000"/>
          </a:xfrm>
          <a:prstGeom prst="rect">
            <a:avLst/>
          </a:prstGeom>
        </p:spPr>
      </p:pic>
      <p:sp>
        <p:nvSpPr>
          <p:cNvPr id="21" name="Shape 16"/>
          <p:cNvSpPr/>
          <p:nvPr/>
        </p:nvSpPr>
        <p:spPr>
          <a:xfrm>
            <a:off x="7380288" y="1499239"/>
            <a:ext cx="1804194" cy="1563370"/>
          </a:xfrm>
          <a:prstGeom prst="roundRect">
            <a:avLst>
              <a:gd name="adj" fmla="val 6296"/>
            </a:avLst>
          </a:prstGeom>
          <a:solidFill>
            <a:srgbClr val="FFFFFF"/>
          </a:solidFill>
          <a:ln w="6350">
            <a:solidFill>
              <a:srgbClr val="C9D1DC"/>
            </a:solidFill>
            <a:prstDash val="solid"/>
          </a:ln>
        </p:spPr>
      </p:sp>
      <p:sp>
        <p:nvSpPr>
          <p:cNvPr id="22" name="Text 17"/>
          <p:cNvSpPr/>
          <p:nvPr/>
        </p:nvSpPr>
        <p:spPr>
          <a:xfrm>
            <a:off x="7509193" y="1628142"/>
            <a:ext cx="159718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Workers</a:t>
            </a:r>
            <a:endParaRPr lang="en-US" sz="1200" dirty="0"/>
          </a:p>
        </p:txBody>
      </p:sp>
      <p:sp>
        <p:nvSpPr>
          <p:cNvPr id="23" name="Text 18"/>
          <p:cNvSpPr/>
          <p:nvPr/>
        </p:nvSpPr>
        <p:spPr>
          <a:xfrm>
            <a:off x="7509193" y="1892300"/>
            <a:ext cx="159718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Job queue for AI, calls and emails</a:t>
            </a:r>
            <a:endParaRPr lang="en-US" sz="1200" dirty="0"/>
          </a:p>
        </p:txBody>
      </p:sp>
      <p:sp>
        <p:nvSpPr>
          <p:cNvPr id="24" name="Text 19"/>
          <p:cNvSpPr/>
          <p:nvPr/>
        </p:nvSpPr>
        <p:spPr>
          <a:xfrm>
            <a:off x="7509193" y="2339342"/>
            <a:ext cx="1597184"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Retries, no lost work</a:t>
            </a:r>
            <a:endParaRPr lang="en-US" sz="1200" dirty="0"/>
          </a:p>
        </p:txBody>
      </p:sp>
      <p:pic>
        <p:nvPicPr>
          <p:cNvPr id="25" name="Image 3" descr="arrow-right"/>
          <p:cNvPicPr>
            <a:picLocks noChangeAspect="1"/>
          </p:cNvPicPr>
          <p:nvPr/>
        </p:nvPicPr>
        <p:blipFill>
          <a:blip r:embed="rId3"/>
          <a:srcRect/>
          <a:stretch/>
        </p:blipFill>
        <p:spPr>
          <a:xfrm>
            <a:off x="9263856" y="2217421"/>
            <a:ext cx="228600" cy="127000"/>
          </a:xfrm>
          <a:prstGeom prst="rect">
            <a:avLst/>
          </a:prstGeom>
        </p:spPr>
      </p:pic>
      <p:sp>
        <p:nvSpPr>
          <p:cNvPr id="26" name="Shape 20"/>
          <p:cNvSpPr/>
          <p:nvPr/>
        </p:nvSpPr>
        <p:spPr>
          <a:xfrm>
            <a:off x="9571831" y="1499239"/>
            <a:ext cx="1804194" cy="1563370"/>
          </a:xfrm>
          <a:prstGeom prst="roundRect">
            <a:avLst>
              <a:gd name="adj" fmla="val 6296"/>
            </a:avLst>
          </a:prstGeom>
          <a:solidFill>
            <a:srgbClr val="FFFFFF"/>
          </a:solidFill>
          <a:ln w="6350">
            <a:solidFill>
              <a:srgbClr val="C9D1DC"/>
            </a:solidFill>
            <a:prstDash val="solid"/>
          </a:ln>
        </p:spPr>
      </p:sp>
      <p:sp>
        <p:nvSpPr>
          <p:cNvPr id="27" name="Text 21"/>
          <p:cNvSpPr/>
          <p:nvPr/>
        </p:nvSpPr>
        <p:spPr>
          <a:xfrm>
            <a:off x="9700737" y="1628142"/>
            <a:ext cx="159718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Data</a:t>
            </a:r>
            <a:endParaRPr lang="en-US" sz="1200" dirty="0"/>
          </a:p>
        </p:txBody>
      </p:sp>
      <p:sp>
        <p:nvSpPr>
          <p:cNvPr id="28" name="Text 22"/>
          <p:cNvSpPr/>
          <p:nvPr/>
        </p:nvSpPr>
        <p:spPr>
          <a:xfrm>
            <a:off x="9700737" y="1892300"/>
            <a:ext cx="1597184"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One managed Postgres, daily backups</a:t>
            </a:r>
            <a:endParaRPr lang="en-US" sz="1200" dirty="0"/>
          </a:p>
        </p:txBody>
      </p:sp>
      <p:sp>
        <p:nvSpPr>
          <p:cNvPr id="29" name="Text 23"/>
          <p:cNvSpPr/>
          <p:nvPr/>
        </p:nvSpPr>
        <p:spPr>
          <a:xfrm>
            <a:off x="9700737" y="2537464"/>
            <a:ext cx="159718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Private file storage, expiring links</a:t>
            </a:r>
            <a:endParaRPr lang="en-US" sz="1200" dirty="0"/>
          </a:p>
        </p:txBody>
      </p:sp>
      <p:sp>
        <p:nvSpPr>
          <p:cNvPr id="30" name="Shape 24"/>
          <p:cNvSpPr/>
          <p:nvPr/>
        </p:nvSpPr>
        <p:spPr>
          <a:xfrm>
            <a:off x="812800" y="3243579"/>
            <a:ext cx="3437414" cy="1381760"/>
          </a:xfrm>
          <a:prstGeom prst="roundRect">
            <a:avLst>
              <a:gd name="adj" fmla="val 7353"/>
            </a:avLst>
          </a:prstGeom>
          <a:solidFill>
            <a:srgbClr val="FBE7D3"/>
          </a:solidFill>
          <a:ln/>
        </p:spPr>
      </p:sp>
      <p:sp>
        <p:nvSpPr>
          <p:cNvPr id="31" name="Text 25"/>
          <p:cNvSpPr/>
          <p:nvPr/>
        </p:nvSpPr>
        <p:spPr>
          <a:xfrm>
            <a:off x="952500" y="3383279"/>
            <a:ext cx="32527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AI gateway</a:t>
            </a:r>
            <a:endParaRPr lang="en-US" sz="1500" dirty="0"/>
          </a:p>
        </p:txBody>
      </p:sp>
      <p:sp>
        <p:nvSpPr>
          <p:cNvPr id="32" name="Text 26"/>
          <p:cNvSpPr/>
          <p:nvPr/>
        </p:nvSpPr>
        <p:spPr>
          <a:xfrm>
            <a:off x="952500" y="3662679"/>
            <a:ext cx="3252754"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One switchboard for Sarvam (Indian languages, voice) and Gemini, with cost tracking, fallbacks and prompt-injection filters.</a:t>
            </a:r>
            <a:endParaRPr lang="en-US" sz="1200" dirty="0"/>
          </a:p>
        </p:txBody>
      </p:sp>
      <p:sp>
        <p:nvSpPr>
          <p:cNvPr id="33" name="Shape 27"/>
          <p:cNvSpPr/>
          <p:nvPr/>
        </p:nvSpPr>
        <p:spPr>
          <a:xfrm>
            <a:off x="4377214" y="3243579"/>
            <a:ext cx="3437493" cy="1381760"/>
          </a:xfrm>
          <a:prstGeom prst="roundRect">
            <a:avLst>
              <a:gd name="adj" fmla="val 7353"/>
            </a:avLst>
          </a:prstGeom>
          <a:solidFill>
            <a:srgbClr val="E3ECFA"/>
          </a:solidFill>
          <a:ln/>
        </p:spPr>
      </p:sp>
      <p:sp>
        <p:nvSpPr>
          <p:cNvPr id="34" name="Text 28"/>
          <p:cNvSpPr/>
          <p:nvPr/>
        </p:nvSpPr>
        <p:spPr>
          <a:xfrm>
            <a:off x="4516914" y="3383279"/>
            <a:ext cx="32528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Trust layer</a:t>
            </a:r>
            <a:endParaRPr lang="en-US" sz="1500" dirty="0"/>
          </a:p>
        </p:txBody>
      </p:sp>
      <p:sp>
        <p:nvSpPr>
          <p:cNvPr id="35" name="Text 29"/>
          <p:cNvSpPr/>
          <p:nvPr/>
        </p:nvSpPr>
        <p:spPr>
          <a:xfrm>
            <a:off x="4516914" y="3662679"/>
            <a:ext cx="3252836"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Login with email codes and SSO, roles per company, encrypted secrets and tokens, audit log, consent records.</a:t>
            </a:r>
            <a:endParaRPr lang="en-US" sz="1200" dirty="0"/>
          </a:p>
        </p:txBody>
      </p:sp>
      <p:sp>
        <p:nvSpPr>
          <p:cNvPr id="36" name="Shape 30"/>
          <p:cNvSpPr/>
          <p:nvPr/>
        </p:nvSpPr>
        <p:spPr>
          <a:xfrm>
            <a:off x="7941707" y="3243579"/>
            <a:ext cx="3437493" cy="1381760"/>
          </a:xfrm>
          <a:prstGeom prst="roundRect">
            <a:avLst>
              <a:gd name="adj" fmla="val 7353"/>
            </a:avLst>
          </a:prstGeom>
          <a:solidFill>
            <a:srgbClr val="DCEBDD"/>
          </a:solidFill>
          <a:ln/>
        </p:spPr>
      </p:sp>
      <p:sp>
        <p:nvSpPr>
          <p:cNvPr id="37" name="Text 31"/>
          <p:cNvSpPr/>
          <p:nvPr/>
        </p:nvSpPr>
        <p:spPr>
          <a:xfrm>
            <a:off x="8081407" y="3383279"/>
            <a:ext cx="32528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Operations</a:t>
            </a:r>
            <a:endParaRPr lang="en-US" sz="1500" dirty="0"/>
          </a:p>
        </p:txBody>
      </p:sp>
      <p:sp>
        <p:nvSpPr>
          <p:cNvPr id="38" name="Text 32"/>
          <p:cNvSpPr/>
          <p:nvPr/>
        </p:nvSpPr>
        <p:spPr>
          <a:xfrm>
            <a:off x="8081407" y="3662679"/>
            <a:ext cx="3252836"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Separate dev and prod, error tracking, uptime alerts, security scans in every release.</a:t>
            </a:r>
            <a:endParaRPr lang="en-US" sz="1200" dirty="0"/>
          </a:p>
        </p:txBody>
      </p:sp>
      <p:sp>
        <p:nvSpPr>
          <p:cNvPr id="39" name="Text 3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Mostly free tiers until paying customers; managed services added as revenue grows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HARDENING PLAN</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Three phases, each one shippable</a:t>
            </a:r>
            <a:endParaRPr lang="en-US" sz="3000" dirty="0"/>
          </a:p>
        </p:txBody>
      </p:sp>
      <p:sp>
        <p:nvSpPr>
          <p:cNvPr id="4" name="Shape 2"/>
          <p:cNvSpPr/>
          <p:nvPr/>
        </p:nvSpPr>
        <p:spPr>
          <a:xfrm>
            <a:off x="815975" y="1575439"/>
            <a:ext cx="3397250" cy="2995930"/>
          </a:xfrm>
          <a:prstGeom prst="roundRect">
            <a:avLst>
              <a:gd name="adj" fmla="val 3709"/>
            </a:avLst>
          </a:prstGeom>
          <a:solidFill>
            <a:srgbClr val="FFFFFF"/>
          </a:solidFill>
          <a:ln w="6350">
            <a:solidFill>
              <a:srgbClr val="DCDDD6"/>
            </a:solidFill>
            <a:prstDash val="solid"/>
          </a:ln>
        </p:spPr>
      </p:sp>
      <p:sp>
        <p:nvSpPr>
          <p:cNvPr id="5" name="Text 3"/>
          <p:cNvSpPr/>
          <p:nvPr/>
        </p:nvSpPr>
        <p:spPr>
          <a:xfrm>
            <a:off x="1021080" y="1780542"/>
            <a:ext cx="30766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Phase 0 · weeks 1–2</a:t>
            </a:r>
            <a:endParaRPr lang="en-US" sz="1200" dirty="0"/>
          </a:p>
        </p:txBody>
      </p:sp>
      <p:sp>
        <p:nvSpPr>
          <p:cNvPr id="6" name="Text 4"/>
          <p:cNvSpPr/>
          <p:nvPr/>
        </p:nvSpPr>
        <p:spPr>
          <a:xfrm>
            <a:off x="1021080" y="2082800"/>
            <a:ext cx="307665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13A"/>
                </a:solidFill>
                <a:latin typeface="Space Grotesk" pitchFamily="34" charset="0"/>
                <a:ea typeface="Space Grotesk" pitchFamily="34" charset="-122"/>
                <a:cs typeface="Space Grotesk" pitchFamily="34" charset="-120"/>
              </a:rPr>
              <a:t>Close the doors</a:t>
            </a:r>
            <a:endParaRPr lang="en-US" sz="1800" dirty="0"/>
          </a:p>
        </p:txBody>
      </p:sp>
      <p:sp>
        <p:nvSpPr>
          <p:cNvPr id="7" name="Text 5"/>
          <p:cNvSpPr/>
          <p:nvPr/>
        </p:nvSpPr>
        <p:spPr>
          <a:xfrm>
            <a:off x="1119886" y="2446021"/>
            <a:ext cx="2970225" cy="194564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Make candidate data and resumes private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Put the server behind Cloudflare Tunnel</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Nightly encrypted backups off the server</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Safe database migrations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All secrets mandatory, HTTPS-only cookies</a:t>
            </a:r>
            <a:endParaRPr lang="en-US" sz="1200" dirty="0"/>
          </a:p>
        </p:txBody>
      </p:sp>
      <p:sp>
        <p:nvSpPr>
          <p:cNvPr id="8" name="Shape 6"/>
          <p:cNvSpPr/>
          <p:nvPr/>
        </p:nvSpPr>
        <p:spPr>
          <a:xfrm>
            <a:off x="4397375" y="1575439"/>
            <a:ext cx="3397250" cy="2995930"/>
          </a:xfrm>
          <a:prstGeom prst="roundRect">
            <a:avLst>
              <a:gd name="adj" fmla="val 3709"/>
            </a:avLst>
          </a:prstGeom>
          <a:solidFill>
            <a:srgbClr val="FFFFFF"/>
          </a:solidFill>
          <a:ln w="6350">
            <a:solidFill>
              <a:srgbClr val="DCDDD6"/>
            </a:solidFill>
            <a:prstDash val="solid"/>
          </a:ln>
        </p:spPr>
      </p:sp>
      <p:sp>
        <p:nvSpPr>
          <p:cNvPr id="9" name="Text 7"/>
          <p:cNvSpPr/>
          <p:nvPr/>
        </p:nvSpPr>
        <p:spPr>
          <a:xfrm>
            <a:off x="4602480" y="1780542"/>
            <a:ext cx="30766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Phase 1 · months 1–3</a:t>
            </a:r>
            <a:endParaRPr lang="en-US" sz="1200" dirty="0"/>
          </a:p>
        </p:txBody>
      </p:sp>
      <p:sp>
        <p:nvSpPr>
          <p:cNvPr id="10" name="Text 8"/>
          <p:cNvSpPr/>
          <p:nvPr/>
        </p:nvSpPr>
        <p:spPr>
          <a:xfrm>
            <a:off x="4602480" y="2082800"/>
            <a:ext cx="307665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13A"/>
                </a:solidFill>
                <a:latin typeface="Space Grotesk" pitchFamily="34" charset="0"/>
                <a:ea typeface="Space Grotesk" pitchFamily="34" charset="-122"/>
                <a:cs typeface="Space Grotesk" pitchFamily="34" charset="-120"/>
              </a:rPr>
              <a:t>Ready to sell</a:t>
            </a:r>
            <a:endParaRPr lang="en-US" sz="1800" dirty="0"/>
          </a:p>
        </p:txBody>
      </p:sp>
      <p:sp>
        <p:nvSpPr>
          <p:cNvPr id="11" name="Text 9"/>
          <p:cNvSpPr/>
          <p:nvPr/>
        </p:nvSpPr>
        <p:spPr>
          <a:xfrm>
            <a:off x="4701286" y="2446021"/>
            <a:ext cx="2970225" cy="130556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Candidate login by email code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Company accounts, roles, invite-only HR</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Encrypted calendar tokens, audit log</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Error tracking and uptime alerts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Separate dev from production</a:t>
            </a:r>
            <a:endParaRPr lang="en-US" sz="1200" dirty="0"/>
          </a:p>
        </p:txBody>
      </p:sp>
      <p:sp>
        <p:nvSpPr>
          <p:cNvPr id="12" name="Shape 10"/>
          <p:cNvSpPr/>
          <p:nvPr/>
        </p:nvSpPr>
        <p:spPr>
          <a:xfrm>
            <a:off x="7978775" y="1575439"/>
            <a:ext cx="3397250" cy="2995930"/>
          </a:xfrm>
          <a:prstGeom prst="roundRect">
            <a:avLst>
              <a:gd name="adj" fmla="val 3709"/>
            </a:avLst>
          </a:prstGeom>
          <a:solidFill>
            <a:srgbClr val="FFFFFF"/>
          </a:solidFill>
          <a:ln w="6350">
            <a:solidFill>
              <a:srgbClr val="DCDDD6"/>
            </a:solidFill>
            <a:prstDash val="solid"/>
          </a:ln>
        </p:spPr>
      </p:sp>
      <p:sp>
        <p:nvSpPr>
          <p:cNvPr id="13" name="Text 11"/>
          <p:cNvSpPr/>
          <p:nvPr/>
        </p:nvSpPr>
        <p:spPr>
          <a:xfrm>
            <a:off x="8183880" y="1780542"/>
            <a:ext cx="30766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13A"/>
                </a:solidFill>
                <a:latin typeface="DM Sans" pitchFamily="34" charset="0"/>
                <a:ea typeface="DM Sans" pitchFamily="34" charset="-122"/>
                <a:cs typeface="DM Sans" pitchFamily="34" charset="-120"/>
              </a:rPr>
              <a:t>Phase 2 · months 3–12</a:t>
            </a:r>
            <a:endParaRPr lang="en-US" sz="1200" dirty="0"/>
          </a:p>
        </p:txBody>
      </p:sp>
      <p:sp>
        <p:nvSpPr>
          <p:cNvPr id="14" name="Text 12"/>
          <p:cNvSpPr/>
          <p:nvPr/>
        </p:nvSpPr>
        <p:spPr>
          <a:xfrm>
            <a:off x="8183880" y="2082800"/>
            <a:ext cx="307665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3213A"/>
                </a:solidFill>
                <a:latin typeface="Space Grotesk" pitchFamily="34" charset="0"/>
                <a:ea typeface="Space Grotesk" pitchFamily="34" charset="-122"/>
                <a:cs typeface="Space Grotesk" pitchFamily="34" charset="-120"/>
              </a:rPr>
              <a:t>Ready to scale</a:t>
            </a:r>
            <a:endParaRPr lang="en-US" sz="1800" dirty="0"/>
          </a:p>
        </p:txBody>
      </p:sp>
      <p:sp>
        <p:nvSpPr>
          <p:cNvPr id="15" name="Text 13"/>
          <p:cNvSpPr/>
          <p:nvPr/>
        </p:nvSpPr>
        <p:spPr>
          <a:xfrm>
            <a:off x="8282686" y="2446021"/>
            <a:ext cx="2970225" cy="15189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One managed database, point-in-time restore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Queue for AI, calls and email</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Consent, retention and deletion (DPDP, GDPR)</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SSO and MFA for enterprise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Path to ISO 27001 / SOC 2</a:t>
            </a:r>
            <a:endParaRPr lang="en-US" sz="12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Huptle · Technical &amp; strategy brief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MARKET LEADERS BY SCALE</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The biggest players, and how big they are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7024"/>
          <a:ext cx="10556240" cy="3182620"/>
        </p:xfrm>
        <a:graphic>
          <a:graphicData uri="http://schemas.openxmlformats.org/drawingml/2006/table">
            <a:tbl>
              <a:tblPr/>
              <a:tblGrid>
                <a:gridCol w="2111248">
                  <a:extLst>
                    <a:ext uri="{9D8B030D-6E8A-4147-A177-3AD203B41FA5}">
                      <a16:colId xmlns:a16="http://schemas.microsoft.com/office/drawing/2014/main" val="20000"/>
                    </a:ext>
                  </a:extLst>
                </a:gridCol>
                <a:gridCol w="3166872">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7F6F2"/>
                          </a:solidFill>
                          <a:latin typeface="DM Sans" pitchFamily="34" charset="0"/>
                          <a:ea typeface="DM Sans" pitchFamily="34" charset="-122"/>
                          <a:cs typeface="DM Sans" pitchFamily="34" charset="-120"/>
                        </a:rPr>
                        <a:t>Player</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960"/>
                        </a:lnSpc>
                        <a:buNone/>
                      </a:pPr>
                      <a:r>
                        <a:rPr lang="en-US" sz="1400" b="1" dirty="0">
                          <a:solidFill>
                            <a:srgbClr val="F7F6F2"/>
                          </a:solidFill>
                          <a:latin typeface="DM Sans" pitchFamily="34" charset="0"/>
                          <a:ea typeface="DM Sans" pitchFamily="34" charset="-122"/>
                          <a:cs typeface="DM Sans" pitchFamily="34" charset="-120"/>
                        </a:rPr>
                        <a:t>Segment</a:t>
                      </a:r>
                      <a:endParaRPr lang="en-US" sz="1400" dirty="0">
                        <a:latin typeface="DM Sans" charset="0"/>
                        <a:ea typeface="DM Sans" charset="0"/>
                        <a:cs typeface="DM Sans" charset="0"/>
                      </a:endParaRPr>
                    </a:p>
                  </a:txBody>
                  <a:tcPr marL="62230" marR="62230" marT="62230" marB="6223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960"/>
                        </a:lnSpc>
                        <a:buNone/>
                      </a:pPr>
                      <a:r>
                        <a:rPr lang="en-US" sz="1400" b="1" dirty="0">
                          <a:solidFill>
                            <a:srgbClr val="F7F6F2"/>
                          </a:solidFill>
                          <a:latin typeface="DM Sans" pitchFamily="34" charset="0"/>
                          <a:ea typeface="DM Sans" pitchFamily="34" charset="-122"/>
                          <a:cs typeface="DM Sans" pitchFamily="34" charset="-120"/>
                        </a:rPr>
                        <a:t>Scale signal</a:t>
                      </a:r>
                      <a:endParaRPr lang="en-US" sz="1400" dirty="0">
                        <a:latin typeface="DM Sans" charset="0"/>
                        <a:ea typeface="DM Sans" charset="0"/>
                        <a:cs typeface="DM Sans" charset="0"/>
                      </a:endParaRPr>
                    </a:p>
                  </a:txBody>
                  <a:tcPr marL="62230" marR="62230" marT="62230" marB="6223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960"/>
                        </a:lnSpc>
                        <a:buNone/>
                      </a:pPr>
                      <a:r>
                        <a:rPr lang="en-US" sz="1400" b="1" dirty="0">
                          <a:solidFill>
                            <a:srgbClr val="F7F6F2"/>
                          </a:solidFill>
                          <a:latin typeface="DM Sans" pitchFamily="34" charset="0"/>
                          <a:ea typeface="DM Sans" pitchFamily="34" charset="-122"/>
                          <a:cs typeface="DM Sans" pitchFamily="34" charset="-120"/>
                        </a:rPr>
                        <a:t>Type of figure</a:t>
                      </a:r>
                      <a:endParaRPr lang="en-US" sz="1400" dirty="0">
                        <a:latin typeface="DM Sans" charset="0"/>
                        <a:ea typeface="DM Sans" charset="0"/>
                        <a:cs typeface="DM Sans" charset="0"/>
                      </a:endParaRPr>
                    </a:p>
                  </a:txBody>
                  <a:tcPr marL="62230" marR="62230" marT="62230" marB="6223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Info Edge (Naukri)</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India job portal and recruiting</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₹2,374 Cr recruitment revenue, FY26</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Reported, listed</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Mercor</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AI interviews; expert data for AI labs</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Over $2B gross run-rate (June 2026); $10B valuation</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Company-reported</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Workday + Paradox</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Enterprise volume hiring</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$1B cash acquisition, Aug 2025</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Deal price</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Eightfold AI</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Enterprise talent intelligence</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About $2.1B valuation, 2021</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Last public round</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Apna</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India blue-collar jobs</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About $1.1B valuation, 2021</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Last public round</a:t>
                      </a:r>
                      <a:endParaRPr lang="en-US" sz="1400" dirty="0">
                        <a:latin typeface="DM Sans" charset="0"/>
                        <a:ea typeface="DM Sans" charset="0"/>
                        <a:cs typeface="DM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32460">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HireVue</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Enterprise assessments and interviews</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Private; revenue not disclosed</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960"/>
                        </a:lnSpc>
                        <a:buNone/>
                      </a:pPr>
                      <a:r>
                        <a:rPr lang="en-US" sz="1400" dirty="0">
                          <a:solidFill>
                            <a:srgbClr val="13213A"/>
                          </a:solidFill>
                          <a:latin typeface="DM Sans" pitchFamily="34" charset="0"/>
                          <a:ea typeface="DM Sans" pitchFamily="34" charset="-122"/>
                          <a:cs typeface="DM Sans" pitchFamily="34" charset="-120"/>
                        </a:rPr>
                        <a:t>Not public</a:t>
                      </a:r>
                      <a:endParaRPr lang="en-US" sz="1400" dirty="0">
                        <a:latin typeface="DM Sans" charset="0"/>
                        <a:ea typeface="DM Sans" charset="0"/>
                        <a:cs typeface="DM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Private-company revenue is rarely public; valuations and deal prices are stand-ins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FEATURE BENCHMARKS · CHOSEN FOR CAPABILITY, NOT SIZE</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Five benchmarks, each strong at one thing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7024"/>
          <a:ext cx="10556239" cy="2834640"/>
        </p:xfrm>
        <a:graphic>
          <a:graphicData uri="http://schemas.openxmlformats.org/drawingml/2006/table">
            <a:tbl>
              <a:tblPr/>
              <a:tblGrid>
                <a:gridCol w="1900123">
                  <a:extLst>
                    <a:ext uri="{9D8B030D-6E8A-4147-A177-3AD203B41FA5}">
                      <a16:colId xmlns:a16="http://schemas.microsoft.com/office/drawing/2014/main" val="20000"/>
                    </a:ext>
                  </a:extLst>
                </a:gridCol>
                <a:gridCol w="4855870">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Product</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Strongest publicly described area</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What Huptle learns</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HeyMilo</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Voice, video, phone and SMS screening agents; scenario assessment; interview notetaker</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One recruiter workflow across many AI agents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WorkProbe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45-minute job simulations graded on actions, verification and judgement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Test real work, not resume claims</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Zorvis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India and UAE SMEs; phone interviews in 8 languages; links hire scores to 90-day ratings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Closest rival to our India plan</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Paradox</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Conversational apply, screening and scheduling at scale; part of Workday</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Remove friction in volume hiring</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HireVue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Enterprise assessments, structured interviews and governance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Audit and controls enterprises expect</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Based on public company material, Oct 2026; not hands-on testing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BENCHMARK · HEYMILO</a:t>
            </a:r>
            <a:endParaRPr lang="en-US" sz="1200" dirty="0"/>
          </a:p>
        </p:txBody>
      </p:sp>
      <p:sp>
        <p:nvSpPr>
          <p:cNvPr id="3" name="Text 1"/>
          <p:cNvSpPr>
            <a:spLocks noGrp="1"/>
          </p:cNvSpPr>
          <p:nvPr>
            <p:ph type="title"/>
          </p:nvPr>
        </p:nvSpPr>
        <p:spPr>
          <a:xfrm>
            <a:off x="812800" y="7975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3213A"/>
                </a:solidFill>
                <a:latin typeface="Space Grotesk" pitchFamily="34" charset="0"/>
                <a:ea typeface="Space Grotesk" pitchFamily="34" charset="-122"/>
                <a:cs typeface="Space Grotesk" pitchFamily="34" charset="-120"/>
              </a:rPr>
              <a:t>Reach parity first, then add what is ours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376681"/>
          <a:ext cx="10556239" cy="3962400"/>
        </p:xfrm>
        <a:graphic>
          <a:graphicData uri="http://schemas.openxmlformats.org/drawingml/2006/table">
            <a:tbl>
              <a:tblPr/>
              <a:tblGrid>
                <a:gridCol w="3800246">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2744622">
                  <a:extLst>
                    <a:ext uri="{9D8B030D-6E8A-4147-A177-3AD203B41FA5}">
                      <a16:colId xmlns:a16="http://schemas.microsoft.com/office/drawing/2014/main" val="20002"/>
                    </a:ext>
                  </a:extLst>
                </a:gridCol>
                <a:gridCol w="2322373">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Capability</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HeyMilo</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Huptle today</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Huptle plan</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Screening starts on application</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Partly: resume only</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Voice and phone AI agent</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Yes, India only</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P1: 22 languages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SMS or WhatsApp messages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SMS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P0 add-on</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Rubric scores with evidence</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Score, no evidence</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P0</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Resurface past candidates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Live interview notetaker</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P1</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Results inside the customer's ATS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AI scenario assessment</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P2</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8"/>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Fraud checks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P2</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Video interview</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Later, optional</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1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SOC 2 report</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Type I</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P2</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HeyMilo: $6M raised, June 2026; over 1 million candidates screened (company-reported)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WHERE TO COMPETE</a:t>
            </a:r>
            <a:endParaRPr lang="en-US" sz="1200" dirty="0"/>
          </a:p>
        </p:txBody>
      </p:sp>
      <p:sp>
        <p:nvSpPr>
          <p:cNvPr id="3" name="Text 1"/>
          <p:cNvSpPr>
            <a:spLocks noGrp="1"/>
          </p:cNvSpPr>
          <p:nvPr>
            <p:ph type="title"/>
          </p:nvPr>
        </p:nvSpPr>
        <p:spPr>
          <a:xfrm>
            <a:off x="812800" y="8991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Table stakes we must have, and where we can win</a:t>
            </a:r>
            <a:endParaRPr lang="en-US" sz="3000" dirty="0"/>
          </a:p>
        </p:txBody>
      </p:sp>
      <p:sp>
        <p:nvSpPr>
          <p:cNvPr id="4" name="Text 2"/>
          <p:cNvSpPr/>
          <p:nvPr/>
        </p:nvSpPr>
        <p:spPr>
          <a:xfrm>
            <a:off x="812800" y="1546858"/>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B6676"/>
                </a:solidFill>
                <a:latin typeface="DM Sans" pitchFamily="34" charset="0"/>
                <a:ea typeface="DM Sans" pitchFamily="34" charset="-122"/>
                <a:cs typeface="DM Sans" pitchFamily="34" charset="-120"/>
              </a:rPr>
              <a:t>Table stakes: buyers expect these</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02460"/>
          <a:ext cx="5146040" cy="2641600"/>
        </p:xfrm>
        <a:graphic>
          <a:graphicData uri="http://schemas.openxmlformats.org/drawingml/2006/table">
            <a:tbl>
              <a:tblPr/>
              <a:tblGrid>
                <a:gridCol w="3190545">
                  <a:extLst>
                    <a:ext uri="{9D8B030D-6E8A-4147-A177-3AD203B41FA5}">
                      <a16:colId xmlns:a16="http://schemas.microsoft.com/office/drawing/2014/main" val="20000"/>
                    </a:ext>
                  </a:extLst>
                </a:gridCol>
                <a:gridCol w="1955495">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3213A"/>
                          </a:solidFill>
                          <a:latin typeface="DM Sans" pitchFamily="34" charset="0"/>
                          <a:ea typeface="DM Sans" pitchFamily="34" charset="-122"/>
                          <a:cs typeface="DM Sans" pitchFamily="34" charset="-120"/>
                        </a:rPr>
                        <a:t>Feature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0B1A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1AB"/>
                      </a:solidFill>
                      <a:prstDash val="solid"/>
                      <a:round/>
                      <a:headEnd type="none" w="med" len="med"/>
                      <a:tailEnd type="none" w="med" len="med"/>
                    </a:lnB>
                    <a:solidFill>
                      <a:srgbClr val="DCDDD6"/>
                    </a:solidFill>
                  </a:tcPr>
                </a:tc>
                <a:tc>
                  <a:txBody>
                    <a:bodyPr/>
                    <a:lstStyle/>
                    <a:p>
                      <a:pPr marL="0" indent="0">
                        <a:lnSpc>
                          <a:spcPts val="1680"/>
                        </a:lnSpc>
                        <a:buNone/>
                      </a:pPr>
                      <a:r>
                        <a:rPr lang="en-US" sz="1200" b="1" dirty="0">
                          <a:solidFill>
                            <a:srgbClr val="13213A"/>
                          </a:solidFill>
                          <a:latin typeface="DM Sans" pitchFamily="34" charset="0"/>
                          <a:ea typeface="DM Sans" pitchFamily="34" charset="-122"/>
                          <a:cs typeface="DM Sans" pitchFamily="34" charset="-120"/>
                        </a:rPr>
                        <a:t>Huptle today</a:t>
                      </a:r>
                      <a:endParaRPr lang="en-US" sz="1200" dirty="0">
                        <a:latin typeface="DM Sans" charset="0"/>
                        <a:ea typeface="DM Sans" charset="0"/>
                        <a:cs typeface="DM Sans" charset="0"/>
                      </a:endParaRPr>
                    </a:p>
                  </a:txBody>
                  <a:tcPr marL="53340" marR="53340" marT="53340" marB="53340">
                    <a:lnL w="12700" cap="flat" cmpd="sng" algn="ctr">
                      <a:solidFill>
                        <a:srgbClr val="B0B1AB"/>
                      </a:solidFill>
                      <a:prstDash val="solid"/>
                      <a:round/>
                      <a:headEnd type="none" w="med" len="med"/>
                      <a:tailEnd type="none" w="med" len="med"/>
                    </a:lnL>
                    <a:lnR w="12700" cap="flat" cmpd="sng" algn="ctr">
                      <a:solidFill>
                        <a:srgbClr val="B0B1A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1AB"/>
                      </a:solidFill>
                      <a:prstDash val="solid"/>
                      <a:round/>
                      <a:headEnd type="none" w="med" len="med"/>
                      <a:tailEnd type="none" w="med" len="med"/>
                    </a:lnB>
                    <a:solidFill>
                      <a:srgbClr val="DCDDD6"/>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AI job description and questions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1A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Built</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1AB"/>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Resume parsing and scoring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Built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Candidate ranking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Built</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Interview scheduling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Built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AI phone calls and transcripts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E6B3A"/>
                          </a:solidFill>
                          <a:latin typeface="DM Sans" pitchFamily="34" charset="0"/>
                          <a:ea typeface="DM Sans" pitchFamily="34" charset="-122"/>
                          <a:cs typeface="DM Sans" pitchFamily="34" charset="-120"/>
                        </a:rPr>
                        <a:t>Built, India only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Email and WhatsApp messages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A84716"/>
                          </a:solidFill>
                          <a:latin typeface="DM Sans" pitchFamily="34" charset="0"/>
                          <a:ea typeface="DM Sans" pitchFamily="34" charset="-122"/>
                          <a:cs typeface="DM Sans" pitchFamily="34" charset="-120"/>
                        </a:rPr>
                        <a:t>Being built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ATS integrations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5FC4"/>
                          </a:solidFill>
                          <a:latin typeface="DM Sans" pitchFamily="34" charset="0"/>
                          <a:ea typeface="DM Sans" pitchFamily="34" charset="-122"/>
                          <a:cs typeface="DM Sans" pitchFamily="34" charset="-120"/>
                        </a:rPr>
                        <a:t>Proposed</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6223000" y="1546858"/>
            <a:ext cx="53108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84716"/>
                </a:solidFill>
                <a:latin typeface="DM Sans" pitchFamily="34" charset="0"/>
                <a:ea typeface="DM Sans" pitchFamily="34" charset="-122"/>
                <a:cs typeface="DM Sans" pitchFamily="34" charset="-120"/>
              </a:rPr>
              <a:t>Opportunities, checked against rivals</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33160" y="1902460"/>
          <a:ext cx="5146040" cy="2641600"/>
        </p:xfrm>
        <a:graphic>
          <a:graphicData uri="http://schemas.openxmlformats.org/drawingml/2006/table">
            <a:tbl>
              <a:tblPr/>
              <a:tblGrid>
                <a:gridCol w="2778862">
                  <a:extLst>
                    <a:ext uri="{9D8B030D-6E8A-4147-A177-3AD203B41FA5}">
                      <a16:colId xmlns:a16="http://schemas.microsoft.com/office/drawing/2014/main" val="20000"/>
                    </a:ext>
                  </a:extLst>
                </a:gridCol>
                <a:gridCol w="236717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Opportunity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Who else has it</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Evidence Gap Challenge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None found in our scan</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Evidence-linked scoring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HeyMilo, in part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Decision Trail</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WorkProbe is close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Outcome learning loop</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Zorvis claims it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Audit and governance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HireVue is strong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Consistency tests on rubrics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Rarely shown</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Voice in 22 Indian languages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Zorvis has 8</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No single feature is our moat; the combined evidence workflow is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3213A"/>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9A276"/>
                </a:solidFill>
                <a:latin typeface="DM Sans" pitchFamily="34" charset="0"/>
                <a:ea typeface="DM Sans" pitchFamily="34" charset="-122"/>
                <a:cs typeface="DM Sans" pitchFamily="34" charset="-120"/>
              </a:rPr>
              <a:t>POSITIONING · AUTOMATE · VERIFY · LEARN</a:t>
            </a:r>
            <a:endParaRPr lang="en-US" sz="1200" dirty="0"/>
          </a:p>
        </p:txBody>
      </p:sp>
      <p:sp>
        <p:nvSpPr>
          <p:cNvPr id="3" name="Text 1"/>
          <p:cNvSpPr>
            <a:spLocks noGrp="1"/>
          </p:cNvSpPr>
          <p:nvPr>
            <p:ph type="title"/>
          </p:nvPr>
        </p:nvSpPr>
        <p:spPr>
          <a:xfrm>
            <a:off x="812800" y="9118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6F2"/>
                </a:solidFill>
                <a:latin typeface="Space Grotesk" pitchFamily="34" charset="0"/>
                <a:ea typeface="Space Grotesk" pitchFamily="34" charset="-122"/>
                <a:cs typeface="Space Grotesk" pitchFamily="34" charset="-120"/>
              </a:rPr>
              <a:t>From candidate claims to verified evidence</a:t>
            </a:r>
            <a:endParaRPr lang="en-US" sz="3200" dirty="0"/>
          </a:p>
        </p:txBody>
      </p:sp>
      <p:sp>
        <p:nvSpPr>
          <p:cNvPr id="4" name="Shape 2"/>
          <p:cNvSpPr/>
          <p:nvPr/>
        </p:nvSpPr>
        <p:spPr>
          <a:xfrm>
            <a:off x="812800" y="2159000"/>
            <a:ext cx="1651000" cy="1714500"/>
          </a:xfrm>
          <a:prstGeom prst="roundRect">
            <a:avLst>
              <a:gd name="adj" fmla="val 6923"/>
            </a:avLst>
          </a:prstGeom>
          <a:solidFill>
            <a:srgbClr val="1C2E4D"/>
          </a:solidFill>
          <a:ln/>
        </p:spPr>
      </p:sp>
      <p:sp>
        <p:nvSpPr>
          <p:cNvPr id="5" name="Text 3"/>
          <p:cNvSpPr/>
          <p:nvPr/>
        </p:nvSpPr>
        <p:spPr>
          <a:xfrm>
            <a:off x="939800" y="2286000"/>
            <a:ext cx="1447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Automate</a:t>
            </a:r>
            <a:endParaRPr lang="en-US" sz="1500" dirty="0"/>
          </a:p>
        </p:txBody>
      </p:sp>
      <p:sp>
        <p:nvSpPr>
          <p:cNvPr id="6" name="Text 4"/>
          <p:cNvSpPr/>
          <p:nvPr/>
        </p:nvSpPr>
        <p:spPr>
          <a:xfrm>
            <a:off x="939800" y="2565400"/>
            <a:ext cx="1447800"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5DDE8"/>
                </a:solidFill>
                <a:latin typeface="DM Sans" pitchFamily="34" charset="0"/>
                <a:ea typeface="DM Sans" pitchFamily="34" charset="-122"/>
                <a:cs typeface="DM Sans" pitchFamily="34" charset="-120"/>
              </a:rPr>
              <a:t>Job post, apply, screen, schedule, notify</a:t>
            </a:r>
            <a:endParaRPr lang="en-US" sz="1200" dirty="0"/>
          </a:p>
        </p:txBody>
      </p:sp>
      <p:sp>
        <p:nvSpPr>
          <p:cNvPr id="7" name="Text 5"/>
          <p:cNvSpPr/>
          <p:nvPr/>
        </p:nvSpPr>
        <p:spPr>
          <a:xfrm>
            <a:off x="939800" y="3210558"/>
            <a:ext cx="1447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D8B0"/>
                </a:solidFill>
                <a:latin typeface="DM Sans" pitchFamily="34" charset="0"/>
                <a:ea typeface="DM Sans" pitchFamily="34" charset="-122"/>
                <a:cs typeface="DM Sans" pitchFamily="34" charset="-120"/>
              </a:rPr>
              <a:t>Mostly built</a:t>
            </a:r>
            <a:endParaRPr lang="en-US" sz="1200" dirty="0"/>
          </a:p>
        </p:txBody>
      </p:sp>
      <p:sp>
        <p:nvSpPr>
          <p:cNvPr id="8" name="Shape 6"/>
          <p:cNvSpPr/>
          <p:nvPr/>
        </p:nvSpPr>
        <p:spPr>
          <a:xfrm>
            <a:off x="2978150" y="2159000"/>
            <a:ext cx="1651000" cy="1714500"/>
          </a:xfrm>
          <a:prstGeom prst="roundRect">
            <a:avLst>
              <a:gd name="adj" fmla="val 6923"/>
            </a:avLst>
          </a:prstGeom>
          <a:solidFill>
            <a:srgbClr val="1C2E4D"/>
          </a:solidFill>
          <a:ln/>
        </p:spPr>
      </p:sp>
      <p:sp>
        <p:nvSpPr>
          <p:cNvPr id="9" name="Text 7"/>
          <p:cNvSpPr/>
          <p:nvPr/>
        </p:nvSpPr>
        <p:spPr>
          <a:xfrm>
            <a:off x="3105150" y="2286000"/>
            <a:ext cx="1447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Verify</a:t>
            </a:r>
            <a:endParaRPr lang="en-US" sz="1500" dirty="0"/>
          </a:p>
        </p:txBody>
      </p:sp>
      <p:sp>
        <p:nvSpPr>
          <p:cNvPr id="10" name="Text 8"/>
          <p:cNvSpPr/>
          <p:nvPr/>
        </p:nvSpPr>
        <p:spPr>
          <a:xfrm>
            <a:off x="3105150" y="2565400"/>
            <a:ext cx="1447800"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5DDE8"/>
                </a:solidFill>
                <a:latin typeface="DM Sans" pitchFamily="34" charset="0"/>
                <a:ea typeface="DM Sans" pitchFamily="34" charset="-122"/>
                <a:cs typeface="DM Sans" pitchFamily="34" charset="-120"/>
              </a:rPr>
              <a:t>Work simulation, AI interview, authenticity</a:t>
            </a:r>
            <a:endParaRPr lang="en-US" sz="1200" dirty="0"/>
          </a:p>
        </p:txBody>
      </p:sp>
      <p:sp>
        <p:nvSpPr>
          <p:cNvPr id="11" name="Text 9"/>
          <p:cNvSpPr/>
          <p:nvPr/>
        </p:nvSpPr>
        <p:spPr>
          <a:xfrm>
            <a:off x="3105150" y="3210558"/>
            <a:ext cx="1447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EF5"/>
                </a:solidFill>
                <a:latin typeface="DM Sans" pitchFamily="34" charset="0"/>
                <a:ea typeface="DM Sans" pitchFamily="34" charset="-122"/>
                <a:cs typeface="DM Sans" pitchFamily="34" charset="-120"/>
              </a:rPr>
              <a:t>Proposed</a:t>
            </a:r>
            <a:endParaRPr lang="en-US" sz="1200" dirty="0"/>
          </a:p>
        </p:txBody>
      </p:sp>
      <p:sp>
        <p:nvSpPr>
          <p:cNvPr id="12" name="Shape 10"/>
          <p:cNvSpPr/>
          <p:nvPr/>
        </p:nvSpPr>
        <p:spPr>
          <a:xfrm>
            <a:off x="5143500" y="2159000"/>
            <a:ext cx="1651000" cy="1714500"/>
          </a:xfrm>
          <a:prstGeom prst="roundRect">
            <a:avLst>
              <a:gd name="adj" fmla="val 6923"/>
            </a:avLst>
          </a:prstGeom>
          <a:solidFill>
            <a:srgbClr val="E07A3F"/>
          </a:solidFill>
          <a:ln/>
        </p:spPr>
      </p:sp>
      <p:sp>
        <p:nvSpPr>
          <p:cNvPr id="13" name="Text 11"/>
          <p:cNvSpPr/>
          <p:nvPr/>
        </p:nvSpPr>
        <p:spPr>
          <a:xfrm>
            <a:off x="5270500" y="2286000"/>
            <a:ext cx="144780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Human decides</a:t>
            </a:r>
            <a:endParaRPr lang="en-US" sz="1500" dirty="0"/>
          </a:p>
        </p:txBody>
      </p:sp>
      <p:sp>
        <p:nvSpPr>
          <p:cNvPr id="14" name="Text 12"/>
          <p:cNvSpPr/>
          <p:nvPr/>
        </p:nvSpPr>
        <p:spPr>
          <a:xfrm>
            <a:off x="5270500" y="2794000"/>
            <a:ext cx="1447800"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3213A"/>
                </a:solidFill>
                <a:latin typeface="DM Sans" pitchFamily="34" charset="0"/>
                <a:ea typeface="DM Sans" pitchFamily="34" charset="-122"/>
                <a:cs typeface="DM Sans" pitchFamily="34" charset="-120"/>
              </a:rPr>
              <a:t>Evidence-based shortlist; HR approves</a:t>
            </a:r>
            <a:endParaRPr lang="en-US" sz="1200" dirty="0"/>
          </a:p>
        </p:txBody>
      </p:sp>
      <p:sp>
        <p:nvSpPr>
          <p:cNvPr id="15" name="Text 13"/>
          <p:cNvSpPr/>
          <p:nvPr/>
        </p:nvSpPr>
        <p:spPr>
          <a:xfrm>
            <a:off x="5270500" y="3439158"/>
            <a:ext cx="1447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13A"/>
                </a:solidFill>
                <a:latin typeface="DM Sans" pitchFamily="34" charset="0"/>
                <a:ea typeface="DM Sans" pitchFamily="34" charset="-122"/>
                <a:cs typeface="DM Sans" pitchFamily="34" charset="-120"/>
              </a:rPr>
              <a:t>Partly built</a:t>
            </a:r>
            <a:endParaRPr lang="en-US" sz="1200" dirty="0"/>
          </a:p>
        </p:txBody>
      </p:sp>
      <p:sp>
        <p:nvSpPr>
          <p:cNvPr id="16" name="Shape 14"/>
          <p:cNvSpPr/>
          <p:nvPr/>
        </p:nvSpPr>
        <p:spPr>
          <a:xfrm>
            <a:off x="7308850" y="2159000"/>
            <a:ext cx="1651000" cy="1714500"/>
          </a:xfrm>
          <a:prstGeom prst="roundRect">
            <a:avLst>
              <a:gd name="adj" fmla="val 6923"/>
            </a:avLst>
          </a:prstGeom>
          <a:solidFill>
            <a:srgbClr val="1C2E4D"/>
          </a:solidFill>
          <a:ln/>
        </p:spPr>
      </p:sp>
      <p:sp>
        <p:nvSpPr>
          <p:cNvPr id="17" name="Text 15"/>
          <p:cNvSpPr/>
          <p:nvPr/>
        </p:nvSpPr>
        <p:spPr>
          <a:xfrm>
            <a:off x="7435850" y="2286000"/>
            <a:ext cx="1447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Outcome</a:t>
            </a:r>
            <a:endParaRPr lang="en-US" sz="1500" dirty="0"/>
          </a:p>
        </p:txBody>
      </p:sp>
      <p:sp>
        <p:nvSpPr>
          <p:cNvPr id="18" name="Text 16"/>
          <p:cNvSpPr/>
          <p:nvPr/>
        </p:nvSpPr>
        <p:spPr>
          <a:xfrm>
            <a:off x="7435850" y="2565400"/>
            <a:ext cx="1447800"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5DDE8"/>
                </a:solidFill>
                <a:latin typeface="DM Sans" pitchFamily="34" charset="0"/>
                <a:ea typeface="DM Sans" pitchFamily="34" charset="-122"/>
                <a:cs typeface="DM Sans" pitchFamily="34" charset="-120"/>
              </a:rPr>
              <a:t>Hire, then 30/60/90-day check-ins</a:t>
            </a:r>
            <a:endParaRPr lang="en-US" sz="1200" dirty="0"/>
          </a:p>
        </p:txBody>
      </p:sp>
      <p:sp>
        <p:nvSpPr>
          <p:cNvPr id="19" name="Text 17"/>
          <p:cNvSpPr/>
          <p:nvPr/>
        </p:nvSpPr>
        <p:spPr>
          <a:xfrm>
            <a:off x="7435850" y="3210558"/>
            <a:ext cx="1447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EF5"/>
                </a:solidFill>
                <a:latin typeface="DM Sans" pitchFamily="34" charset="0"/>
                <a:ea typeface="DM Sans" pitchFamily="34" charset="-122"/>
                <a:cs typeface="DM Sans" pitchFamily="34" charset="-120"/>
              </a:rPr>
              <a:t>Proposed</a:t>
            </a:r>
            <a:endParaRPr lang="en-US" sz="1200" dirty="0"/>
          </a:p>
        </p:txBody>
      </p:sp>
      <p:sp>
        <p:nvSpPr>
          <p:cNvPr id="20" name="Shape 18"/>
          <p:cNvSpPr/>
          <p:nvPr/>
        </p:nvSpPr>
        <p:spPr>
          <a:xfrm>
            <a:off x="9474200" y="2159000"/>
            <a:ext cx="1651000" cy="1714500"/>
          </a:xfrm>
          <a:prstGeom prst="roundRect">
            <a:avLst>
              <a:gd name="adj" fmla="val 6923"/>
            </a:avLst>
          </a:prstGeom>
          <a:solidFill>
            <a:srgbClr val="1C2E4D"/>
          </a:solidFill>
          <a:ln/>
        </p:spPr>
      </p:sp>
      <p:sp>
        <p:nvSpPr>
          <p:cNvPr id="21" name="Text 19"/>
          <p:cNvSpPr/>
          <p:nvPr/>
        </p:nvSpPr>
        <p:spPr>
          <a:xfrm>
            <a:off x="9601200" y="2286000"/>
            <a:ext cx="14478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Learn</a:t>
            </a:r>
            <a:endParaRPr lang="en-US" sz="1500" dirty="0"/>
          </a:p>
        </p:txBody>
      </p:sp>
      <p:sp>
        <p:nvSpPr>
          <p:cNvPr id="22" name="Text 20"/>
          <p:cNvSpPr/>
          <p:nvPr/>
        </p:nvSpPr>
        <p:spPr>
          <a:xfrm>
            <a:off x="9601200" y="2565400"/>
            <a:ext cx="1447800"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5DDE8"/>
                </a:solidFill>
                <a:latin typeface="DM Sans" pitchFamily="34" charset="0"/>
                <a:ea typeface="DM Sans" pitchFamily="34" charset="-122"/>
                <a:cs typeface="DM Sans" pitchFamily="34" charset="-120"/>
              </a:rPr>
              <a:t>Quality of hire retrains rubrics and ranking</a:t>
            </a:r>
            <a:endParaRPr lang="en-US" sz="1200" dirty="0"/>
          </a:p>
        </p:txBody>
      </p:sp>
      <p:sp>
        <p:nvSpPr>
          <p:cNvPr id="23" name="Text 21"/>
          <p:cNvSpPr/>
          <p:nvPr/>
        </p:nvSpPr>
        <p:spPr>
          <a:xfrm>
            <a:off x="9601200" y="3210558"/>
            <a:ext cx="1447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EF5"/>
                </a:solidFill>
                <a:latin typeface="DM Sans" pitchFamily="34" charset="0"/>
                <a:ea typeface="DM Sans" pitchFamily="34" charset="-122"/>
                <a:cs typeface="DM Sans" pitchFamily="34" charset="-120"/>
              </a:rPr>
              <a:t>Proposed</a:t>
            </a:r>
            <a:endParaRPr lang="en-US" sz="1200" dirty="0"/>
          </a:p>
        </p:txBody>
      </p:sp>
      <p:pic>
        <p:nvPicPr>
          <p:cNvPr id="24" name="Image 0" descr="connector"/>
          <p:cNvPicPr>
            <a:picLocks noChangeAspect="1"/>
          </p:cNvPicPr>
          <p:nvPr/>
        </p:nvPicPr>
        <p:blipFill>
          <a:blip r:embed="rId3"/>
          <a:srcRect/>
          <a:stretch/>
        </p:blipFill>
        <p:spPr>
          <a:xfrm>
            <a:off x="2438400" y="2965450"/>
            <a:ext cx="565150" cy="101600"/>
          </a:xfrm>
          <a:prstGeom prst="rect">
            <a:avLst/>
          </a:prstGeom>
        </p:spPr>
      </p:pic>
      <p:pic>
        <p:nvPicPr>
          <p:cNvPr id="25" name="Image 1" descr="connector"/>
          <p:cNvPicPr>
            <a:picLocks noChangeAspect="1"/>
          </p:cNvPicPr>
          <p:nvPr/>
        </p:nvPicPr>
        <p:blipFill>
          <a:blip r:embed="rId3"/>
          <a:srcRect/>
          <a:stretch/>
        </p:blipFill>
        <p:spPr>
          <a:xfrm>
            <a:off x="4603750" y="2965450"/>
            <a:ext cx="565150" cy="101600"/>
          </a:xfrm>
          <a:prstGeom prst="rect">
            <a:avLst/>
          </a:prstGeom>
        </p:spPr>
      </p:pic>
      <p:pic>
        <p:nvPicPr>
          <p:cNvPr id="26" name="Image 2" descr="connector"/>
          <p:cNvPicPr>
            <a:picLocks noChangeAspect="1"/>
          </p:cNvPicPr>
          <p:nvPr/>
        </p:nvPicPr>
        <p:blipFill>
          <a:blip r:embed="rId3"/>
          <a:srcRect/>
          <a:stretch/>
        </p:blipFill>
        <p:spPr>
          <a:xfrm>
            <a:off x="6769100" y="2965450"/>
            <a:ext cx="565150" cy="101600"/>
          </a:xfrm>
          <a:prstGeom prst="rect">
            <a:avLst/>
          </a:prstGeom>
        </p:spPr>
      </p:pic>
      <p:pic>
        <p:nvPicPr>
          <p:cNvPr id="27" name="Image 3" descr="connector"/>
          <p:cNvPicPr>
            <a:picLocks noChangeAspect="1"/>
          </p:cNvPicPr>
          <p:nvPr/>
        </p:nvPicPr>
        <p:blipFill>
          <a:blip r:embed="rId3"/>
          <a:srcRect/>
          <a:stretch/>
        </p:blipFill>
        <p:spPr>
          <a:xfrm>
            <a:off x="8934450" y="2965450"/>
            <a:ext cx="565150" cy="101600"/>
          </a:xfrm>
          <a:prstGeom prst="rect">
            <a:avLst/>
          </a:prstGeom>
        </p:spPr>
      </p:pic>
      <p:pic>
        <p:nvPicPr>
          <p:cNvPr id="28" name="Image 4" descr="connector"/>
          <p:cNvPicPr>
            <a:picLocks noChangeAspect="1"/>
          </p:cNvPicPr>
          <p:nvPr/>
        </p:nvPicPr>
        <p:blipFill>
          <a:blip r:embed="rId4"/>
          <a:srcRect/>
          <a:stretch/>
        </p:blipFill>
        <p:spPr>
          <a:xfrm>
            <a:off x="10248900" y="3848100"/>
            <a:ext cx="101600" cy="584200"/>
          </a:xfrm>
          <a:prstGeom prst="rect">
            <a:avLst/>
          </a:prstGeom>
        </p:spPr>
      </p:pic>
      <p:pic>
        <p:nvPicPr>
          <p:cNvPr id="29" name="Image 5" descr="connector"/>
          <p:cNvPicPr>
            <a:picLocks noChangeAspect="1"/>
          </p:cNvPicPr>
          <p:nvPr/>
        </p:nvPicPr>
        <p:blipFill>
          <a:blip r:embed="rId5"/>
          <a:srcRect/>
          <a:stretch/>
        </p:blipFill>
        <p:spPr>
          <a:xfrm>
            <a:off x="1587500" y="4330700"/>
            <a:ext cx="8763000" cy="101600"/>
          </a:xfrm>
          <a:prstGeom prst="rect">
            <a:avLst/>
          </a:prstGeom>
        </p:spPr>
      </p:pic>
      <p:pic>
        <p:nvPicPr>
          <p:cNvPr id="30" name="Image 6" descr="connector"/>
          <p:cNvPicPr>
            <a:picLocks noChangeAspect="1"/>
          </p:cNvPicPr>
          <p:nvPr/>
        </p:nvPicPr>
        <p:blipFill>
          <a:blip r:embed="rId6"/>
          <a:srcRect/>
          <a:stretch/>
        </p:blipFill>
        <p:spPr>
          <a:xfrm>
            <a:off x="1587500" y="3848100"/>
            <a:ext cx="101600" cy="584200"/>
          </a:xfrm>
          <a:prstGeom prst="rect">
            <a:avLst/>
          </a:prstGeom>
        </p:spPr>
      </p:pic>
      <p:sp>
        <p:nvSpPr>
          <p:cNvPr id="31" name="Text 22"/>
          <p:cNvSpPr/>
          <p:nvPr/>
        </p:nvSpPr>
        <p:spPr>
          <a:xfrm>
            <a:off x="3479800" y="4483100"/>
            <a:ext cx="5232400"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E9A276"/>
                </a:solidFill>
                <a:latin typeface="DM Sans" pitchFamily="34" charset="0"/>
                <a:ea typeface="DM Sans" pitchFamily="34" charset="-122"/>
                <a:cs typeface="DM Sans" pitchFamily="34" charset="-120"/>
              </a:rPr>
              <a:t>Every hire makes the next hiring decision better</a:t>
            </a:r>
            <a:endParaRPr lang="en-US" sz="1300" dirty="0"/>
          </a:p>
        </p:txBody>
      </p:sp>
      <p:sp>
        <p:nvSpPr>
          <p:cNvPr id="32" name="Text 23"/>
          <p:cNvSpPr/>
          <p:nvPr/>
        </p:nvSpPr>
        <p:spPr>
          <a:xfrm>
            <a:off x="812800" y="5016500"/>
            <a:ext cx="3505708"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7F6F2"/>
                </a:solidFill>
                <a:latin typeface="DM Sans" pitchFamily="34" charset="0"/>
                <a:ea typeface="DM Sans" pitchFamily="34" charset="-122"/>
                <a:cs typeface="DM Sans" pitchFamily="34" charset="-120"/>
              </a:rPr>
              <a:t>Automate</a:t>
            </a:r>
            <a:r>
              <a:rPr lang="en-US" sz="1200" dirty="0">
                <a:solidFill>
                  <a:srgbClr val="D5DDE8"/>
                </a:solidFill>
                <a:latin typeface="DM Sans" pitchFamily="34" charset="0"/>
                <a:ea typeface="DM Sans" pitchFamily="34" charset="-122"/>
                <a:cs typeface="DM Sans" pitchFamily="34" charset="-120"/>
              </a:rPr>
              <a:t> is table stakes and wins the first deal.</a:t>
            </a:r>
            <a:endParaRPr lang="en-US" sz="1200" dirty="0"/>
          </a:p>
        </p:txBody>
      </p:sp>
      <p:sp>
        <p:nvSpPr>
          <p:cNvPr id="33" name="Text 24"/>
          <p:cNvSpPr/>
          <p:nvPr/>
        </p:nvSpPr>
        <p:spPr>
          <a:xfrm>
            <a:off x="4394200" y="5016500"/>
            <a:ext cx="3505708"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7F6F2"/>
                </a:solidFill>
                <a:latin typeface="DM Sans" pitchFamily="34" charset="0"/>
                <a:ea typeface="DM Sans" pitchFamily="34" charset="-122"/>
                <a:cs typeface="DM Sans" pitchFamily="34" charset="-120"/>
              </a:rPr>
              <a:t>Verify</a:t>
            </a:r>
            <a:r>
              <a:rPr lang="en-US" sz="1200" dirty="0">
                <a:solidFill>
                  <a:srgbClr val="D5DDE8"/>
                </a:solidFill>
                <a:latin typeface="DM Sans" pitchFamily="34" charset="0"/>
                <a:ea typeface="DM Sans" pitchFamily="34" charset="-122"/>
                <a:cs typeface="DM Sans" pitchFamily="34" charset="-120"/>
              </a:rPr>
              <a:t> sets us apart while resumes and interviews get faked.</a:t>
            </a:r>
            <a:endParaRPr lang="en-US" sz="1200" dirty="0"/>
          </a:p>
        </p:txBody>
      </p:sp>
      <p:sp>
        <p:nvSpPr>
          <p:cNvPr id="34" name="Text 25"/>
          <p:cNvSpPr/>
          <p:nvPr/>
        </p:nvSpPr>
        <p:spPr>
          <a:xfrm>
            <a:off x="7975600" y="5016500"/>
            <a:ext cx="3505708"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7F6F2"/>
                </a:solidFill>
                <a:latin typeface="DM Sans" pitchFamily="34" charset="0"/>
                <a:ea typeface="DM Sans" pitchFamily="34" charset="-122"/>
                <a:cs typeface="DM Sans" pitchFamily="34" charset="-120"/>
              </a:rPr>
              <a:t>Learn</a:t>
            </a:r>
            <a:r>
              <a:rPr lang="en-US" sz="1200" dirty="0">
                <a:solidFill>
                  <a:srgbClr val="D5DDE8"/>
                </a:solidFill>
                <a:latin typeface="DM Sans" pitchFamily="34" charset="0"/>
                <a:ea typeface="DM Sans" pitchFamily="34" charset="-122"/>
                <a:cs typeface="DM Sans" pitchFamily="34" charset="-120"/>
              </a:rPr>
              <a:t> builds the moat: validated, role-specific outcome evidence.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PRIORITY P1 · NEAR-TERM IMPROVEMENTS</a:t>
            </a:r>
            <a:endParaRPr lang="en-US" sz="1200" dirty="0"/>
          </a:p>
        </p:txBody>
      </p:sp>
      <p:sp>
        <p:nvSpPr>
          <p:cNvPr id="3" name="Text 1"/>
          <p:cNvSpPr>
            <a:spLocks noGrp="1"/>
          </p:cNvSpPr>
          <p:nvPr>
            <p:ph type="title"/>
          </p:nvPr>
        </p:nvSpPr>
        <p:spPr>
          <a:xfrm>
            <a:off x="812800" y="8991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Make today's workflow smarter, not bigger</a:t>
            </a:r>
            <a:endParaRPr lang="en-US" sz="3000" dirty="0"/>
          </a:p>
        </p:txBody>
      </p:sp>
      <p:sp>
        <p:nvSpPr>
          <p:cNvPr id="4" name="Shape 2"/>
          <p:cNvSpPr/>
          <p:nvPr/>
        </p:nvSpPr>
        <p:spPr>
          <a:xfrm>
            <a:off x="815975" y="1651633"/>
            <a:ext cx="2540000" cy="1292860"/>
          </a:xfrm>
          <a:prstGeom prst="roundRect">
            <a:avLst>
              <a:gd name="adj" fmla="val 7613"/>
            </a:avLst>
          </a:prstGeom>
          <a:solidFill>
            <a:srgbClr val="FFFFFF"/>
          </a:solidFill>
          <a:ln w="6350">
            <a:solidFill>
              <a:srgbClr val="DCDDD6"/>
            </a:solidFill>
            <a:prstDash val="solid"/>
          </a:ln>
        </p:spPr>
      </p:sp>
      <p:sp>
        <p:nvSpPr>
          <p:cNvPr id="5" name="Text 3"/>
          <p:cNvSpPr/>
          <p:nvPr/>
        </p:nvSpPr>
        <p:spPr>
          <a:xfrm>
            <a:off x="970280" y="1805942"/>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Job intelligence</a:t>
            </a:r>
            <a:endParaRPr lang="en-US" sz="1400" dirty="0"/>
          </a:p>
        </p:txBody>
      </p:sp>
      <p:sp>
        <p:nvSpPr>
          <p:cNvPr id="6" name="Text 4"/>
          <p:cNvSpPr/>
          <p:nvPr/>
        </p:nvSpPr>
        <p:spPr>
          <a:xfrm>
            <a:off x="970280" y="2070100"/>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Turn each job into skills, duties and a scoring rubric</a:t>
            </a:r>
            <a:endParaRPr lang="en-US" sz="1400" dirty="0"/>
          </a:p>
        </p:txBody>
      </p:sp>
      <p:sp>
        <p:nvSpPr>
          <p:cNvPr id="7" name="Shape 5"/>
          <p:cNvSpPr/>
          <p:nvPr/>
        </p:nvSpPr>
        <p:spPr>
          <a:xfrm>
            <a:off x="3489325" y="1651633"/>
            <a:ext cx="2540000" cy="1292860"/>
          </a:xfrm>
          <a:prstGeom prst="roundRect">
            <a:avLst>
              <a:gd name="adj" fmla="val 7613"/>
            </a:avLst>
          </a:prstGeom>
          <a:solidFill>
            <a:srgbClr val="FFFFFF"/>
          </a:solidFill>
          <a:ln w="6350">
            <a:solidFill>
              <a:srgbClr val="DCDDD6"/>
            </a:solidFill>
            <a:prstDash val="solid"/>
          </a:ln>
        </p:spPr>
      </p:sp>
      <p:sp>
        <p:nvSpPr>
          <p:cNvPr id="8" name="Text 6"/>
          <p:cNvSpPr/>
          <p:nvPr/>
        </p:nvSpPr>
        <p:spPr>
          <a:xfrm>
            <a:off x="3643630" y="1805942"/>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Evidence matching</a:t>
            </a:r>
            <a:endParaRPr lang="en-US" sz="1400" dirty="0"/>
          </a:p>
        </p:txBody>
      </p:sp>
      <p:sp>
        <p:nvSpPr>
          <p:cNvPr id="9" name="Text 7"/>
          <p:cNvSpPr/>
          <p:nvPr/>
        </p:nvSpPr>
        <p:spPr>
          <a:xfrm>
            <a:off x="3643630" y="2070100"/>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Link every score to a resume line or an answer</a:t>
            </a:r>
            <a:endParaRPr lang="en-US" sz="1400" dirty="0"/>
          </a:p>
        </p:txBody>
      </p:sp>
      <p:sp>
        <p:nvSpPr>
          <p:cNvPr id="10" name="Shape 8"/>
          <p:cNvSpPr/>
          <p:nvPr/>
        </p:nvSpPr>
        <p:spPr>
          <a:xfrm>
            <a:off x="6162675" y="1651633"/>
            <a:ext cx="2540000" cy="1292860"/>
          </a:xfrm>
          <a:prstGeom prst="roundRect">
            <a:avLst>
              <a:gd name="adj" fmla="val 7613"/>
            </a:avLst>
          </a:prstGeom>
          <a:solidFill>
            <a:srgbClr val="FFFFFF"/>
          </a:solidFill>
          <a:ln w="6350">
            <a:solidFill>
              <a:srgbClr val="DCDDD6"/>
            </a:solidFill>
            <a:prstDash val="solid"/>
          </a:ln>
        </p:spPr>
      </p:sp>
      <p:sp>
        <p:nvSpPr>
          <p:cNvPr id="11" name="Text 9"/>
          <p:cNvSpPr/>
          <p:nvPr/>
        </p:nvSpPr>
        <p:spPr>
          <a:xfrm>
            <a:off x="6316980" y="1805942"/>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Missing evidence</a:t>
            </a:r>
            <a:endParaRPr lang="en-US" sz="1400" dirty="0"/>
          </a:p>
        </p:txBody>
      </p:sp>
      <p:sp>
        <p:nvSpPr>
          <p:cNvPr id="12" name="Text 10"/>
          <p:cNvSpPr/>
          <p:nvPr/>
        </p:nvSpPr>
        <p:spPr>
          <a:xfrm>
            <a:off x="6316980" y="2070100"/>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Flag claims that still need checking</a:t>
            </a:r>
            <a:endParaRPr lang="en-US" sz="1400" dirty="0"/>
          </a:p>
        </p:txBody>
      </p:sp>
      <p:sp>
        <p:nvSpPr>
          <p:cNvPr id="13" name="Shape 11"/>
          <p:cNvSpPr/>
          <p:nvPr/>
        </p:nvSpPr>
        <p:spPr>
          <a:xfrm>
            <a:off x="8836025" y="1651633"/>
            <a:ext cx="2540000" cy="1292860"/>
          </a:xfrm>
          <a:prstGeom prst="roundRect">
            <a:avLst>
              <a:gd name="adj" fmla="val 7613"/>
            </a:avLst>
          </a:prstGeom>
          <a:solidFill>
            <a:srgbClr val="FFFFFF"/>
          </a:solidFill>
          <a:ln w="6350">
            <a:solidFill>
              <a:srgbClr val="DCDDD6"/>
            </a:solidFill>
            <a:prstDash val="solid"/>
          </a:ln>
        </p:spPr>
      </p:sp>
      <p:sp>
        <p:nvSpPr>
          <p:cNvPr id="14" name="Text 12"/>
          <p:cNvSpPr/>
          <p:nvPr/>
        </p:nvSpPr>
        <p:spPr>
          <a:xfrm>
            <a:off x="8990330" y="1805942"/>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Rubric comparison</a:t>
            </a:r>
            <a:endParaRPr lang="en-US" sz="1400" dirty="0"/>
          </a:p>
        </p:txBody>
      </p:sp>
      <p:sp>
        <p:nvSpPr>
          <p:cNvPr id="15" name="Text 13"/>
          <p:cNvSpPr/>
          <p:nvPr/>
        </p:nvSpPr>
        <p:spPr>
          <a:xfrm>
            <a:off x="8990330" y="2070100"/>
            <a:ext cx="2298332"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Compare candidates on the same role rubric, not one number</a:t>
            </a:r>
            <a:endParaRPr lang="en-US" sz="1400" dirty="0"/>
          </a:p>
        </p:txBody>
      </p:sp>
      <p:sp>
        <p:nvSpPr>
          <p:cNvPr id="16" name="Shape 14"/>
          <p:cNvSpPr/>
          <p:nvPr/>
        </p:nvSpPr>
        <p:spPr>
          <a:xfrm>
            <a:off x="815975" y="3077852"/>
            <a:ext cx="2540000" cy="1292860"/>
          </a:xfrm>
          <a:prstGeom prst="roundRect">
            <a:avLst>
              <a:gd name="adj" fmla="val 7613"/>
            </a:avLst>
          </a:prstGeom>
          <a:solidFill>
            <a:srgbClr val="FFFFFF"/>
          </a:solidFill>
          <a:ln w="6350">
            <a:solidFill>
              <a:srgbClr val="DCDDD6"/>
            </a:solidFill>
            <a:prstDash val="solid"/>
          </a:ln>
        </p:spPr>
      </p:sp>
      <p:sp>
        <p:nvSpPr>
          <p:cNvPr id="17" name="Text 15"/>
          <p:cNvSpPr/>
          <p:nvPr/>
        </p:nvSpPr>
        <p:spPr>
          <a:xfrm>
            <a:off x="970280" y="3232150"/>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Recruiter copilot</a:t>
            </a:r>
            <a:endParaRPr lang="en-US" sz="1400" dirty="0"/>
          </a:p>
        </p:txBody>
      </p:sp>
      <p:sp>
        <p:nvSpPr>
          <p:cNvPr id="18" name="Text 16"/>
          <p:cNvSpPr/>
          <p:nvPr/>
        </p:nvSpPr>
        <p:spPr>
          <a:xfrm>
            <a:off x="970280" y="3496308"/>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"Why is A ranked above B?" answered with evidence</a:t>
            </a:r>
            <a:endParaRPr lang="en-US" sz="1400" dirty="0"/>
          </a:p>
        </p:txBody>
      </p:sp>
      <p:sp>
        <p:nvSpPr>
          <p:cNvPr id="19" name="Shape 17"/>
          <p:cNvSpPr/>
          <p:nvPr/>
        </p:nvSpPr>
        <p:spPr>
          <a:xfrm>
            <a:off x="3489325" y="3077852"/>
            <a:ext cx="2540000" cy="1292860"/>
          </a:xfrm>
          <a:prstGeom prst="roundRect">
            <a:avLst>
              <a:gd name="adj" fmla="val 7613"/>
            </a:avLst>
          </a:prstGeom>
          <a:solidFill>
            <a:srgbClr val="FFFFFF"/>
          </a:solidFill>
          <a:ln w="6350">
            <a:solidFill>
              <a:srgbClr val="DCDDD6"/>
            </a:solidFill>
            <a:prstDash val="solid"/>
          </a:ln>
        </p:spPr>
      </p:sp>
      <p:sp>
        <p:nvSpPr>
          <p:cNvPr id="20" name="Text 18"/>
          <p:cNvSpPr/>
          <p:nvPr/>
        </p:nvSpPr>
        <p:spPr>
          <a:xfrm>
            <a:off x="3643630" y="3232150"/>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Rediscovery</a:t>
            </a:r>
            <a:endParaRPr lang="en-US" sz="1400" dirty="0"/>
          </a:p>
        </p:txBody>
      </p:sp>
      <p:sp>
        <p:nvSpPr>
          <p:cNvPr id="21" name="Text 19"/>
          <p:cNvSpPr/>
          <p:nvPr/>
        </p:nvSpPr>
        <p:spPr>
          <a:xfrm>
            <a:off x="3643630" y="3496308"/>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Find past applicants who fit a newly opened role</a:t>
            </a:r>
            <a:endParaRPr lang="en-US" sz="1400" dirty="0"/>
          </a:p>
        </p:txBody>
      </p:sp>
      <p:sp>
        <p:nvSpPr>
          <p:cNvPr id="22" name="Shape 20"/>
          <p:cNvSpPr/>
          <p:nvPr/>
        </p:nvSpPr>
        <p:spPr>
          <a:xfrm>
            <a:off x="6162675" y="3077852"/>
            <a:ext cx="2540000" cy="1292860"/>
          </a:xfrm>
          <a:prstGeom prst="roundRect">
            <a:avLst>
              <a:gd name="adj" fmla="val 7613"/>
            </a:avLst>
          </a:prstGeom>
          <a:solidFill>
            <a:srgbClr val="FFFFFF"/>
          </a:solidFill>
          <a:ln w="6350">
            <a:solidFill>
              <a:srgbClr val="DCDDD6"/>
            </a:solidFill>
            <a:prstDash val="solid"/>
          </a:ln>
        </p:spPr>
      </p:sp>
      <p:sp>
        <p:nvSpPr>
          <p:cNvPr id="23" name="Text 21"/>
          <p:cNvSpPr/>
          <p:nvPr/>
        </p:nvSpPr>
        <p:spPr>
          <a:xfrm>
            <a:off x="6316980" y="3232150"/>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Candidate experience</a:t>
            </a:r>
            <a:endParaRPr lang="en-US" sz="1400" dirty="0"/>
          </a:p>
        </p:txBody>
      </p:sp>
      <p:sp>
        <p:nvSpPr>
          <p:cNvPr id="24" name="Text 22"/>
          <p:cNvSpPr/>
          <p:nvPr/>
        </p:nvSpPr>
        <p:spPr>
          <a:xfrm>
            <a:off x="6316980" y="3496308"/>
            <a:ext cx="229833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Status, reminders and a non-voice option</a:t>
            </a:r>
            <a:endParaRPr lang="en-US" sz="1400" dirty="0"/>
          </a:p>
        </p:txBody>
      </p:sp>
      <p:sp>
        <p:nvSpPr>
          <p:cNvPr id="25" name="Shape 23"/>
          <p:cNvSpPr/>
          <p:nvPr/>
        </p:nvSpPr>
        <p:spPr>
          <a:xfrm>
            <a:off x="8836025" y="3077852"/>
            <a:ext cx="2540000" cy="1292860"/>
          </a:xfrm>
          <a:prstGeom prst="roundRect">
            <a:avLst>
              <a:gd name="adj" fmla="val 7613"/>
            </a:avLst>
          </a:prstGeom>
          <a:solidFill>
            <a:srgbClr val="FFFFFF"/>
          </a:solidFill>
          <a:ln w="6350">
            <a:solidFill>
              <a:srgbClr val="DCDDD6"/>
            </a:solidFill>
            <a:prstDash val="solid"/>
          </a:ln>
        </p:spPr>
      </p:sp>
      <p:sp>
        <p:nvSpPr>
          <p:cNvPr id="26" name="Text 24"/>
          <p:cNvSpPr/>
          <p:nvPr/>
        </p:nvSpPr>
        <p:spPr>
          <a:xfrm>
            <a:off x="8990330" y="3232150"/>
            <a:ext cx="229833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13A"/>
                </a:solidFill>
                <a:latin typeface="DM Sans" pitchFamily="34" charset="0"/>
                <a:ea typeface="DM Sans" pitchFamily="34" charset="-122"/>
                <a:cs typeface="DM Sans" pitchFamily="34" charset="-120"/>
              </a:rPr>
              <a:t>Hiring analytics</a:t>
            </a:r>
            <a:endParaRPr lang="en-US" sz="1400" dirty="0"/>
          </a:p>
        </p:txBody>
      </p:sp>
      <p:sp>
        <p:nvSpPr>
          <p:cNvPr id="27" name="Text 25"/>
          <p:cNvSpPr/>
          <p:nvPr/>
        </p:nvSpPr>
        <p:spPr>
          <a:xfrm>
            <a:off x="8990330" y="3496308"/>
            <a:ext cx="2298332"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E4A5C"/>
                </a:solidFill>
                <a:latin typeface="DM Sans" pitchFamily="34" charset="0"/>
                <a:ea typeface="DM Sans" pitchFamily="34" charset="-122"/>
                <a:cs typeface="DM Sans" pitchFamily="34" charset="-120"/>
              </a:rPr>
              <a:t>Time to shortlist, completion, cost and no-shows</a:t>
            </a:r>
            <a:endParaRPr lang="en-US" sz="1400" dirty="0"/>
          </a:p>
        </p:txBody>
      </p:sp>
      <p:sp>
        <p:nvSpPr>
          <p:cNvPr id="28" name="Text 2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All eight build on the existing HR portal and AI engine · 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BF1E7"/>
        </a:solidFill>
        <a:effectLst/>
      </p:bgPr>
    </p:bg>
    <p:spTree>
      <p:nvGrpSpPr>
        <p:cNvPr id="1" name=""/>
        <p:cNvGrpSpPr/>
        <p:nvPr/>
      </p:nvGrpSpPr>
      <p:grpSpPr>
        <a:xfrm>
          <a:off x="0" y="0"/>
          <a:ext cx="0" cy="0"/>
          <a:chOff x="0" y="0"/>
          <a:chExt cx="0" cy="0"/>
        </a:xfrm>
      </p:grpSpPr>
      <p:sp>
        <p:nvSpPr>
          <p:cNvPr id="2" name="Text 0"/>
          <p:cNvSpPr/>
          <p:nvPr/>
        </p:nvSpPr>
        <p:spPr>
          <a:xfrm>
            <a:off x="812800" y="609600"/>
            <a:ext cx="452398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NOVELTY 1 · LOW COST</a:t>
            </a:r>
            <a:endParaRPr lang="en-US" sz="1200" dirty="0"/>
          </a:p>
        </p:txBody>
      </p:sp>
      <p:sp>
        <p:nvSpPr>
          <p:cNvPr id="3" name="Text 1"/>
          <p:cNvSpPr>
            <a:spLocks noGrp="1"/>
          </p:cNvSpPr>
          <p:nvPr>
            <p:ph type="title"/>
          </p:nvPr>
        </p:nvSpPr>
        <p:spPr>
          <a:xfrm>
            <a:off x="812800" y="899158"/>
            <a:ext cx="5270659"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Evidence Gap Challenge</a:t>
            </a:r>
            <a:endParaRPr lang="en-US" sz="3000" dirty="0"/>
          </a:p>
        </p:txBody>
      </p:sp>
      <p:sp>
        <p:nvSpPr>
          <p:cNvPr id="4" name="Text 2"/>
          <p:cNvSpPr/>
          <p:nvPr/>
        </p:nvSpPr>
        <p:spPr>
          <a:xfrm>
            <a:off x="9207341" y="1003300"/>
            <a:ext cx="2171859" cy="314960"/>
          </a:xfrm>
          <a:prstGeom prst="roundRect">
            <a:avLst>
              <a:gd name="adj" fmla="val 50000"/>
            </a:avLst>
          </a:prstGeom>
          <a:solidFill>
            <a:srgbClr val="13213A"/>
          </a:solidFill>
          <a:ln/>
        </p:spPr>
        <p:txBody>
          <a:bodyPr wrap="none" lIns="0" tIns="0" rIns="0" bIns="0" rtlCol="0" anchor="ctr">
            <a:normAutofit/>
          </a:bodyPr>
          <a:lstStyle/>
          <a:p>
            <a:pPr marL="0" indent="0" algn="ctr">
              <a:lnSpc>
                <a:spcPts val="1680"/>
              </a:lnSpc>
              <a:buNone/>
            </a:pPr>
            <a:r>
              <a:rPr lang="en-US" sz="1200" dirty="0">
                <a:solidFill>
                  <a:srgbClr val="F7F6F2"/>
                </a:solidFill>
                <a:latin typeface="DM Sans" pitchFamily="34" charset="0"/>
                <a:ea typeface="DM Sans" pitchFamily="34" charset="-122"/>
                <a:cs typeface="DM Sans" pitchFamily="34" charset="-120"/>
              </a:rPr>
              <a:t>Builds on today's screening</a:t>
            </a:r>
            <a:endParaRPr lang="en-US" sz="1200" dirty="0"/>
          </a:p>
        </p:txBody>
      </p:sp>
      <p:sp>
        <p:nvSpPr>
          <p:cNvPr id="5" name="Shape 3"/>
          <p:cNvSpPr/>
          <p:nvPr/>
        </p:nvSpPr>
        <p:spPr>
          <a:xfrm>
            <a:off x="812800" y="1764035"/>
            <a:ext cx="1767840" cy="1005840"/>
          </a:xfrm>
          <a:prstGeom prst="roundRect">
            <a:avLst>
              <a:gd name="adj" fmla="val 10101"/>
            </a:avLst>
          </a:prstGeom>
          <a:solidFill>
            <a:srgbClr val="FFFFFF"/>
          </a:solidFill>
          <a:ln/>
        </p:spPr>
      </p:sp>
      <p:sp>
        <p:nvSpPr>
          <p:cNvPr id="6" name="Text 4"/>
          <p:cNvSpPr/>
          <p:nvPr/>
        </p:nvSpPr>
        <p:spPr>
          <a:xfrm>
            <a:off x="952500" y="1903735"/>
            <a:ext cx="15392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1 · Detect</a:t>
            </a:r>
            <a:endParaRPr lang="en-US" sz="1200" dirty="0"/>
          </a:p>
        </p:txBody>
      </p:sp>
      <p:sp>
        <p:nvSpPr>
          <p:cNvPr id="7" name="Text 5"/>
          <p:cNvSpPr/>
          <p:nvPr/>
        </p:nvSpPr>
        <p:spPr>
          <a:xfrm>
            <a:off x="952500" y="2167892"/>
            <a:ext cx="153924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3213A"/>
                </a:solidFill>
                <a:latin typeface="DM Sans" pitchFamily="34" charset="0"/>
                <a:ea typeface="DM Sans" pitchFamily="34" charset="-122"/>
                <a:cs typeface="DM Sans" pitchFamily="34" charset="-120"/>
              </a:rPr>
              <a:t>A key skill has weak evidence</a:t>
            </a:r>
            <a:endParaRPr lang="en-US" sz="1400" dirty="0"/>
          </a:p>
        </p:txBody>
      </p:sp>
      <p:pic>
        <p:nvPicPr>
          <p:cNvPr id="8" name="Image 0" descr="arrow-right"/>
          <p:cNvPicPr>
            <a:picLocks noChangeAspect="1"/>
          </p:cNvPicPr>
          <p:nvPr/>
        </p:nvPicPr>
        <p:blipFill>
          <a:blip r:embed="rId3"/>
          <a:srcRect/>
          <a:stretch/>
        </p:blipFill>
        <p:spPr>
          <a:xfrm>
            <a:off x="2656840" y="2197100"/>
            <a:ext cx="279400" cy="139700"/>
          </a:xfrm>
          <a:prstGeom prst="rect">
            <a:avLst/>
          </a:prstGeom>
        </p:spPr>
      </p:pic>
      <p:sp>
        <p:nvSpPr>
          <p:cNvPr id="9" name="Shape 6"/>
          <p:cNvSpPr/>
          <p:nvPr/>
        </p:nvSpPr>
        <p:spPr>
          <a:xfrm>
            <a:off x="3012440" y="1648458"/>
            <a:ext cx="1767840" cy="1236980"/>
          </a:xfrm>
          <a:prstGeom prst="roundRect">
            <a:avLst>
              <a:gd name="adj" fmla="val 8214"/>
            </a:avLst>
          </a:prstGeom>
          <a:solidFill>
            <a:srgbClr val="FFFFFF"/>
          </a:solidFill>
          <a:ln/>
        </p:spPr>
      </p:sp>
      <p:sp>
        <p:nvSpPr>
          <p:cNvPr id="10" name="Text 7"/>
          <p:cNvSpPr/>
          <p:nvPr/>
        </p:nvSpPr>
        <p:spPr>
          <a:xfrm>
            <a:off x="3152140" y="1788158"/>
            <a:ext cx="15392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2 · Ask</a:t>
            </a:r>
            <a:endParaRPr lang="en-US" sz="1200" dirty="0"/>
          </a:p>
        </p:txBody>
      </p:sp>
      <p:sp>
        <p:nvSpPr>
          <p:cNvPr id="11" name="Text 8"/>
          <p:cNvSpPr/>
          <p:nvPr/>
        </p:nvSpPr>
        <p:spPr>
          <a:xfrm>
            <a:off x="3152140" y="2052327"/>
            <a:ext cx="1539240"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3213A"/>
                </a:solidFill>
                <a:latin typeface="DM Sans" pitchFamily="34" charset="0"/>
                <a:ea typeface="DM Sans" pitchFamily="34" charset="-122"/>
                <a:cs typeface="DM Sans" pitchFamily="34" charset="-120"/>
              </a:rPr>
              <a:t>One targeted follow-up question</a:t>
            </a:r>
            <a:endParaRPr lang="en-US" sz="1400" dirty="0"/>
          </a:p>
        </p:txBody>
      </p:sp>
      <p:pic>
        <p:nvPicPr>
          <p:cNvPr id="12" name="Image 1" descr="arrow-right"/>
          <p:cNvPicPr>
            <a:picLocks noChangeAspect="1"/>
          </p:cNvPicPr>
          <p:nvPr/>
        </p:nvPicPr>
        <p:blipFill>
          <a:blip r:embed="rId3"/>
          <a:srcRect/>
          <a:stretch/>
        </p:blipFill>
        <p:spPr>
          <a:xfrm>
            <a:off x="4856480" y="2197100"/>
            <a:ext cx="279400" cy="139700"/>
          </a:xfrm>
          <a:prstGeom prst="rect">
            <a:avLst/>
          </a:prstGeom>
        </p:spPr>
      </p:pic>
      <p:sp>
        <p:nvSpPr>
          <p:cNvPr id="13" name="Shape 9"/>
          <p:cNvSpPr/>
          <p:nvPr/>
        </p:nvSpPr>
        <p:spPr>
          <a:xfrm>
            <a:off x="5212080" y="1764035"/>
            <a:ext cx="1767840" cy="1005840"/>
          </a:xfrm>
          <a:prstGeom prst="roundRect">
            <a:avLst>
              <a:gd name="adj" fmla="val 10101"/>
            </a:avLst>
          </a:prstGeom>
          <a:solidFill>
            <a:srgbClr val="FFFFFF"/>
          </a:solidFill>
          <a:ln/>
        </p:spPr>
      </p:sp>
      <p:sp>
        <p:nvSpPr>
          <p:cNvPr id="14" name="Text 10"/>
          <p:cNvSpPr/>
          <p:nvPr/>
        </p:nvSpPr>
        <p:spPr>
          <a:xfrm>
            <a:off x="5351780" y="1903735"/>
            <a:ext cx="15392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3 · Answer</a:t>
            </a:r>
            <a:endParaRPr lang="en-US" sz="1200" dirty="0"/>
          </a:p>
        </p:txBody>
      </p:sp>
      <p:sp>
        <p:nvSpPr>
          <p:cNvPr id="15" name="Text 11"/>
          <p:cNvSpPr/>
          <p:nvPr/>
        </p:nvSpPr>
        <p:spPr>
          <a:xfrm>
            <a:off x="5351780" y="2167892"/>
            <a:ext cx="153924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3213A"/>
                </a:solidFill>
                <a:latin typeface="DM Sans" pitchFamily="34" charset="0"/>
                <a:ea typeface="DM Sans" pitchFamily="34" charset="-122"/>
                <a:cs typeface="DM Sans" pitchFamily="34" charset="-120"/>
              </a:rPr>
              <a:t>Candidate replies by text or voice</a:t>
            </a:r>
            <a:endParaRPr lang="en-US" sz="1400" dirty="0"/>
          </a:p>
        </p:txBody>
      </p:sp>
      <p:pic>
        <p:nvPicPr>
          <p:cNvPr id="16" name="Image 2" descr="arrow-right"/>
          <p:cNvPicPr>
            <a:picLocks noChangeAspect="1"/>
          </p:cNvPicPr>
          <p:nvPr/>
        </p:nvPicPr>
        <p:blipFill>
          <a:blip r:embed="rId3"/>
          <a:srcRect/>
          <a:stretch/>
        </p:blipFill>
        <p:spPr>
          <a:xfrm>
            <a:off x="7056120" y="2197100"/>
            <a:ext cx="279400" cy="139700"/>
          </a:xfrm>
          <a:prstGeom prst="rect">
            <a:avLst/>
          </a:prstGeom>
        </p:spPr>
      </p:pic>
      <p:sp>
        <p:nvSpPr>
          <p:cNvPr id="17" name="Shape 12"/>
          <p:cNvSpPr/>
          <p:nvPr/>
        </p:nvSpPr>
        <p:spPr>
          <a:xfrm>
            <a:off x="7411720" y="1764035"/>
            <a:ext cx="1767840" cy="1005840"/>
          </a:xfrm>
          <a:prstGeom prst="roundRect">
            <a:avLst>
              <a:gd name="adj" fmla="val 10101"/>
            </a:avLst>
          </a:prstGeom>
          <a:solidFill>
            <a:srgbClr val="FFFFFF"/>
          </a:solidFill>
          <a:ln/>
        </p:spPr>
      </p:sp>
      <p:sp>
        <p:nvSpPr>
          <p:cNvPr id="18" name="Text 13"/>
          <p:cNvSpPr/>
          <p:nvPr/>
        </p:nvSpPr>
        <p:spPr>
          <a:xfrm>
            <a:off x="7551420" y="1903735"/>
            <a:ext cx="15392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4 · Score</a:t>
            </a:r>
            <a:endParaRPr lang="en-US" sz="1200" dirty="0"/>
          </a:p>
        </p:txBody>
      </p:sp>
      <p:sp>
        <p:nvSpPr>
          <p:cNvPr id="19" name="Text 14"/>
          <p:cNvSpPr/>
          <p:nvPr/>
        </p:nvSpPr>
        <p:spPr>
          <a:xfrm>
            <a:off x="7551420" y="2167892"/>
            <a:ext cx="153924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3213A"/>
                </a:solidFill>
                <a:latin typeface="DM Sans" pitchFamily="34" charset="0"/>
                <a:ea typeface="DM Sans" pitchFamily="34" charset="-122"/>
                <a:cs typeface="DM Sans" pitchFamily="34" charset="-120"/>
              </a:rPr>
              <a:t>Against the role's rubric</a:t>
            </a:r>
            <a:endParaRPr lang="en-US" sz="1400" dirty="0"/>
          </a:p>
        </p:txBody>
      </p:sp>
      <p:pic>
        <p:nvPicPr>
          <p:cNvPr id="20" name="Image 3" descr="arrow-right"/>
          <p:cNvPicPr>
            <a:picLocks noChangeAspect="1"/>
          </p:cNvPicPr>
          <p:nvPr/>
        </p:nvPicPr>
        <p:blipFill>
          <a:blip r:embed="rId3"/>
          <a:srcRect/>
          <a:stretch/>
        </p:blipFill>
        <p:spPr>
          <a:xfrm>
            <a:off x="9255760" y="2197100"/>
            <a:ext cx="279400" cy="139700"/>
          </a:xfrm>
          <a:prstGeom prst="rect">
            <a:avLst/>
          </a:prstGeom>
        </p:spPr>
      </p:pic>
      <p:sp>
        <p:nvSpPr>
          <p:cNvPr id="21" name="Shape 15"/>
          <p:cNvSpPr/>
          <p:nvPr/>
        </p:nvSpPr>
        <p:spPr>
          <a:xfrm>
            <a:off x="9611360" y="1648458"/>
            <a:ext cx="1767840" cy="1236980"/>
          </a:xfrm>
          <a:prstGeom prst="roundRect">
            <a:avLst>
              <a:gd name="adj" fmla="val 8214"/>
            </a:avLst>
          </a:prstGeom>
          <a:solidFill>
            <a:srgbClr val="13213A"/>
          </a:solidFill>
          <a:ln/>
        </p:spPr>
      </p:sp>
      <p:sp>
        <p:nvSpPr>
          <p:cNvPr id="22" name="Text 16"/>
          <p:cNvSpPr/>
          <p:nvPr/>
        </p:nvSpPr>
        <p:spPr>
          <a:xfrm>
            <a:off x="9751060" y="1788158"/>
            <a:ext cx="15392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5 · Update</a:t>
            </a:r>
            <a:endParaRPr lang="en-US" sz="1200" dirty="0"/>
          </a:p>
        </p:txBody>
      </p:sp>
      <p:sp>
        <p:nvSpPr>
          <p:cNvPr id="23" name="Text 17"/>
          <p:cNvSpPr/>
          <p:nvPr/>
        </p:nvSpPr>
        <p:spPr>
          <a:xfrm>
            <a:off x="9751060" y="2052327"/>
            <a:ext cx="1539240"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7F6F2"/>
                </a:solidFill>
                <a:latin typeface="DM Sans" pitchFamily="34" charset="0"/>
                <a:ea typeface="DM Sans" pitchFamily="34" charset="-122"/>
                <a:cs typeface="DM Sans" pitchFamily="34" charset="-120"/>
              </a:rPr>
              <a:t>Evidence record and what changed</a:t>
            </a:r>
            <a:endParaRPr lang="en-US" sz="1400" dirty="0"/>
          </a:p>
        </p:txBody>
      </p:sp>
      <p:sp>
        <p:nvSpPr>
          <p:cNvPr id="24" name="Shape 18"/>
          <p:cNvSpPr/>
          <p:nvPr/>
        </p:nvSpPr>
        <p:spPr>
          <a:xfrm>
            <a:off x="812800" y="3215642"/>
            <a:ext cx="5194300" cy="1394460"/>
          </a:xfrm>
          <a:prstGeom prst="roundRect">
            <a:avLst>
              <a:gd name="adj" fmla="val 7286"/>
            </a:avLst>
          </a:prstGeom>
          <a:solidFill>
            <a:srgbClr val="FFFFFF"/>
          </a:solidFill>
          <a:ln/>
        </p:spPr>
      </p:sp>
      <p:sp>
        <p:nvSpPr>
          <p:cNvPr id="25" name="Text 19"/>
          <p:cNvSpPr/>
          <p:nvPr/>
        </p:nvSpPr>
        <p:spPr>
          <a:xfrm>
            <a:off x="990600" y="3393442"/>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Example</a:t>
            </a:r>
            <a:endParaRPr lang="en-US" sz="1500" dirty="0"/>
          </a:p>
        </p:txBody>
      </p:sp>
      <p:sp>
        <p:nvSpPr>
          <p:cNvPr id="26" name="Text 20"/>
          <p:cNvSpPr/>
          <p:nvPr/>
        </p:nvSpPr>
        <p:spPr>
          <a:xfrm>
            <a:off x="990600" y="3685542"/>
            <a:ext cx="49838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A resume says "led an engineering team" with no detail. Huptle asks for one technical decision, the trade-offs considered and the result.</a:t>
            </a:r>
            <a:endParaRPr lang="en-US" sz="1400" dirty="0"/>
          </a:p>
        </p:txBody>
      </p:sp>
      <p:sp>
        <p:nvSpPr>
          <p:cNvPr id="27" name="Shape 21"/>
          <p:cNvSpPr/>
          <p:nvPr/>
        </p:nvSpPr>
        <p:spPr>
          <a:xfrm>
            <a:off x="6184900" y="3215642"/>
            <a:ext cx="5194300" cy="1394460"/>
          </a:xfrm>
          <a:prstGeom prst="roundRect">
            <a:avLst>
              <a:gd name="adj" fmla="val 7286"/>
            </a:avLst>
          </a:prstGeom>
          <a:solidFill>
            <a:srgbClr val="FFFFFF"/>
          </a:solidFill>
          <a:ln/>
        </p:spPr>
      </p:sp>
      <p:sp>
        <p:nvSpPr>
          <p:cNvPr id="28" name="Text 22"/>
          <p:cNvSpPr/>
          <p:nvPr/>
        </p:nvSpPr>
        <p:spPr>
          <a:xfrm>
            <a:off x="6362700" y="3393442"/>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Why it stands out</a:t>
            </a:r>
            <a:endParaRPr lang="en-US" sz="1500" dirty="0"/>
          </a:p>
        </p:txBody>
      </p:sp>
      <p:sp>
        <p:nvSpPr>
          <p:cNvPr id="29" name="Text 23"/>
          <p:cNvSpPr/>
          <p:nvPr/>
        </p:nvSpPr>
        <p:spPr>
          <a:xfrm>
            <a:off x="6362700" y="3685542"/>
            <a:ext cx="49838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Most tools score only what is on the page. Huptle finds the next piece of evidence a recruiter needs, then collects it.</a:t>
            </a:r>
            <a:endParaRPr lang="en-US" sz="1400" dirty="0"/>
          </a:p>
        </p:txBody>
      </p:sp>
      <p:sp>
        <p:nvSpPr>
          <p:cNvPr id="30" name="Text 2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5A4A"/>
                </a:solidFill>
                <a:latin typeface="DM Sans" pitchFamily="34" charset="0"/>
                <a:ea typeface="DM Sans" pitchFamily="34" charset="-122"/>
                <a:cs typeface="DM Sans" pitchFamily="34" charset="-120"/>
              </a:rPr>
              <a:t>Proposed differentiator; none found in our scan, which is not proof that none exists · 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28962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NOVELTY 2 · MEDIUM COST</a:t>
            </a:r>
            <a:endParaRPr lang="en-US" sz="1200" dirty="0"/>
          </a:p>
        </p:txBody>
      </p:sp>
      <p:sp>
        <p:nvSpPr>
          <p:cNvPr id="3" name="Text 1"/>
          <p:cNvSpPr>
            <a:spLocks noGrp="1"/>
          </p:cNvSpPr>
          <p:nvPr>
            <p:ph type="title"/>
          </p:nvPr>
        </p:nvSpPr>
        <p:spPr>
          <a:xfrm>
            <a:off x="812800" y="899158"/>
            <a:ext cx="2896267"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Decision Trail</a:t>
            </a:r>
            <a:endParaRPr lang="en-US" sz="3000" dirty="0"/>
          </a:p>
        </p:txBody>
      </p:sp>
      <p:sp>
        <p:nvSpPr>
          <p:cNvPr id="4" name="Text 2"/>
          <p:cNvSpPr/>
          <p:nvPr/>
        </p:nvSpPr>
        <p:spPr>
          <a:xfrm>
            <a:off x="8539242" y="1003300"/>
            <a:ext cx="2839958" cy="314960"/>
          </a:xfrm>
          <a:prstGeom prst="roundRect">
            <a:avLst>
              <a:gd name="adj" fmla="val 50000"/>
            </a:avLst>
          </a:prstGeom>
          <a:solidFill>
            <a:srgbClr val="1F5FC4"/>
          </a:solidFill>
          <a:ln/>
        </p:spPr>
        <p:txBody>
          <a:bodyPr wrap="none" lIns="0" tIns="0" rIns="0" bIns="0" rtlCol="0" anchor="ctr">
            <a:normAutofit/>
          </a:bodyPr>
          <a:lstStyle/>
          <a:p>
            <a:pPr marL="0" indent="0" algn="ctr">
              <a:lnSpc>
                <a:spcPts val="1680"/>
              </a:lnSpc>
              <a:buNone/>
            </a:pPr>
            <a:r>
              <a:rPr lang="en-US" sz="1200" dirty="0">
                <a:solidFill>
                  <a:srgbClr val="F7F6F2"/>
                </a:solidFill>
                <a:latin typeface="DM Sans" pitchFamily="34" charset="0"/>
                <a:ea typeface="DM Sans" pitchFamily="34" charset="-122"/>
                <a:cs typeface="DM Sans" pitchFamily="34" charset="-120"/>
              </a:rPr>
              <a:t>Inside a job-specific work simulation</a:t>
            </a:r>
            <a:endParaRPr lang="en-US" sz="1200" dirty="0"/>
          </a:p>
        </p:txBody>
      </p:sp>
      <p:sp>
        <p:nvSpPr>
          <p:cNvPr id="5" name="Shape 3"/>
          <p:cNvSpPr/>
          <p:nvPr/>
        </p:nvSpPr>
        <p:spPr>
          <a:xfrm>
            <a:off x="815975" y="1550033"/>
            <a:ext cx="4749006" cy="2207260"/>
          </a:xfrm>
          <a:prstGeom prst="roundRect">
            <a:avLst>
              <a:gd name="adj" fmla="val 4459"/>
            </a:avLst>
          </a:prstGeom>
          <a:solidFill>
            <a:srgbClr val="FFFFFF"/>
          </a:solidFill>
          <a:ln w="6350">
            <a:solidFill>
              <a:srgbClr val="DCDDD6"/>
            </a:solidFill>
            <a:prstDash val="solid"/>
          </a:ln>
        </p:spPr>
      </p:sp>
      <p:sp>
        <p:nvSpPr>
          <p:cNvPr id="6" name="Text 4"/>
          <p:cNvSpPr/>
          <p:nvPr/>
        </p:nvSpPr>
        <p:spPr>
          <a:xfrm>
            <a:off x="995680" y="1729742"/>
            <a:ext cx="4521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What it records</a:t>
            </a:r>
            <a:endParaRPr lang="en-US" sz="1500" dirty="0"/>
          </a:p>
        </p:txBody>
      </p:sp>
      <p:sp>
        <p:nvSpPr>
          <p:cNvPr id="7" name="Text 5"/>
          <p:cNvSpPr/>
          <p:nvPr/>
        </p:nvSpPr>
        <p:spPr>
          <a:xfrm>
            <a:off x="1080262" y="2034542"/>
            <a:ext cx="4429082" cy="127000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E4A5C"/>
                </a:solidFill>
                <a:latin typeface="DM Sans" pitchFamily="34" charset="0"/>
                <a:ea typeface="DM Sans" pitchFamily="34" charset="-122"/>
                <a:cs typeface="DM Sans" pitchFamily="34" charset="-120"/>
              </a:rPr>
              <a:t>The steps the candidate took</a:t>
            </a:r>
            <a:endParaRPr lang="en-US" sz="1400" dirty="0"/>
          </a:p>
          <a:p>
            <a:pPr marL="169418" indent="-169418" algn="l">
              <a:lnSpc>
                <a:spcPts val="1960"/>
              </a:lnSpc>
              <a:buSzPct val="100000"/>
              <a:buChar char="•"/>
            </a:pPr>
            <a:r>
              <a:rPr lang="en-US" sz="1400" dirty="0">
                <a:solidFill>
                  <a:srgbClr val="3E4A5C"/>
                </a:solidFill>
                <a:latin typeface="DM Sans" pitchFamily="34" charset="0"/>
                <a:ea typeface="DM Sans" pitchFamily="34" charset="-122"/>
                <a:cs typeface="DM Sans" pitchFamily="34" charset="-120"/>
              </a:rPr>
              <a:t>The evidence they looked at</a:t>
            </a:r>
            <a:endParaRPr lang="en-US" sz="1400" dirty="0"/>
          </a:p>
          <a:p>
            <a:pPr marL="169418" indent="-169418" algn="l">
              <a:lnSpc>
                <a:spcPts val="1960"/>
              </a:lnSpc>
              <a:buSzPct val="100000"/>
              <a:buChar char="•"/>
            </a:pPr>
            <a:r>
              <a:rPr lang="en-US" sz="1400" dirty="0">
                <a:solidFill>
                  <a:srgbClr val="3E4A5C"/>
                </a:solidFill>
                <a:latin typeface="DM Sans" pitchFamily="34" charset="0"/>
                <a:ea typeface="DM Sans" pitchFamily="34" charset="-122"/>
                <a:cs typeface="DM Sans" pitchFamily="34" charset="-120"/>
              </a:rPr>
              <a:t>Assumptions and checks they made</a:t>
            </a:r>
            <a:endParaRPr lang="en-US" sz="1400" dirty="0"/>
          </a:p>
          <a:p>
            <a:pPr marL="169418" indent="-169418" algn="l">
              <a:lnSpc>
                <a:spcPts val="1960"/>
              </a:lnSpc>
              <a:buSzPct val="100000"/>
              <a:buChar char="•"/>
            </a:pPr>
            <a:r>
              <a:rPr lang="en-US" sz="1400" dirty="0">
                <a:solidFill>
                  <a:srgbClr val="3E4A5C"/>
                </a:solidFill>
                <a:latin typeface="DM Sans" pitchFamily="34" charset="0"/>
                <a:ea typeface="DM Sans" pitchFamily="34" charset="-122"/>
                <a:cs typeface="DM Sans" pitchFamily="34" charset="-120"/>
              </a:rPr>
              <a:t>Alternatives and trade-offs considered</a:t>
            </a:r>
            <a:endParaRPr lang="en-US" sz="1400" dirty="0"/>
          </a:p>
          <a:p>
            <a:pPr marL="169418" indent="-169418" algn="l">
              <a:lnSpc>
                <a:spcPts val="1960"/>
              </a:lnSpc>
              <a:buSzPct val="100000"/>
              <a:buChar char="•"/>
            </a:pPr>
            <a:r>
              <a:rPr lang="en-US" sz="1400" dirty="0">
                <a:solidFill>
                  <a:srgbClr val="3E4A5C"/>
                </a:solidFill>
                <a:latin typeface="DM Sans" pitchFamily="34" charset="0"/>
                <a:ea typeface="DM Sans" pitchFamily="34" charset="-122"/>
                <a:cs typeface="DM Sans" pitchFamily="34" charset="-120"/>
              </a:rPr>
              <a:t>How the final answer links to those steps</a:t>
            </a:r>
            <a:endParaRPr lang="en-US" sz="1400" dirty="0"/>
          </a:p>
        </p:txBody>
      </p:sp>
      <p:sp>
        <p:nvSpPr>
          <p:cNvPr id="8" name="Shape 6"/>
          <p:cNvSpPr/>
          <p:nvPr/>
        </p:nvSpPr>
        <p:spPr>
          <a:xfrm>
            <a:off x="5749131" y="1550033"/>
            <a:ext cx="5626894" cy="2207260"/>
          </a:xfrm>
          <a:prstGeom prst="roundRect">
            <a:avLst>
              <a:gd name="adj" fmla="val 4459"/>
            </a:avLst>
          </a:prstGeom>
          <a:solidFill>
            <a:srgbClr val="FFFFFF"/>
          </a:solidFill>
          <a:ln w="6350">
            <a:solidFill>
              <a:srgbClr val="DCDDD6"/>
            </a:solidFill>
            <a:prstDash val="solid"/>
          </a:ln>
        </p:spPr>
      </p:sp>
      <p:sp>
        <p:nvSpPr>
          <p:cNvPr id="9" name="Text 7"/>
          <p:cNvSpPr/>
          <p:nvPr/>
        </p:nvSpPr>
        <p:spPr>
          <a:xfrm>
            <a:off x="5928836" y="1729742"/>
            <a:ext cx="54255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Same answer, different evidence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38996" y="2044702"/>
          <a:ext cx="5257323" cy="1532890"/>
        </p:xfrm>
        <a:graphic>
          <a:graphicData uri="http://schemas.openxmlformats.org/drawingml/2006/table">
            <a:tbl>
              <a:tblPr/>
              <a:tblGrid>
                <a:gridCol w="1156611">
                  <a:extLst>
                    <a:ext uri="{9D8B030D-6E8A-4147-A177-3AD203B41FA5}">
                      <a16:colId xmlns:a16="http://schemas.microsoft.com/office/drawing/2014/main" val="20000"/>
                    </a:ext>
                  </a:extLst>
                </a:gridCol>
                <a:gridCol w="2523515">
                  <a:extLst>
                    <a:ext uri="{9D8B030D-6E8A-4147-A177-3AD203B41FA5}">
                      <a16:colId xmlns:a16="http://schemas.microsoft.com/office/drawing/2014/main" val="20001"/>
                    </a:ext>
                  </a:extLst>
                </a:gridCol>
                <a:gridCol w="1577197">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3213A"/>
                          </a:solidFill>
                          <a:latin typeface="DM Sans" pitchFamily="34" charset="0"/>
                          <a:ea typeface="DM Sans" pitchFamily="34" charset="-122"/>
                          <a:cs typeface="DM Sans" pitchFamily="34" charset="-120"/>
                        </a:rPr>
                        <a:t>Candidate</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0B1A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1AB"/>
                      </a:solidFill>
                      <a:prstDash val="solid"/>
                      <a:round/>
                      <a:headEnd type="none" w="med" len="med"/>
                      <a:tailEnd type="none" w="med" len="med"/>
                    </a:lnB>
                    <a:solidFill>
                      <a:srgbClr val="DCDDD6"/>
                    </a:solidFill>
                  </a:tcPr>
                </a:tc>
                <a:tc>
                  <a:txBody>
                    <a:bodyPr/>
                    <a:lstStyle/>
                    <a:p>
                      <a:pPr marL="0" indent="0">
                        <a:lnSpc>
                          <a:spcPts val="1820"/>
                        </a:lnSpc>
                        <a:buNone/>
                      </a:pPr>
                      <a:r>
                        <a:rPr lang="en-US" sz="1300" b="1" dirty="0">
                          <a:solidFill>
                            <a:srgbClr val="13213A"/>
                          </a:solidFill>
                          <a:latin typeface="DM Sans" pitchFamily="34" charset="0"/>
                          <a:ea typeface="DM Sans" pitchFamily="34" charset="-122"/>
                          <a:cs typeface="DM Sans" pitchFamily="34" charset="-120"/>
                        </a:rPr>
                        <a:t>What they did</a:t>
                      </a:r>
                      <a:endParaRPr lang="en-US" sz="1300" dirty="0">
                        <a:latin typeface="DM Sans" charset="0"/>
                        <a:ea typeface="DM Sans" charset="0"/>
                        <a:cs typeface="DM Sans" charset="0"/>
                      </a:endParaRPr>
                    </a:p>
                  </a:txBody>
                  <a:tcPr marL="57785" marR="57785" marT="57785" marB="57785">
                    <a:lnL w="12700" cap="flat" cmpd="sng" algn="ctr">
                      <a:solidFill>
                        <a:srgbClr val="B0B1AB"/>
                      </a:solidFill>
                      <a:prstDash val="solid"/>
                      <a:round/>
                      <a:headEnd type="none" w="med" len="med"/>
                      <a:tailEnd type="none" w="med" len="med"/>
                    </a:lnL>
                    <a:lnR w="12700" cap="flat" cmpd="sng" algn="ctr">
                      <a:solidFill>
                        <a:srgbClr val="B0B1A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1AB"/>
                      </a:solidFill>
                      <a:prstDash val="solid"/>
                      <a:round/>
                      <a:headEnd type="none" w="med" len="med"/>
                      <a:tailEnd type="none" w="med" len="med"/>
                    </a:lnB>
                    <a:solidFill>
                      <a:srgbClr val="DCDDD6"/>
                    </a:solidFill>
                  </a:tcPr>
                </a:tc>
                <a:tc>
                  <a:txBody>
                    <a:bodyPr/>
                    <a:lstStyle/>
                    <a:p>
                      <a:pPr marL="0" indent="0">
                        <a:lnSpc>
                          <a:spcPts val="1820"/>
                        </a:lnSpc>
                        <a:buNone/>
                      </a:pPr>
                      <a:r>
                        <a:rPr lang="en-US" sz="1300" b="1" dirty="0">
                          <a:solidFill>
                            <a:srgbClr val="13213A"/>
                          </a:solidFill>
                          <a:latin typeface="DM Sans" pitchFamily="34" charset="0"/>
                          <a:ea typeface="DM Sans" pitchFamily="34" charset="-122"/>
                          <a:cs typeface="DM Sans" pitchFamily="34" charset="-120"/>
                        </a:rPr>
                        <a:t>Decision Trail</a:t>
                      </a:r>
                      <a:endParaRPr lang="en-US" sz="1300" dirty="0">
                        <a:latin typeface="DM Sans" charset="0"/>
                        <a:ea typeface="DM Sans" charset="0"/>
                        <a:cs typeface="DM Sans" charset="0"/>
                      </a:endParaRPr>
                    </a:p>
                  </a:txBody>
                  <a:tcPr marL="57785" marR="57785" marT="57785" marB="57785">
                    <a:lnL w="12700" cap="flat" cmpd="sng" algn="ctr">
                      <a:solidFill>
                        <a:srgbClr val="B0B1AB"/>
                      </a:solidFill>
                      <a:prstDash val="solid"/>
                      <a:round/>
                      <a:headEnd type="none" w="med" len="med"/>
                      <a:tailEnd type="none" w="med" len="med"/>
                    </a:lnL>
                    <a:lnR w="12700" cap="flat" cmpd="sng" algn="ctr">
                      <a:solidFill>
                        <a:srgbClr val="B0B1A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1AB"/>
                      </a:solidFill>
                      <a:prstDash val="solid"/>
                      <a:round/>
                      <a:headEnd type="none" w="med" len="med"/>
                      <a:tailEnd type="none" w="med" len="med"/>
                    </a:lnB>
                    <a:solidFill>
                      <a:srgbClr val="DCDDD6"/>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A</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1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Checked CPU, memory and recent releases, then scaled</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1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6B3A"/>
                          </a:solidFill>
                          <a:latin typeface="DM Sans" pitchFamily="34" charset="0"/>
                          <a:ea typeface="DM Sans" pitchFamily="34" charset="-122"/>
                          <a:cs typeface="DM Sans" pitchFamily="34" charset="-120"/>
                        </a:rPr>
                        <a:t>Strong evidence</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1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B</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Scaled the service straight away</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820"/>
                        </a:lnSpc>
                        <a:buNone/>
                      </a:pPr>
                      <a:r>
                        <a:rPr lang="en-US" sz="1300" dirty="0">
                          <a:solidFill>
                            <a:srgbClr val="A84716"/>
                          </a:solidFill>
                          <a:latin typeface="DM Sans" pitchFamily="34" charset="0"/>
                          <a:ea typeface="DM Sans" pitchFamily="34" charset="-122"/>
                          <a:cs typeface="DM Sans" pitchFamily="34" charset="-120"/>
                        </a:rPr>
                        <a:t>Weak evidence</a:t>
                      </a:r>
                      <a:endParaRPr lang="en-US" sz="1300" dirty="0">
                        <a:latin typeface="DM Sans" charset="0"/>
                        <a:ea typeface="DM Sans" charset="0"/>
                        <a:cs typeface="DM Sans" charset="0"/>
                      </a:endParaRPr>
                    </a:p>
                  </a:txBody>
                  <a:tcPr marL="57785" marR="57785" marT="57785" marB="57785">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bl>
          </a:graphicData>
        </a:graphic>
      </p:graphicFrame>
      <p:sp>
        <p:nvSpPr>
          <p:cNvPr id="11" name="Text 8"/>
          <p:cNvSpPr/>
          <p:nvPr/>
        </p:nvSpPr>
        <p:spPr>
          <a:xfrm>
            <a:off x="812800" y="3989077"/>
            <a:ext cx="10566400" cy="777240"/>
          </a:xfrm>
          <a:prstGeom prst="roundRect">
            <a:avLst>
              <a:gd name="adj" fmla="val 13072"/>
            </a:avLst>
          </a:prstGeom>
          <a:solidFill>
            <a:srgbClr val="E3ECFA"/>
          </a:solidFill>
          <a:ln/>
        </p:spPr>
        <p:txBody>
          <a:bodyPr wrap="square" lIns="148042" tIns="109942" rIns="0" bIns="84542" rtlCol="0" anchor="t">
            <a:normAutofit/>
          </a:bodyPr>
          <a:lstStyle/>
          <a:p>
            <a:pPr marL="0" indent="0" algn="l">
              <a:lnSpc>
                <a:spcPts val="1960"/>
              </a:lnSpc>
              <a:buNone/>
            </a:pPr>
            <a:r>
              <a:rPr lang="en-US" sz="1400" b="1" dirty="0">
                <a:solidFill>
                  <a:srgbClr val="13213A"/>
                </a:solidFill>
                <a:latin typeface="DM Sans" pitchFamily="34" charset="0"/>
                <a:ea typeface="DM Sans" pitchFamily="34" charset="-122"/>
                <a:cs typeface="DM Sans" pitchFamily="34" charset="-120"/>
              </a:rPr>
              <a:t>Honest caveat:</a:t>
            </a:r>
            <a:r>
              <a:rPr lang="en-US" sz="1400" dirty="0">
                <a:solidFill>
                  <a:srgbClr val="13213A"/>
                </a:solidFill>
                <a:latin typeface="DM Sans" pitchFamily="34" charset="0"/>
                <a:ea typeface="DM Sans" pitchFamily="34" charset="-122"/>
                <a:cs typeface="DM Sans" pitchFamily="34" charset="-120"/>
              </a:rPr>
              <a:t> WorkProbe and HeyMilo already log actions in simulations. We will pilot one role family to test whether a structured, evidence-linked trail adds value for recruiters.</a:t>
            </a:r>
            <a:endParaRPr lang="en-US" sz="1400" dirty="0"/>
          </a:p>
        </p:txBody>
      </p:sp>
      <p:sp>
        <p:nvSpPr>
          <p:cNvPr id="12" name="Text 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Priority P2, after the workflow is secure and reliable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3213A"/>
        </a:solidFill>
        <a:effectLst/>
      </p:bgPr>
    </p:bg>
    <p:spTree>
      <p:nvGrpSpPr>
        <p:cNvPr id="1" name=""/>
        <p:cNvGrpSpPr/>
        <p:nvPr/>
      </p:nvGrpSpPr>
      <p:grpSpPr>
        <a:xfrm>
          <a:off x="0" y="0"/>
          <a:ext cx="0" cy="0"/>
          <a:chOff x="0" y="0"/>
          <a:chExt cx="0" cy="0"/>
        </a:xfrm>
      </p:grpSpPr>
      <p:sp>
        <p:nvSpPr>
          <p:cNvPr id="2" name="Text 0"/>
          <p:cNvSpPr/>
          <p:nvPr/>
        </p:nvSpPr>
        <p:spPr>
          <a:xfrm>
            <a:off x="812800" y="609600"/>
            <a:ext cx="437723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9A276"/>
                </a:solidFill>
                <a:latin typeface="DM Sans" pitchFamily="34" charset="0"/>
                <a:ea typeface="DM Sans" pitchFamily="34" charset="-122"/>
                <a:cs typeface="DM Sans" pitchFamily="34" charset="-120"/>
              </a:rPr>
              <a:t>NOVELTY 3 · LONG-TERM VISION</a:t>
            </a:r>
            <a:endParaRPr lang="en-US" sz="1200" dirty="0"/>
          </a:p>
        </p:txBody>
      </p:sp>
      <p:sp>
        <p:nvSpPr>
          <p:cNvPr id="3" name="Text 1"/>
          <p:cNvSpPr>
            <a:spLocks noGrp="1"/>
          </p:cNvSpPr>
          <p:nvPr>
            <p:ph type="title"/>
          </p:nvPr>
        </p:nvSpPr>
        <p:spPr>
          <a:xfrm>
            <a:off x="812800" y="899158"/>
            <a:ext cx="5099685"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7F6F2"/>
                </a:solidFill>
                <a:latin typeface="Space Grotesk" pitchFamily="34" charset="0"/>
                <a:ea typeface="Space Grotesk" pitchFamily="34" charset="-122"/>
                <a:cs typeface="Space Grotesk" pitchFamily="34" charset="-120"/>
              </a:rPr>
              <a:t>Hiring Intelligence Twin</a:t>
            </a:r>
            <a:endParaRPr lang="en-US" sz="3000" dirty="0"/>
          </a:p>
        </p:txBody>
      </p:sp>
      <p:sp>
        <p:nvSpPr>
          <p:cNvPr id="4" name="Text 2"/>
          <p:cNvSpPr/>
          <p:nvPr/>
        </p:nvSpPr>
        <p:spPr>
          <a:xfrm>
            <a:off x="9387919" y="1003300"/>
            <a:ext cx="1991281" cy="314960"/>
          </a:xfrm>
          <a:prstGeom prst="roundRect">
            <a:avLst>
              <a:gd name="adj" fmla="val 50000"/>
            </a:avLst>
          </a:prstGeom>
          <a:solidFill>
            <a:srgbClr val="E9A276"/>
          </a:solidFill>
          <a:ln/>
        </p:spPr>
        <p:txBody>
          <a:bodyPr wrap="none" lIns="0" tIns="0" rIns="0" bIns="0" rtlCol="0" anchor="ctr">
            <a:normAutofit/>
          </a:bodyPr>
          <a:lstStyle/>
          <a:p>
            <a:pPr marL="0" indent="0" algn="ctr">
              <a:lnSpc>
                <a:spcPts val="1680"/>
              </a:lnSpc>
              <a:buNone/>
            </a:pPr>
            <a:r>
              <a:rPr lang="en-US" sz="1200" dirty="0">
                <a:solidFill>
                  <a:srgbClr val="13213A"/>
                </a:solidFill>
                <a:latin typeface="DM Sans" pitchFamily="34" charset="0"/>
                <a:ea typeface="DM Sans" pitchFamily="34" charset="-122"/>
                <a:cs typeface="DM Sans" pitchFamily="34" charset="-120"/>
              </a:rPr>
              <a:t>Validate before investing</a:t>
            </a:r>
            <a:endParaRPr lang="en-US" sz="1200" dirty="0"/>
          </a:p>
        </p:txBody>
      </p:sp>
      <p:sp>
        <p:nvSpPr>
          <p:cNvPr id="5" name="Shape 3"/>
          <p:cNvSpPr/>
          <p:nvPr/>
        </p:nvSpPr>
        <p:spPr>
          <a:xfrm>
            <a:off x="812800" y="1648458"/>
            <a:ext cx="3166507" cy="1089660"/>
          </a:xfrm>
          <a:prstGeom prst="roundRect">
            <a:avLst>
              <a:gd name="adj" fmla="val 9324"/>
            </a:avLst>
          </a:prstGeom>
          <a:solidFill>
            <a:srgbClr val="1C2E4D"/>
          </a:solidFill>
          <a:ln/>
        </p:spPr>
      </p:sp>
      <p:sp>
        <p:nvSpPr>
          <p:cNvPr id="6" name="Text 4"/>
          <p:cNvSpPr/>
          <p:nvPr/>
        </p:nvSpPr>
        <p:spPr>
          <a:xfrm>
            <a:off x="977900" y="1813558"/>
            <a:ext cx="292139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Job Twin</a:t>
            </a:r>
            <a:endParaRPr lang="en-US" sz="1500" dirty="0"/>
          </a:p>
        </p:txBody>
      </p:sp>
      <p:sp>
        <p:nvSpPr>
          <p:cNvPr id="7" name="Text 5"/>
          <p:cNvSpPr/>
          <p:nvPr/>
        </p:nvSpPr>
        <p:spPr>
          <a:xfrm>
            <a:off x="977900" y="2092958"/>
            <a:ext cx="292139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DE8"/>
                </a:solidFill>
                <a:latin typeface="DM Sans" pitchFamily="34" charset="0"/>
                <a:ea typeface="DM Sans" pitchFamily="34" charset="-122"/>
                <a:cs typeface="DM Sans" pitchFamily="34" charset="-120"/>
              </a:rPr>
              <a:t>The role's duties, key decisions and success criteria</a:t>
            </a:r>
            <a:endParaRPr lang="en-US" sz="1400" dirty="0"/>
          </a:p>
        </p:txBody>
      </p:sp>
      <p:pic>
        <p:nvPicPr>
          <p:cNvPr id="8" name="Image 0" descr="arrow-right"/>
          <p:cNvPicPr>
            <a:picLocks noChangeAspect="1"/>
          </p:cNvPicPr>
          <p:nvPr/>
        </p:nvPicPr>
        <p:blipFill>
          <a:blip r:embed="rId3"/>
          <a:srcRect/>
          <a:stretch/>
        </p:blipFill>
        <p:spPr>
          <a:xfrm>
            <a:off x="4080907" y="2110742"/>
            <a:ext cx="330200" cy="165100"/>
          </a:xfrm>
          <a:prstGeom prst="rect">
            <a:avLst/>
          </a:prstGeom>
        </p:spPr>
      </p:pic>
      <p:sp>
        <p:nvSpPr>
          <p:cNvPr id="9" name="Shape 6"/>
          <p:cNvSpPr/>
          <p:nvPr/>
        </p:nvSpPr>
        <p:spPr>
          <a:xfrm>
            <a:off x="4512707" y="1648458"/>
            <a:ext cx="3166586" cy="1089660"/>
          </a:xfrm>
          <a:prstGeom prst="roundRect">
            <a:avLst>
              <a:gd name="adj" fmla="val 9324"/>
            </a:avLst>
          </a:prstGeom>
          <a:solidFill>
            <a:srgbClr val="1C2E4D"/>
          </a:solidFill>
          <a:ln/>
        </p:spPr>
      </p:sp>
      <p:sp>
        <p:nvSpPr>
          <p:cNvPr id="10" name="Text 7"/>
          <p:cNvSpPr/>
          <p:nvPr/>
        </p:nvSpPr>
        <p:spPr>
          <a:xfrm>
            <a:off x="4677807" y="1813558"/>
            <a:ext cx="292147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Decision Profile</a:t>
            </a:r>
            <a:endParaRPr lang="en-US" sz="1500" dirty="0"/>
          </a:p>
        </p:txBody>
      </p:sp>
      <p:sp>
        <p:nvSpPr>
          <p:cNvPr id="11" name="Text 8"/>
          <p:cNvSpPr/>
          <p:nvPr/>
        </p:nvSpPr>
        <p:spPr>
          <a:xfrm>
            <a:off x="4677807" y="2092958"/>
            <a:ext cx="292147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DE8"/>
                </a:solidFill>
                <a:latin typeface="DM Sans" pitchFamily="34" charset="0"/>
                <a:ea typeface="DM Sans" pitchFamily="34" charset="-122"/>
                <a:cs typeface="DM Sans" pitchFamily="34" charset="-120"/>
              </a:rPr>
              <a:t>Evidence of how each candidate works and decides</a:t>
            </a:r>
            <a:endParaRPr lang="en-US" sz="1400" dirty="0"/>
          </a:p>
        </p:txBody>
      </p:sp>
      <p:pic>
        <p:nvPicPr>
          <p:cNvPr id="12" name="Image 1" descr="arrow-right"/>
          <p:cNvPicPr>
            <a:picLocks noChangeAspect="1"/>
          </p:cNvPicPr>
          <p:nvPr/>
        </p:nvPicPr>
        <p:blipFill>
          <a:blip r:embed="rId3"/>
          <a:srcRect/>
          <a:stretch/>
        </p:blipFill>
        <p:spPr>
          <a:xfrm>
            <a:off x="7780893" y="2110742"/>
            <a:ext cx="330200" cy="165100"/>
          </a:xfrm>
          <a:prstGeom prst="rect">
            <a:avLst/>
          </a:prstGeom>
        </p:spPr>
      </p:pic>
      <p:sp>
        <p:nvSpPr>
          <p:cNvPr id="13" name="Shape 9"/>
          <p:cNvSpPr/>
          <p:nvPr/>
        </p:nvSpPr>
        <p:spPr>
          <a:xfrm>
            <a:off x="8212693" y="1648458"/>
            <a:ext cx="3166507" cy="1089660"/>
          </a:xfrm>
          <a:prstGeom prst="roundRect">
            <a:avLst>
              <a:gd name="adj" fmla="val 9324"/>
            </a:avLst>
          </a:prstGeom>
          <a:solidFill>
            <a:srgbClr val="1C2E4D"/>
          </a:solidFill>
          <a:ln/>
        </p:spPr>
      </p:sp>
      <p:sp>
        <p:nvSpPr>
          <p:cNvPr id="14" name="Text 10"/>
          <p:cNvSpPr/>
          <p:nvPr/>
        </p:nvSpPr>
        <p:spPr>
          <a:xfrm>
            <a:off x="8377793" y="1813558"/>
            <a:ext cx="292139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Outcome Model</a:t>
            </a:r>
            <a:endParaRPr lang="en-US" sz="1500" dirty="0"/>
          </a:p>
        </p:txBody>
      </p:sp>
      <p:sp>
        <p:nvSpPr>
          <p:cNvPr id="15" name="Text 11"/>
          <p:cNvSpPr/>
          <p:nvPr/>
        </p:nvSpPr>
        <p:spPr>
          <a:xfrm>
            <a:off x="8377793" y="2092958"/>
            <a:ext cx="292139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D5DDE8"/>
                </a:solidFill>
                <a:latin typeface="DM Sans" pitchFamily="34" charset="0"/>
                <a:ea typeface="DM Sans" pitchFamily="34" charset="-122"/>
                <a:cs typeface="DM Sans" pitchFamily="34" charset="-120"/>
              </a:rPr>
              <a:t>Which signals actually predict later job outcomes</a:t>
            </a:r>
            <a:endParaRPr lang="en-US" sz="1400" dirty="0"/>
          </a:p>
        </p:txBody>
      </p:sp>
      <p:sp>
        <p:nvSpPr>
          <p:cNvPr id="16" name="Text 12"/>
          <p:cNvSpPr/>
          <p:nvPr/>
        </p:nvSpPr>
        <p:spPr>
          <a:xfrm>
            <a:off x="812800" y="306832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Example signals for an AI engineer</a:t>
            </a:r>
            <a:endParaRPr lang="en-US" sz="1200" dirty="0"/>
          </a:p>
        </p:txBody>
      </p:sp>
      <p:sp>
        <p:nvSpPr>
          <p:cNvPr id="17" name="Text 13"/>
          <p:cNvSpPr/>
          <p:nvPr/>
        </p:nvSpPr>
        <p:spPr>
          <a:xfrm>
            <a:off x="815975" y="3373760"/>
            <a:ext cx="1729819" cy="293370"/>
          </a:xfrm>
          <a:prstGeom prst="roundRect">
            <a:avLst>
              <a:gd name="adj" fmla="val 50000"/>
            </a:avLst>
          </a:prstGeom>
          <a:noFill/>
          <a:ln w="6350">
            <a:solidFill>
              <a:srgbClr val="4A5D7E"/>
            </a:solidFill>
            <a:prstDash val="solid"/>
          </a:ln>
        </p:spPr>
        <p:txBody>
          <a:bodyPr wrap="none" lIns="0" tIns="0" rIns="0" bIns="0" rtlCol="0" anchor="ctr">
            <a:normAutofit/>
          </a:bodyPr>
          <a:lstStyle/>
          <a:p>
            <a:pPr marL="0" indent="0" algn="ctr">
              <a:lnSpc>
                <a:spcPts val="1680"/>
              </a:lnSpc>
              <a:buNone/>
            </a:pPr>
            <a:r>
              <a:rPr lang="en-US" sz="1200" dirty="0">
                <a:solidFill>
                  <a:srgbClr val="D5DDE8"/>
                </a:solidFill>
                <a:latin typeface="DM Sans" pitchFamily="34" charset="0"/>
                <a:ea typeface="DM Sans" pitchFamily="34" charset="-122"/>
                <a:cs typeface="DM Sans" pitchFamily="34" charset="-120"/>
              </a:rPr>
              <a:t>Checks model output</a:t>
            </a:r>
            <a:endParaRPr lang="en-US" sz="1200" dirty="0"/>
          </a:p>
        </p:txBody>
      </p:sp>
      <p:sp>
        <p:nvSpPr>
          <p:cNvPr id="18" name="Text 14"/>
          <p:cNvSpPr/>
          <p:nvPr/>
        </p:nvSpPr>
        <p:spPr>
          <a:xfrm>
            <a:off x="2628344" y="3373760"/>
            <a:ext cx="1692831" cy="293370"/>
          </a:xfrm>
          <a:prstGeom prst="roundRect">
            <a:avLst>
              <a:gd name="adj" fmla="val 50000"/>
            </a:avLst>
          </a:prstGeom>
          <a:noFill/>
          <a:ln w="6350">
            <a:solidFill>
              <a:srgbClr val="4A5D7E"/>
            </a:solidFill>
            <a:prstDash val="solid"/>
          </a:ln>
        </p:spPr>
        <p:txBody>
          <a:bodyPr wrap="none" lIns="0" tIns="0" rIns="0" bIns="0" rtlCol="0" anchor="ctr">
            <a:normAutofit/>
          </a:bodyPr>
          <a:lstStyle/>
          <a:p>
            <a:pPr marL="0" indent="0" algn="ctr">
              <a:lnSpc>
                <a:spcPts val="1680"/>
              </a:lnSpc>
              <a:buNone/>
            </a:pPr>
            <a:r>
              <a:rPr lang="en-US" sz="1200" dirty="0">
                <a:solidFill>
                  <a:srgbClr val="D5DDE8"/>
                </a:solidFill>
                <a:latin typeface="DM Sans" pitchFamily="34" charset="0"/>
                <a:ea typeface="DM Sans" pitchFamily="34" charset="-122"/>
                <a:cs typeface="DM Sans" pitchFamily="34" charset="-120"/>
              </a:rPr>
              <a:t>Finds root cause first</a:t>
            </a:r>
            <a:endParaRPr lang="en-US" sz="1200" dirty="0"/>
          </a:p>
        </p:txBody>
      </p:sp>
      <p:sp>
        <p:nvSpPr>
          <p:cNvPr id="19" name="Text 15"/>
          <p:cNvSpPr/>
          <p:nvPr/>
        </p:nvSpPr>
        <p:spPr>
          <a:xfrm>
            <a:off x="4403725" y="3373760"/>
            <a:ext cx="2203768" cy="293370"/>
          </a:xfrm>
          <a:prstGeom prst="roundRect">
            <a:avLst>
              <a:gd name="adj" fmla="val 50000"/>
            </a:avLst>
          </a:prstGeom>
          <a:noFill/>
          <a:ln w="6350">
            <a:solidFill>
              <a:srgbClr val="4A5D7E"/>
            </a:solidFill>
            <a:prstDash val="solid"/>
          </a:ln>
        </p:spPr>
        <p:txBody>
          <a:bodyPr wrap="none" lIns="0" tIns="0" rIns="0" bIns="0" rtlCol="0" anchor="ctr">
            <a:normAutofit/>
          </a:bodyPr>
          <a:lstStyle/>
          <a:p>
            <a:pPr marL="0" indent="0" algn="ctr">
              <a:lnSpc>
                <a:spcPts val="1680"/>
              </a:lnSpc>
              <a:buNone/>
            </a:pPr>
            <a:r>
              <a:rPr lang="en-US" sz="1200" dirty="0">
                <a:solidFill>
                  <a:srgbClr val="D5DDE8"/>
                </a:solidFill>
                <a:latin typeface="DM Sans" pitchFamily="34" charset="0"/>
                <a:ea typeface="DM Sans" pitchFamily="34" charset="-122"/>
                <a:cs typeface="DM Sans" pitchFamily="34" charset="-120"/>
              </a:rPr>
              <a:t>Considers security and data</a:t>
            </a:r>
            <a:endParaRPr lang="en-US" sz="1200" dirty="0"/>
          </a:p>
        </p:txBody>
      </p:sp>
      <p:sp>
        <p:nvSpPr>
          <p:cNvPr id="20" name="Text 16"/>
          <p:cNvSpPr/>
          <p:nvPr/>
        </p:nvSpPr>
        <p:spPr>
          <a:xfrm>
            <a:off x="6690043" y="3373760"/>
            <a:ext cx="1564957" cy="293370"/>
          </a:xfrm>
          <a:prstGeom prst="roundRect">
            <a:avLst>
              <a:gd name="adj" fmla="val 50000"/>
            </a:avLst>
          </a:prstGeom>
          <a:noFill/>
          <a:ln w="6350">
            <a:solidFill>
              <a:srgbClr val="4A5D7E"/>
            </a:solidFill>
            <a:prstDash val="solid"/>
          </a:ln>
        </p:spPr>
        <p:txBody>
          <a:bodyPr wrap="none" lIns="0" tIns="0" rIns="0" bIns="0" rtlCol="0" anchor="ctr">
            <a:normAutofit/>
          </a:bodyPr>
          <a:lstStyle/>
          <a:p>
            <a:pPr marL="0" indent="0" algn="ctr">
              <a:lnSpc>
                <a:spcPts val="1680"/>
              </a:lnSpc>
              <a:buNone/>
            </a:pPr>
            <a:r>
              <a:rPr lang="en-US" sz="1200" dirty="0">
                <a:solidFill>
                  <a:srgbClr val="D5DDE8"/>
                </a:solidFill>
                <a:latin typeface="DM Sans" pitchFamily="34" charset="0"/>
                <a:ea typeface="DM Sans" pitchFamily="34" charset="-122"/>
                <a:cs typeface="DM Sans" pitchFamily="34" charset="-120"/>
              </a:rPr>
              <a:t>Admits uncertainty</a:t>
            </a:r>
            <a:endParaRPr lang="en-US" sz="1200" dirty="0"/>
          </a:p>
        </p:txBody>
      </p:sp>
      <p:sp>
        <p:nvSpPr>
          <p:cNvPr id="21" name="Text 17"/>
          <p:cNvSpPr/>
          <p:nvPr/>
        </p:nvSpPr>
        <p:spPr>
          <a:xfrm>
            <a:off x="8337550" y="3373760"/>
            <a:ext cx="2392918" cy="293370"/>
          </a:xfrm>
          <a:prstGeom prst="roundRect">
            <a:avLst>
              <a:gd name="adj" fmla="val 50000"/>
            </a:avLst>
          </a:prstGeom>
          <a:noFill/>
          <a:ln w="6350">
            <a:solidFill>
              <a:srgbClr val="4A5D7E"/>
            </a:solidFill>
            <a:prstDash val="solid"/>
          </a:ln>
        </p:spPr>
        <p:txBody>
          <a:bodyPr wrap="none" lIns="0" tIns="0" rIns="0" bIns="0" rtlCol="0" anchor="ctr">
            <a:normAutofit/>
          </a:bodyPr>
          <a:lstStyle/>
          <a:p>
            <a:pPr marL="0" indent="0" algn="ctr">
              <a:lnSpc>
                <a:spcPts val="1680"/>
              </a:lnSpc>
              <a:buNone/>
            </a:pPr>
            <a:r>
              <a:rPr lang="en-US" sz="1200" dirty="0">
                <a:solidFill>
                  <a:srgbClr val="D5DDE8"/>
                </a:solidFill>
                <a:latin typeface="DM Sans" pitchFamily="34" charset="0"/>
                <a:ea typeface="DM Sans" pitchFamily="34" charset="-122"/>
                <a:cs typeface="DM Sans" pitchFamily="34" charset="-120"/>
              </a:rPr>
              <a:t>Balances quality, cost and time</a:t>
            </a:r>
            <a:endParaRPr lang="en-US" sz="1200" dirty="0"/>
          </a:p>
        </p:txBody>
      </p:sp>
      <p:sp>
        <p:nvSpPr>
          <p:cNvPr id="22" name="Text 18"/>
          <p:cNvSpPr/>
          <p:nvPr/>
        </p:nvSpPr>
        <p:spPr>
          <a:xfrm>
            <a:off x="812800" y="40005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A276"/>
                </a:solidFill>
                <a:latin typeface="DM Sans" pitchFamily="34" charset="0"/>
                <a:ea typeface="DM Sans" pitchFamily="34" charset="-122"/>
                <a:cs typeface="DM Sans" pitchFamily="34" charset="-120"/>
              </a:rPr>
              <a:t>Potential moat:</a:t>
            </a:r>
            <a:r>
              <a:rPr lang="en-US" sz="1400" dirty="0">
                <a:solidFill>
                  <a:srgbClr val="F7F6F2"/>
                </a:solidFill>
                <a:latin typeface="DM Sans" pitchFamily="34" charset="0"/>
                <a:ea typeface="DM Sans" pitchFamily="34" charset="-122"/>
                <a:cs typeface="DM Sans" pitchFamily="34" charset="-120"/>
              </a:rPr>
              <a:t> a validated, role-specific dataset linking observed decisions to job outcomes.</a:t>
            </a:r>
            <a:endParaRPr lang="en-US" sz="1400" dirty="0"/>
          </a:p>
        </p:txBody>
      </p:sp>
      <p:sp>
        <p:nvSpPr>
          <p:cNvPr id="23" name="Text 1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FC0D4"/>
                </a:solidFill>
                <a:latin typeface="DM Sans" pitchFamily="34" charset="0"/>
                <a:ea typeface="DM Sans" pitchFamily="34" charset="-122"/>
                <a:cs typeface="DM Sans" pitchFamily="34" charset="-120"/>
              </a:rPr>
              <a:t>A research hypothesis, not a proven capability; needs data, consent and careful validation · 21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ADVISOR PROPOSALS · TO VALIDATE WITH CUSTOMERS</a:t>
            </a:r>
            <a:endParaRPr lang="en-US" sz="1200" dirty="0"/>
          </a:p>
        </p:txBody>
      </p:sp>
      <p:sp>
        <p:nvSpPr>
          <p:cNvPr id="3" name="Text 1"/>
          <p:cNvSpPr>
            <a:spLocks noGrp="1"/>
          </p:cNvSpPr>
          <p:nvPr>
            <p:ph type="title"/>
          </p:nvPr>
        </p:nvSpPr>
        <p:spPr>
          <a:xfrm>
            <a:off x="812800" y="8991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Four more ideas that strengthen the edge</a:t>
            </a:r>
            <a:endParaRPr lang="en-US" sz="3000" dirty="0"/>
          </a:p>
        </p:txBody>
      </p:sp>
      <p:sp>
        <p:nvSpPr>
          <p:cNvPr id="4" name="Shape 2"/>
          <p:cNvSpPr/>
          <p:nvPr/>
        </p:nvSpPr>
        <p:spPr>
          <a:xfrm>
            <a:off x="812800" y="1648458"/>
            <a:ext cx="5207000" cy="1419860"/>
          </a:xfrm>
          <a:prstGeom prst="roundRect">
            <a:avLst>
              <a:gd name="adj" fmla="val 8050"/>
            </a:avLst>
          </a:prstGeom>
          <a:solidFill>
            <a:srgbClr val="FFFFFF"/>
          </a:solidFill>
          <a:ln/>
        </p:spPr>
      </p:sp>
      <p:sp>
        <p:nvSpPr>
          <p:cNvPr id="5" name="Text 3"/>
          <p:cNvSpPr/>
          <p:nvPr/>
        </p:nvSpPr>
        <p:spPr>
          <a:xfrm>
            <a:off x="1003300" y="1838958"/>
            <a:ext cx="49707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Evidence gaps in any Indian language</a:t>
            </a:r>
            <a:endParaRPr lang="en-US" sz="1500" dirty="0"/>
          </a:p>
        </p:txBody>
      </p:sp>
      <p:sp>
        <p:nvSpPr>
          <p:cNvPr id="6" name="Text 4"/>
          <p:cNvSpPr/>
          <p:nvPr/>
        </p:nvSpPr>
        <p:spPr>
          <a:xfrm>
            <a:off x="1003300" y="2131058"/>
            <a:ext cx="4970780"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Gap questions asked by voice in the candidate's own language through Sarvam. Joins India access with evidence.</a:t>
            </a:r>
            <a:endParaRPr lang="en-US" sz="1400" dirty="0"/>
          </a:p>
        </p:txBody>
      </p:sp>
      <p:sp>
        <p:nvSpPr>
          <p:cNvPr id="7" name="Shape 5"/>
          <p:cNvSpPr/>
          <p:nvPr/>
        </p:nvSpPr>
        <p:spPr>
          <a:xfrm>
            <a:off x="6172200" y="1648458"/>
            <a:ext cx="5207000" cy="1419860"/>
          </a:xfrm>
          <a:prstGeom prst="roundRect">
            <a:avLst>
              <a:gd name="adj" fmla="val 8050"/>
            </a:avLst>
          </a:prstGeom>
          <a:solidFill>
            <a:srgbClr val="FFFFFF"/>
          </a:solidFill>
          <a:ln/>
        </p:spPr>
      </p:sp>
      <p:sp>
        <p:nvSpPr>
          <p:cNvPr id="8" name="Text 6"/>
          <p:cNvSpPr/>
          <p:nvPr/>
        </p:nvSpPr>
        <p:spPr>
          <a:xfrm>
            <a:off x="6362700" y="1838958"/>
            <a:ext cx="49707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Learning from recruiter overrides</a:t>
            </a:r>
            <a:endParaRPr lang="en-US" sz="1500" dirty="0"/>
          </a:p>
        </p:txBody>
      </p:sp>
      <p:sp>
        <p:nvSpPr>
          <p:cNvPr id="9" name="Text 7"/>
          <p:cNvSpPr/>
          <p:nvPr/>
        </p:nvSpPr>
        <p:spPr>
          <a:xfrm>
            <a:off x="6362700" y="2131058"/>
            <a:ext cx="497078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When HR disagrees with an AI score, the reason is recorded and reviewed to recalibrate the rubric.</a:t>
            </a:r>
            <a:endParaRPr lang="en-US" sz="1400" dirty="0"/>
          </a:p>
        </p:txBody>
      </p:sp>
      <p:sp>
        <p:nvSpPr>
          <p:cNvPr id="10" name="Shape 8"/>
          <p:cNvSpPr/>
          <p:nvPr/>
        </p:nvSpPr>
        <p:spPr>
          <a:xfrm>
            <a:off x="812800" y="3220727"/>
            <a:ext cx="5207000" cy="1170940"/>
          </a:xfrm>
          <a:prstGeom prst="roundRect">
            <a:avLst>
              <a:gd name="adj" fmla="val 9761"/>
            </a:avLst>
          </a:prstGeom>
          <a:solidFill>
            <a:srgbClr val="FFFFFF"/>
          </a:solidFill>
          <a:ln/>
        </p:spPr>
      </p:sp>
      <p:sp>
        <p:nvSpPr>
          <p:cNvPr id="11" name="Text 9"/>
          <p:cNvSpPr/>
          <p:nvPr/>
        </p:nvSpPr>
        <p:spPr>
          <a:xfrm>
            <a:off x="1003300" y="3411227"/>
            <a:ext cx="49707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Consistency check before go-live</a:t>
            </a:r>
            <a:endParaRPr lang="en-US" sz="1500" dirty="0"/>
          </a:p>
        </p:txBody>
      </p:sp>
      <p:sp>
        <p:nvSpPr>
          <p:cNvPr id="12" name="Text 10"/>
          <p:cNvSpPr/>
          <p:nvPr/>
        </p:nvSpPr>
        <p:spPr>
          <a:xfrm>
            <a:off x="1003300" y="3703327"/>
            <a:ext cx="497078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Each new rubric is tested on matched candidate profiles and ships only if their scores agree.</a:t>
            </a:r>
            <a:endParaRPr lang="en-US" sz="1400" dirty="0"/>
          </a:p>
        </p:txBody>
      </p:sp>
      <p:sp>
        <p:nvSpPr>
          <p:cNvPr id="13" name="Shape 11"/>
          <p:cNvSpPr/>
          <p:nvPr/>
        </p:nvSpPr>
        <p:spPr>
          <a:xfrm>
            <a:off x="6172200" y="3220727"/>
            <a:ext cx="5207000" cy="1170940"/>
          </a:xfrm>
          <a:prstGeom prst="roundRect">
            <a:avLst>
              <a:gd name="adj" fmla="val 9761"/>
            </a:avLst>
          </a:prstGeom>
          <a:solidFill>
            <a:srgbClr val="FFFFFF"/>
          </a:solidFill>
          <a:ln/>
        </p:spPr>
      </p:sp>
      <p:sp>
        <p:nvSpPr>
          <p:cNvPr id="14" name="Text 12"/>
          <p:cNvSpPr/>
          <p:nvPr/>
        </p:nvSpPr>
        <p:spPr>
          <a:xfrm>
            <a:off x="6362700" y="3411227"/>
            <a:ext cx="497078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Candidate evidence passport</a:t>
            </a:r>
            <a:endParaRPr lang="en-US" sz="1500" dirty="0"/>
          </a:p>
        </p:txBody>
      </p:sp>
      <p:sp>
        <p:nvSpPr>
          <p:cNvPr id="15" name="Text 13"/>
          <p:cNvSpPr/>
          <p:nvPr/>
        </p:nvSpPr>
        <p:spPr>
          <a:xfrm>
            <a:off x="6362700" y="3703327"/>
            <a:ext cx="497078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DM Sans" pitchFamily="34" charset="0"/>
                <a:ea typeface="DM Sans" pitchFamily="34" charset="-122"/>
                <a:cs typeface="DM Sans" pitchFamily="34" charset="-120"/>
              </a:rPr>
              <a:t>Candidates keep their verified evidence and can share it with other employers, with consent. Builds a network.</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Each idea reuses the evidence record created by the Evidence Gap Challenge · 22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GO-TO-MARKET SHAPE</a:t>
            </a:r>
            <a:endParaRPr lang="en-US" sz="1200" dirty="0"/>
          </a:p>
        </p:txBody>
      </p:sp>
      <p:sp>
        <p:nvSpPr>
          <p:cNvPr id="3" name="Text 1"/>
          <p:cNvSpPr>
            <a:spLocks noGrp="1"/>
          </p:cNvSpPr>
          <p:nvPr>
            <p:ph type="title"/>
          </p:nvPr>
        </p:nvSpPr>
        <p:spPr>
          <a:xfrm>
            <a:off x="812800" y="8991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Keep your ATS. We add the intelligence.</a:t>
            </a:r>
            <a:endParaRPr lang="en-US" sz="3000" dirty="0"/>
          </a:p>
        </p:txBody>
      </p:sp>
      <p:sp>
        <p:nvSpPr>
          <p:cNvPr id="4" name="Shape 2"/>
          <p:cNvSpPr/>
          <p:nvPr/>
        </p:nvSpPr>
        <p:spPr>
          <a:xfrm>
            <a:off x="815975" y="1575433"/>
            <a:ext cx="2831703" cy="1050290"/>
          </a:xfrm>
          <a:prstGeom prst="roundRect">
            <a:avLst>
              <a:gd name="adj" fmla="val 10580"/>
            </a:avLst>
          </a:prstGeom>
          <a:solidFill>
            <a:srgbClr val="FFFFFF"/>
          </a:solidFill>
          <a:ln w="6350">
            <a:solidFill>
              <a:srgbClr val="C9D1DC"/>
            </a:solidFill>
            <a:prstDash val="solid"/>
          </a:ln>
        </p:spPr>
      </p:sp>
      <p:sp>
        <p:nvSpPr>
          <p:cNvPr id="5" name="Text 3"/>
          <p:cNvSpPr/>
          <p:nvPr/>
        </p:nvSpPr>
        <p:spPr>
          <a:xfrm>
            <a:off x="995680" y="1755142"/>
            <a:ext cx="25464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Customer's ATS</a:t>
            </a:r>
            <a:endParaRPr lang="en-US" sz="1500" dirty="0"/>
          </a:p>
        </p:txBody>
      </p:sp>
      <p:sp>
        <p:nvSpPr>
          <p:cNvPr id="6" name="Text 4"/>
          <p:cNvSpPr/>
          <p:nvPr/>
        </p:nvSpPr>
        <p:spPr>
          <a:xfrm>
            <a:off x="995680" y="2034542"/>
            <a:ext cx="254646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Jobs, candidates and offers stay where HR already works</a:t>
            </a:r>
            <a:endParaRPr lang="en-US" sz="1200" dirty="0"/>
          </a:p>
        </p:txBody>
      </p:sp>
      <p:pic>
        <p:nvPicPr>
          <p:cNvPr id="7" name="Image 0" descr="arrow-right"/>
          <p:cNvPicPr>
            <a:picLocks noChangeAspect="1"/>
          </p:cNvPicPr>
          <p:nvPr/>
        </p:nvPicPr>
        <p:blipFill>
          <a:blip r:embed="rId3"/>
          <a:srcRect/>
          <a:stretch/>
        </p:blipFill>
        <p:spPr>
          <a:xfrm>
            <a:off x="3777853" y="1998985"/>
            <a:ext cx="406400" cy="203200"/>
          </a:xfrm>
          <a:prstGeom prst="rect">
            <a:avLst/>
          </a:prstGeom>
        </p:spPr>
      </p:pic>
      <p:sp>
        <p:nvSpPr>
          <p:cNvPr id="8" name="Shape 5"/>
          <p:cNvSpPr/>
          <p:nvPr/>
        </p:nvSpPr>
        <p:spPr>
          <a:xfrm>
            <a:off x="4311253" y="1577342"/>
            <a:ext cx="3569494" cy="1046480"/>
          </a:xfrm>
          <a:prstGeom prst="roundRect">
            <a:avLst>
              <a:gd name="adj" fmla="val 10922"/>
            </a:avLst>
          </a:prstGeom>
          <a:solidFill>
            <a:srgbClr val="13213A"/>
          </a:solidFill>
          <a:ln/>
        </p:spPr>
      </p:sp>
      <p:sp>
        <p:nvSpPr>
          <p:cNvPr id="9" name="Text 6"/>
          <p:cNvSpPr/>
          <p:nvPr/>
        </p:nvSpPr>
        <p:spPr>
          <a:xfrm>
            <a:off x="4489053" y="1755142"/>
            <a:ext cx="33103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Huptle intelligence layer</a:t>
            </a:r>
            <a:endParaRPr lang="en-US" sz="1500" dirty="0"/>
          </a:p>
        </p:txBody>
      </p:sp>
      <p:sp>
        <p:nvSpPr>
          <p:cNvPr id="10" name="Text 7"/>
          <p:cNvSpPr/>
          <p:nvPr/>
        </p:nvSpPr>
        <p:spPr>
          <a:xfrm>
            <a:off x="4489053" y="2034542"/>
            <a:ext cx="33103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Screens, verifies, schedules and scores with evidence; writes results back</a:t>
            </a:r>
            <a:endParaRPr lang="en-US" sz="1200" dirty="0"/>
          </a:p>
        </p:txBody>
      </p:sp>
      <p:pic>
        <p:nvPicPr>
          <p:cNvPr id="11" name="Image 1" descr="arrow-right"/>
          <p:cNvPicPr>
            <a:picLocks noChangeAspect="1"/>
          </p:cNvPicPr>
          <p:nvPr/>
        </p:nvPicPr>
        <p:blipFill>
          <a:blip r:embed="rId3"/>
          <a:srcRect/>
          <a:stretch/>
        </p:blipFill>
        <p:spPr>
          <a:xfrm>
            <a:off x="8007747" y="1998985"/>
            <a:ext cx="406400" cy="203200"/>
          </a:xfrm>
          <a:prstGeom prst="rect">
            <a:avLst/>
          </a:prstGeom>
        </p:spPr>
      </p:pic>
      <p:sp>
        <p:nvSpPr>
          <p:cNvPr id="12" name="Shape 8"/>
          <p:cNvSpPr/>
          <p:nvPr/>
        </p:nvSpPr>
        <p:spPr>
          <a:xfrm>
            <a:off x="8544322" y="1575433"/>
            <a:ext cx="2831703" cy="1050290"/>
          </a:xfrm>
          <a:prstGeom prst="roundRect">
            <a:avLst>
              <a:gd name="adj" fmla="val 10580"/>
            </a:avLst>
          </a:prstGeom>
          <a:solidFill>
            <a:srgbClr val="FFFFFF"/>
          </a:solidFill>
          <a:ln w="6350">
            <a:solidFill>
              <a:srgbClr val="C9D1DC"/>
            </a:solidFill>
            <a:prstDash val="solid"/>
          </a:ln>
        </p:spPr>
      </p:sp>
      <p:sp>
        <p:nvSpPr>
          <p:cNvPr id="13" name="Text 9"/>
          <p:cNvSpPr/>
          <p:nvPr/>
        </p:nvSpPr>
        <p:spPr>
          <a:xfrm>
            <a:off x="8724027" y="1755142"/>
            <a:ext cx="25464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Candidates</a:t>
            </a:r>
            <a:endParaRPr lang="en-US" sz="1500" dirty="0"/>
          </a:p>
        </p:txBody>
      </p:sp>
      <p:sp>
        <p:nvSpPr>
          <p:cNvPr id="14" name="Text 10"/>
          <p:cNvSpPr/>
          <p:nvPr/>
        </p:nvSpPr>
        <p:spPr>
          <a:xfrm>
            <a:off x="8724027" y="2034542"/>
            <a:ext cx="254646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Reached by voice, WhatsApp and email in their language</a:t>
            </a:r>
            <a:endParaRPr lang="en-US" sz="1200" dirty="0"/>
          </a:p>
        </p:txBody>
      </p:sp>
      <p:sp>
        <p:nvSpPr>
          <p:cNvPr id="15" name="Shape 11"/>
          <p:cNvSpPr/>
          <p:nvPr/>
        </p:nvSpPr>
        <p:spPr>
          <a:xfrm>
            <a:off x="812800" y="2882900"/>
            <a:ext cx="3403600" cy="1336040"/>
          </a:xfrm>
          <a:prstGeom prst="roundRect">
            <a:avLst>
              <a:gd name="adj" fmla="val 8555"/>
            </a:avLst>
          </a:prstGeom>
          <a:solidFill>
            <a:srgbClr val="FFFFFF"/>
          </a:solidFill>
          <a:ln/>
        </p:spPr>
      </p:sp>
      <p:sp>
        <p:nvSpPr>
          <p:cNvPr id="16" name="Text 12"/>
          <p:cNvSpPr/>
          <p:nvPr/>
        </p:nvSpPr>
        <p:spPr>
          <a:xfrm>
            <a:off x="990600" y="3060700"/>
            <a:ext cx="31394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E6B3A"/>
                </a:solidFill>
                <a:latin typeface="DM Sans" pitchFamily="34" charset="0"/>
                <a:ea typeface="DM Sans" pitchFamily="34" charset="-122"/>
                <a:cs typeface="DM Sans" pitchFamily="34" charset="-120"/>
              </a:rPr>
              <a:t>Already have it</a:t>
            </a:r>
            <a:endParaRPr lang="en-US" sz="1200" dirty="0"/>
          </a:p>
        </p:txBody>
      </p:sp>
      <p:sp>
        <p:nvSpPr>
          <p:cNvPr id="17" name="Text 13"/>
          <p:cNvSpPr/>
          <p:nvPr/>
        </p:nvSpPr>
        <p:spPr>
          <a:xfrm>
            <a:off x="990600" y="3337558"/>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Standalone mode</a:t>
            </a:r>
            <a:endParaRPr lang="en-US" sz="1500" dirty="0"/>
          </a:p>
        </p:txBody>
      </p:sp>
      <p:sp>
        <p:nvSpPr>
          <p:cNvPr id="18" name="Text 14"/>
          <p:cNvSpPr/>
          <p:nvPr/>
        </p:nvSpPr>
        <p:spPr>
          <a:xfrm>
            <a:off x="990600" y="3629658"/>
            <a:ext cx="313944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Today's HR portal is a light ATS. Keep it for small firms with no ATS and for demos.</a:t>
            </a:r>
            <a:endParaRPr lang="en-US" sz="1200" dirty="0"/>
          </a:p>
        </p:txBody>
      </p:sp>
      <p:sp>
        <p:nvSpPr>
          <p:cNvPr id="19" name="Shape 15"/>
          <p:cNvSpPr/>
          <p:nvPr/>
        </p:nvSpPr>
        <p:spPr>
          <a:xfrm>
            <a:off x="4394200" y="2882900"/>
            <a:ext cx="3403600" cy="1336040"/>
          </a:xfrm>
          <a:prstGeom prst="roundRect">
            <a:avLst>
              <a:gd name="adj" fmla="val 8555"/>
            </a:avLst>
          </a:prstGeom>
          <a:solidFill>
            <a:srgbClr val="FFFFFF"/>
          </a:solidFill>
          <a:ln/>
        </p:spPr>
      </p:sp>
      <p:sp>
        <p:nvSpPr>
          <p:cNvPr id="20" name="Text 16"/>
          <p:cNvSpPr/>
          <p:nvPr/>
        </p:nvSpPr>
        <p:spPr>
          <a:xfrm>
            <a:off x="4572000" y="3060700"/>
            <a:ext cx="31394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India first</a:t>
            </a:r>
            <a:endParaRPr lang="en-US" sz="1200" dirty="0"/>
          </a:p>
        </p:txBody>
      </p:sp>
      <p:sp>
        <p:nvSpPr>
          <p:cNvPr id="21" name="Text 17"/>
          <p:cNvSpPr/>
          <p:nvPr/>
        </p:nvSpPr>
        <p:spPr>
          <a:xfrm>
            <a:off x="4572000" y="3337558"/>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Connectors</a:t>
            </a:r>
            <a:endParaRPr lang="en-US" sz="1500" dirty="0"/>
          </a:p>
        </p:txBody>
      </p:sp>
      <p:sp>
        <p:nvSpPr>
          <p:cNvPr id="22" name="Text 18"/>
          <p:cNvSpPr/>
          <p:nvPr/>
        </p:nvSpPr>
        <p:spPr>
          <a:xfrm>
            <a:off x="4572000" y="3629658"/>
            <a:ext cx="313944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Darwinbox, Zoho Recruit, Keka</a:t>
            </a:r>
            <a:endParaRPr lang="en-US" sz="1200" dirty="0"/>
          </a:p>
        </p:txBody>
      </p:sp>
      <p:sp>
        <p:nvSpPr>
          <p:cNvPr id="23" name="Shape 19"/>
          <p:cNvSpPr/>
          <p:nvPr/>
        </p:nvSpPr>
        <p:spPr>
          <a:xfrm>
            <a:off x="7975600" y="2882900"/>
            <a:ext cx="3403600" cy="1336040"/>
          </a:xfrm>
          <a:prstGeom prst="roundRect">
            <a:avLst>
              <a:gd name="adj" fmla="val 8555"/>
            </a:avLst>
          </a:prstGeom>
          <a:solidFill>
            <a:srgbClr val="FFFFFF"/>
          </a:solidFill>
          <a:ln/>
        </p:spPr>
      </p:sp>
      <p:sp>
        <p:nvSpPr>
          <p:cNvPr id="24" name="Text 20"/>
          <p:cNvSpPr/>
          <p:nvPr/>
        </p:nvSpPr>
        <p:spPr>
          <a:xfrm>
            <a:off x="8153400" y="3060700"/>
            <a:ext cx="31394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Global later</a:t>
            </a:r>
            <a:endParaRPr lang="en-US" sz="1200" dirty="0"/>
          </a:p>
        </p:txBody>
      </p:sp>
      <p:sp>
        <p:nvSpPr>
          <p:cNvPr id="25" name="Text 21"/>
          <p:cNvSpPr/>
          <p:nvPr/>
        </p:nvSpPr>
        <p:spPr>
          <a:xfrm>
            <a:off x="8153400" y="3337558"/>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Connectors</a:t>
            </a:r>
            <a:endParaRPr lang="en-US" sz="1500" dirty="0"/>
          </a:p>
        </p:txBody>
      </p:sp>
      <p:sp>
        <p:nvSpPr>
          <p:cNvPr id="26" name="Text 22"/>
          <p:cNvSpPr/>
          <p:nvPr/>
        </p:nvSpPr>
        <p:spPr>
          <a:xfrm>
            <a:off x="8153400" y="3629658"/>
            <a:ext cx="313944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Workday, Greenhouse, SAP SuccessFactors, iCIMS, Lever</a:t>
            </a:r>
            <a:endParaRPr lang="en-US" sz="1200" dirty="0"/>
          </a:p>
        </p:txBody>
      </p:sp>
      <p:sp>
        <p:nvSpPr>
          <p:cNvPr id="27" name="Text 2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No rip-and-replace means shorter sales cycles and easier pilots · 23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BF1E7"/>
        </a:solidFill>
        <a:effectLst/>
      </p:bgPr>
    </p:bg>
    <p:spTree>
      <p:nvGrpSpPr>
        <p:cNvPr id="1" name=""/>
        <p:cNvGrpSpPr/>
        <p:nvPr/>
      </p:nvGrpSpPr>
      <p:grpSpPr>
        <a:xfrm>
          <a:off x="0" y="0"/>
          <a:ext cx="0" cy="0"/>
          <a:chOff x="0" y="0"/>
          <a:chExt cx="0" cy="0"/>
        </a:xfrm>
      </p:grpSpPr>
      <p:sp>
        <p:nvSpPr>
          <p:cNvPr id="2" name="Text 0"/>
          <p:cNvSpPr/>
          <p:nvPr/>
        </p:nvSpPr>
        <p:spPr>
          <a:xfrm>
            <a:off x="812800" y="609600"/>
            <a:ext cx="467261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MARKET PATH A · LEAD MARKET</a:t>
            </a:r>
            <a:endParaRPr lang="en-US" sz="1200" dirty="0"/>
          </a:p>
        </p:txBody>
      </p:sp>
      <p:sp>
        <p:nvSpPr>
          <p:cNvPr id="3" name="Text 1"/>
          <p:cNvSpPr>
            <a:spLocks noGrp="1"/>
          </p:cNvSpPr>
          <p:nvPr>
            <p:ph type="title"/>
          </p:nvPr>
        </p:nvSpPr>
        <p:spPr>
          <a:xfrm>
            <a:off x="812800" y="899158"/>
            <a:ext cx="544382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India, high-volume hiring</a:t>
            </a:r>
            <a:endParaRPr lang="en-US" sz="3000" dirty="0"/>
          </a:p>
        </p:txBody>
      </p:sp>
      <p:sp>
        <p:nvSpPr>
          <p:cNvPr id="4" name="Text 2"/>
          <p:cNvSpPr/>
          <p:nvPr/>
        </p:nvSpPr>
        <p:spPr>
          <a:xfrm>
            <a:off x="9736217" y="1003300"/>
            <a:ext cx="1642983" cy="314960"/>
          </a:xfrm>
          <a:prstGeom prst="roundRect">
            <a:avLst>
              <a:gd name="adj" fmla="val 50000"/>
            </a:avLst>
          </a:prstGeom>
          <a:solidFill>
            <a:srgbClr val="13213A"/>
          </a:solidFill>
          <a:ln/>
        </p:spPr>
        <p:txBody>
          <a:bodyPr wrap="none" lIns="0" tIns="0" rIns="0" bIns="0" rtlCol="0" anchor="ctr">
            <a:normAutofit/>
          </a:bodyPr>
          <a:lstStyle/>
          <a:p>
            <a:pPr marL="0" indent="0" algn="ctr">
              <a:lnSpc>
                <a:spcPts val="1680"/>
              </a:lnSpc>
              <a:buNone/>
            </a:pPr>
            <a:r>
              <a:rPr lang="en-US" sz="1200" dirty="0">
                <a:solidFill>
                  <a:srgbClr val="F7F6F2"/>
                </a:solidFill>
                <a:latin typeface="DM Sans" pitchFamily="34" charset="0"/>
                <a:ea typeface="DM Sans" pitchFamily="34" charset="-122"/>
                <a:cs typeface="DM Sans" pitchFamily="34" charset="-120"/>
              </a:rPr>
              <a:t>Recommended first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531618"/>
          <a:ext cx="10556240" cy="2971800"/>
        </p:xfrm>
        <a:graphic>
          <a:graphicData uri="http://schemas.openxmlformats.org/drawingml/2006/table">
            <a:tbl>
              <a:tblPr/>
              <a:tblGrid>
                <a:gridCol w="2533498">
                  <a:extLst>
                    <a:ext uri="{9D8B030D-6E8A-4147-A177-3AD203B41FA5}">
                      <a16:colId xmlns:a16="http://schemas.microsoft.com/office/drawing/2014/main" val="20000"/>
                    </a:ext>
                  </a:extLst>
                </a:gridCol>
                <a:gridCol w="8022742">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Question</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Answer</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Buyer</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HR and talent heads at BPOs, retail, logistics, BFSI field sales and staffing firms</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Pain</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Thousands of applicants per role, language barriers, no-shows, slow screening</a:t>
                      </a:r>
                      <a:endParaRPr lang="en-US" sz="1200" dirty="0">
                        <a:latin typeface="DM Sans" charset="0"/>
                        <a:ea typeface="DM Sans" charset="0"/>
                        <a:cs typeface="DM Sans" charset="0"/>
                      </a:endParaRPr>
                    </a:p>
                  </a:txBody>
                  <a:tcPr marL="53340" marR="53340" marT="53340" marB="53340">
                    <a:lnL w="12700" cap="flat" cmpd="sng" algn="ctr">
                      <a:solidFill>
                        <a:srgbClr val="C4B5A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What we lead with</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Vernacular voice screening, WhatsApp apply, voice role-play tests, no-show reminders</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Edge</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Evidence Gap Challenge in 22 Indian languages via Sarvam</a:t>
                      </a:r>
                      <a:endParaRPr lang="en-US" sz="1200" dirty="0">
                        <a:latin typeface="DM Sans" charset="0"/>
                        <a:ea typeface="DM Sans" charset="0"/>
                        <a:cs typeface="DM Sans" charset="0"/>
                      </a:endParaRPr>
                    </a:p>
                  </a:txBody>
                  <a:tcPr marL="53340" marR="53340" marT="53340" marB="53340">
                    <a:lnL w="12700" cap="flat" cmpd="sng" algn="ctr">
                      <a:solidFill>
                        <a:srgbClr val="C4B5A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ATS</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Standalone portal, or Darwinbox, Zoho Recruit, Keka</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Pricing</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Per screened candidate or per hire</a:t>
                      </a:r>
                      <a:endParaRPr lang="en-US" sz="1200" dirty="0">
                        <a:latin typeface="DM Sans" charset="0"/>
                        <a:ea typeface="DM Sans" charset="0"/>
                        <a:cs typeface="DM Sans" charset="0"/>
                      </a:endParaRPr>
                    </a:p>
                  </a:txBody>
                  <a:tcPr marL="53340" marR="53340" marT="53340" marB="53340">
                    <a:lnL w="12700" cap="flat" cmpd="sng" algn="ctr">
                      <a:solidFill>
                        <a:srgbClr val="C4B5A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Competition</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Zorvis, Vahan, Apna, WorkIndia, Naukri</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8C0B8"/>
                      </a:solidFill>
                      <a:prstDash val="solid"/>
                      <a:round/>
                      <a:headEnd type="none" w="med" len="med"/>
                      <a:tailEnd type="none" w="med" len="med"/>
                    </a:lnR>
                    <a:lnT w="12700" cap="flat" cmpd="sng" algn="ctr">
                      <a:solidFill>
                        <a:srgbClr val="C4B5A8"/>
                      </a:solidFill>
                      <a:prstDash val="solid"/>
                      <a:round/>
                      <a:headEnd type="none" w="med" len="med"/>
                      <a:tailEnd type="none" w="med" len="med"/>
                    </a:lnT>
                    <a:lnB w="12700" cap="flat" cmpd="sng" algn="ctr">
                      <a:solidFill>
                        <a:srgbClr val="C8C0B8"/>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Risk</a:t>
                      </a:r>
                      <a:endParaRPr lang="en-US" sz="1200" dirty="0">
                        <a:latin typeface="DM Sans" charset="0"/>
                        <a:ea typeface="DM Sans" charset="0"/>
                        <a:cs typeface="DM Sans" charset="0"/>
                      </a:endParaRPr>
                    </a:p>
                  </a:txBody>
                  <a:tcPr marL="53340" marR="53340" marT="53340" marB="53340">
                    <a:lnL w="12700" cap="flat" cmpd="sng" algn="ctr">
                      <a:solidFill>
                        <a:srgbClr val="C8C0B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Zorvis already sells here; low price per candidate; DPDP consent</a:t>
                      </a:r>
                      <a:endParaRPr lang="en-US" sz="1200" dirty="0">
                        <a:latin typeface="DM Sans" charset="0"/>
                        <a:ea typeface="DM Sans" charset="0"/>
                        <a:cs typeface="DM Sans" charset="0"/>
                      </a:endParaRPr>
                    </a:p>
                  </a:txBody>
                  <a:tcPr marL="53340" marR="53340" marT="53340" marB="53340">
                    <a:lnL w="12700" cap="flat" cmpd="sng" algn="ctr">
                      <a:solidFill>
                        <a:srgbClr val="C4B5A8"/>
                      </a:solidFill>
                      <a:prstDash val="solid"/>
                      <a:round/>
                      <a:headEnd type="none" w="med" len="med"/>
                      <a:tailEnd type="none" w="med" len="med"/>
                    </a:lnL>
                    <a:lnR w="12700" cap="flat" cmpd="sng" algn="ctr">
                      <a:solidFill>
                        <a:srgbClr val="C4B5A8"/>
                      </a:solidFill>
                      <a:prstDash val="solid"/>
                      <a:round/>
                      <a:headEnd type="none" w="med" len="med"/>
                      <a:tailEnd type="none" w="med" len="med"/>
                    </a:lnR>
                    <a:lnT w="12700" cap="flat" cmpd="sng" algn="ctr">
                      <a:solidFill>
                        <a:srgbClr val="C8C0B8"/>
                      </a:solidFill>
                      <a:prstDash val="solid"/>
                      <a:round/>
                      <a:headEnd type="none" w="med" len="med"/>
                      <a:tailEnd type="none" w="med" len="med"/>
                    </a:lnT>
                    <a:lnB w="12700" cap="flat" cmpd="sng" algn="ctr">
                      <a:solidFill>
                        <a:srgbClr val="C4B5A8"/>
                      </a:solidFill>
                      <a:prstDash val="solid"/>
                      <a:round/>
                      <a:headEnd type="none" w="med" len="med"/>
                      <a:tailEnd type="none" w="med" len="med"/>
                    </a:lnB>
                    <a:solidFill>
                      <a:srgbClr val="F5E3D2"/>
                    </a:solidFill>
                  </a:tcPr>
                </a:tc>
                <a:extLst>
                  <a:ext uri="{0D108BD9-81ED-4DB2-BD59-A6C34878D82A}">
                    <a16:rowId xmlns:a16="http://schemas.microsoft.com/office/drawing/2014/main" val="10008"/>
                  </a:ext>
                </a:extLst>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5A4A"/>
                </a:solidFill>
                <a:latin typeface="DM Sans" pitchFamily="34" charset="0"/>
                <a:ea typeface="DM Sans" pitchFamily="34" charset="-122"/>
                <a:cs typeface="DM Sans" pitchFamily="34" charset="-120"/>
              </a:rPr>
              <a:t>Fastest path to revenue and outcome data; matches what is built and the Sarvam deal · 24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443217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C4"/>
                </a:solidFill>
                <a:latin typeface="DM Sans" pitchFamily="34" charset="0"/>
                <a:ea typeface="DM Sans" pitchFamily="34" charset="-122"/>
                <a:cs typeface="DM Sans" pitchFamily="34" charset="-120"/>
              </a:rPr>
              <a:t>MARKET PATH B · EXPANSION MARKET</a:t>
            </a:r>
            <a:endParaRPr lang="en-US" sz="1200" dirty="0"/>
          </a:p>
        </p:txBody>
      </p:sp>
      <p:sp>
        <p:nvSpPr>
          <p:cNvPr id="3" name="Text 1"/>
          <p:cNvSpPr>
            <a:spLocks noGrp="1"/>
          </p:cNvSpPr>
          <p:nvPr>
            <p:ph type="title"/>
          </p:nvPr>
        </p:nvSpPr>
        <p:spPr>
          <a:xfrm>
            <a:off x="812800" y="899158"/>
            <a:ext cx="5163693"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Global enterprise hiring</a:t>
            </a:r>
            <a:endParaRPr lang="en-US" sz="3000" dirty="0"/>
          </a:p>
        </p:txBody>
      </p:sp>
      <p:sp>
        <p:nvSpPr>
          <p:cNvPr id="4" name="Text 2"/>
          <p:cNvSpPr/>
          <p:nvPr/>
        </p:nvSpPr>
        <p:spPr>
          <a:xfrm>
            <a:off x="10291683" y="1003300"/>
            <a:ext cx="1087517" cy="314960"/>
          </a:xfrm>
          <a:prstGeom prst="roundRect">
            <a:avLst>
              <a:gd name="adj" fmla="val 50000"/>
            </a:avLst>
          </a:prstGeom>
          <a:solidFill>
            <a:srgbClr val="1F5FC4"/>
          </a:solidFill>
          <a:ln/>
        </p:spPr>
        <p:txBody>
          <a:bodyPr wrap="none" lIns="0" tIns="0" rIns="0" bIns="0" rtlCol="0" anchor="ctr">
            <a:normAutofit/>
          </a:bodyPr>
          <a:lstStyle/>
          <a:p>
            <a:pPr marL="0" indent="0" algn="ctr">
              <a:lnSpc>
                <a:spcPts val="1680"/>
              </a:lnSpc>
              <a:buNone/>
            </a:pPr>
            <a:r>
              <a:rPr lang="en-US" sz="1200" dirty="0">
                <a:solidFill>
                  <a:srgbClr val="F7F6F2"/>
                </a:solidFill>
                <a:latin typeface="DM Sans" pitchFamily="34" charset="0"/>
                <a:ea typeface="DM Sans" pitchFamily="34" charset="-122"/>
                <a:cs typeface="DM Sans" pitchFamily="34" charset="-120"/>
              </a:rPr>
              <a:t>From year 2</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531618"/>
          <a:ext cx="10556240" cy="2971800"/>
        </p:xfrm>
        <a:graphic>
          <a:graphicData uri="http://schemas.openxmlformats.org/drawingml/2006/table">
            <a:tbl>
              <a:tblPr/>
              <a:tblGrid>
                <a:gridCol w="2533498">
                  <a:extLst>
                    <a:ext uri="{9D8B030D-6E8A-4147-A177-3AD203B41FA5}">
                      <a16:colId xmlns:a16="http://schemas.microsoft.com/office/drawing/2014/main" val="20000"/>
                    </a:ext>
                  </a:extLst>
                </a:gridCol>
                <a:gridCol w="8022742">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Question</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Answer</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Buyer</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Talent acquisition leaders at mid-size and large firms in the US, UK, EU and Gulf</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Pain</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AI-written resumes, fake or proxy candidates, uneven hiring quality, compliance</a:t>
                      </a:r>
                      <a:endParaRPr lang="en-US" sz="1200" dirty="0">
                        <a:latin typeface="DM Sans" charset="0"/>
                        <a:ea typeface="DM Sans" charset="0"/>
                        <a:cs typeface="DM Sans" charset="0"/>
                      </a:endParaRPr>
                    </a:p>
                  </a:txBody>
                  <a:tcPr marL="53340" marR="53340" marT="53340" marB="53340">
                    <a:lnL w="12700" cap="flat" cmpd="sng" algn="ctr">
                      <a:solidFill>
                        <a:srgbClr val="B4B9BF"/>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What we lead with</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Evidence-based scoring, work simulations, authenticity checks, audit trail</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Edge</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Evidence Gap Challenge and Decision Trail; explainable for the EU AI Act</a:t>
                      </a:r>
                      <a:endParaRPr lang="en-US" sz="1200" dirty="0">
                        <a:latin typeface="DM Sans" charset="0"/>
                        <a:ea typeface="DM Sans" charset="0"/>
                        <a:cs typeface="DM Sans" charset="0"/>
                      </a:endParaRPr>
                    </a:p>
                  </a:txBody>
                  <a:tcPr marL="53340" marR="53340" marT="53340" marB="53340">
                    <a:lnL w="12700" cap="flat" cmpd="sng" algn="ctr">
                      <a:solidFill>
                        <a:srgbClr val="B4B9BF"/>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ATS</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Workday, Greenhouse, SAP SuccessFactors, iCIMS, Lever</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Pricing</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Annual SaaS per open role or per hiring team</a:t>
                      </a:r>
                      <a:endParaRPr lang="en-US" sz="1200" dirty="0">
                        <a:latin typeface="DM Sans" charset="0"/>
                        <a:ea typeface="DM Sans" charset="0"/>
                        <a:cs typeface="DM Sans" charset="0"/>
                      </a:endParaRPr>
                    </a:p>
                  </a:txBody>
                  <a:tcPr marL="53340" marR="53340" marT="53340" marB="53340">
                    <a:lnL w="12700" cap="flat" cmpd="sng" algn="ctr">
                      <a:solidFill>
                        <a:srgbClr val="B4B9BF"/>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Competition</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HireVue, Paradox (Workday), HeyMilo, WorkProbe, Mercor</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4B9BF"/>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Risk</a:t>
                      </a:r>
                      <a:endParaRPr lang="en-US" sz="1200" dirty="0">
                        <a:latin typeface="DM Sans" charset="0"/>
                        <a:ea typeface="DM Sans" charset="0"/>
                        <a:cs typeface="DM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Long sales cycles; SOC 2 or ISO 27001 and data residency required</a:t>
                      </a:r>
                      <a:endParaRPr lang="en-US" sz="1200" dirty="0">
                        <a:latin typeface="DM Sans" charset="0"/>
                        <a:ea typeface="DM Sans" charset="0"/>
                        <a:cs typeface="DM Sans" charset="0"/>
                      </a:endParaRPr>
                    </a:p>
                  </a:txBody>
                  <a:tcPr marL="53340" marR="53340" marT="53340" marB="53340">
                    <a:lnL w="12700" cap="flat" cmpd="sng" algn="ctr">
                      <a:solidFill>
                        <a:srgbClr val="B4B9BF"/>
                      </a:solidFill>
                      <a:prstDash val="solid"/>
                      <a:round/>
                      <a:headEnd type="none" w="med" len="med"/>
                      <a:tailEnd type="none" w="med" len="med"/>
                    </a:lnL>
                    <a:lnR w="12700" cap="flat" cmpd="sng" algn="ctr">
                      <a:solidFill>
                        <a:srgbClr val="B4B9BF"/>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4B9BF"/>
                      </a:solidFill>
                      <a:prstDash val="solid"/>
                      <a:round/>
                      <a:headEnd type="none" w="med" len="med"/>
                      <a:tailEnd type="none" w="med" len="med"/>
                    </a:lnB>
                    <a:solidFill>
                      <a:srgbClr val="E1E7EF"/>
                    </a:solidFill>
                  </a:tcPr>
                </a:tc>
                <a:extLst>
                  <a:ext uri="{0D108BD9-81ED-4DB2-BD59-A6C34878D82A}">
                    <a16:rowId xmlns:a16="http://schemas.microsoft.com/office/drawing/2014/main" val="10008"/>
                  </a:ext>
                </a:extLst>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Verify and Learn layers built for Path A carry over directly · 25</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BF1E7"/>
        </a:solidFill>
        <a:effectLst/>
      </p:bgPr>
    </p:bg>
    <p:spTree>
      <p:nvGrpSpPr>
        <p:cNvPr id="1" name=""/>
        <p:cNvGrpSpPr/>
        <p:nvPr/>
      </p:nvGrpSpPr>
      <p:grpSpPr>
        <a:xfrm>
          <a:off x="0" y="0"/>
          <a:ext cx="0" cy="0"/>
          <a:chOff x="0" y="0"/>
          <a:chExt cx="0" cy="0"/>
        </a:xfrm>
      </p:grpSpPr>
      <p:sp>
        <p:nvSpPr>
          <p:cNvPr id="2" name="Text 0"/>
          <p:cNvSpPr/>
          <p:nvPr/>
        </p:nvSpPr>
        <p:spPr>
          <a:xfrm>
            <a:off x="812800" y="609600"/>
            <a:ext cx="69590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PARTNERSHIP · SARVAM AI</a:t>
            </a:r>
            <a:endParaRPr lang="en-US" sz="1200" dirty="0"/>
          </a:p>
        </p:txBody>
      </p:sp>
      <p:sp>
        <p:nvSpPr>
          <p:cNvPr id="3" name="Text 1"/>
          <p:cNvSpPr>
            <a:spLocks noGrp="1"/>
          </p:cNvSpPr>
          <p:nvPr>
            <p:ph type="title"/>
          </p:nvPr>
        </p:nvSpPr>
        <p:spPr>
          <a:xfrm>
            <a:off x="812800" y="899158"/>
            <a:ext cx="69590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$25,000 in credits: our way into vernacular hiring</a:t>
            </a:r>
            <a:endParaRPr lang="en-US" sz="3000" dirty="0"/>
          </a:p>
        </p:txBody>
      </p:sp>
      <p:sp>
        <p:nvSpPr>
          <p:cNvPr id="4" name="Text 2"/>
          <p:cNvSpPr/>
          <p:nvPr/>
        </p:nvSpPr>
        <p:spPr>
          <a:xfrm>
            <a:off x="7823200" y="1325885"/>
            <a:ext cx="366268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Credits secured; integration is the next build step. Not yet in the code.</a:t>
            </a:r>
            <a:endParaRPr lang="en-US" sz="1200" dirty="0"/>
          </a:p>
        </p:txBody>
      </p:sp>
      <p:sp>
        <p:nvSpPr>
          <p:cNvPr id="5" name="Shape 3"/>
          <p:cNvSpPr/>
          <p:nvPr/>
        </p:nvSpPr>
        <p:spPr>
          <a:xfrm>
            <a:off x="812800" y="1965958"/>
            <a:ext cx="3437414" cy="1201420"/>
          </a:xfrm>
          <a:prstGeom prst="roundRect">
            <a:avLst>
              <a:gd name="adj" fmla="val 8457"/>
            </a:avLst>
          </a:prstGeom>
          <a:solidFill>
            <a:srgbClr val="FFFFFF"/>
          </a:solidFill>
          <a:ln/>
        </p:spPr>
      </p:sp>
      <p:sp>
        <p:nvSpPr>
          <p:cNvPr id="6" name="Text 4"/>
          <p:cNvSpPr/>
          <p:nvPr/>
        </p:nvSpPr>
        <p:spPr>
          <a:xfrm>
            <a:off x="965200" y="2118358"/>
            <a:ext cx="32265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Saaras v4 · listen</a:t>
            </a:r>
            <a:endParaRPr lang="en-US" sz="1500" dirty="0"/>
          </a:p>
        </p:txBody>
      </p:sp>
      <p:sp>
        <p:nvSpPr>
          <p:cNvPr id="7" name="Text 5"/>
          <p:cNvSpPr/>
          <p:nvPr/>
        </p:nvSpPr>
        <p:spPr>
          <a:xfrm>
            <a:off x="965200" y="2397758"/>
            <a:ext cx="3226592"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Speech-to-text in 22 Indian languages + English, code-mix, streaming. Screening calls in the candidate's language.</a:t>
            </a:r>
            <a:endParaRPr lang="en-US" sz="1200" dirty="0"/>
          </a:p>
        </p:txBody>
      </p:sp>
      <p:sp>
        <p:nvSpPr>
          <p:cNvPr id="8" name="Shape 6"/>
          <p:cNvSpPr/>
          <p:nvPr/>
        </p:nvSpPr>
        <p:spPr>
          <a:xfrm>
            <a:off x="4377214" y="1965958"/>
            <a:ext cx="3437493" cy="1201420"/>
          </a:xfrm>
          <a:prstGeom prst="roundRect">
            <a:avLst>
              <a:gd name="adj" fmla="val 8457"/>
            </a:avLst>
          </a:prstGeom>
          <a:solidFill>
            <a:srgbClr val="FFFFFF"/>
          </a:solidFill>
          <a:ln/>
        </p:spPr>
      </p:sp>
      <p:sp>
        <p:nvSpPr>
          <p:cNvPr id="9" name="Text 7"/>
          <p:cNvSpPr/>
          <p:nvPr/>
        </p:nvSpPr>
        <p:spPr>
          <a:xfrm>
            <a:off x="4529614" y="2118358"/>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Bulbul v3 · speak</a:t>
            </a:r>
            <a:endParaRPr lang="en-US" sz="1500" dirty="0"/>
          </a:p>
        </p:txBody>
      </p:sp>
      <p:sp>
        <p:nvSpPr>
          <p:cNvPr id="10" name="Text 8"/>
          <p:cNvSpPr/>
          <p:nvPr/>
        </p:nvSpPr>
        <p:spPr>
          <a:xfrm>
            <a:off x="4529614" y="2397758"/>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Natural Indian voices in 10 languages + English for the AI recruiter.</a:t>
            </a:r>
            <a:endParaRPr lang="en-US" sz="1200" dirty="0"/>
          </a:p>
        </p:txBody>
      </p:sp>
      <p:sp>
        <p:nvSpPr>
          <p:cNvPr id="11" name="Shape 9"/>
          <p:cNvSpPr/>
          <p:nvPr/>
        </p:nvSpPr>
        <p:spPr>
          <a:xfrm>
            <a:off x="7941707" y="1965958"/>
            <a:ext cx="3437493" cy="1201420"/>
          </a:xfrm>
          <a:prstGeom prst="roundRect">
            <a:avLst>
              <a:gd name="adj" fmla="val 8457"/>
            </a:avLst>
          </a:prstGeom>
          <a:solidFill>
            <a:srgbClr val="FFFFFF"/>
          </a:solidFill>
          <a:ln/>
        </p:spPr>
      </p:sp>
      <p:sp>
        <p:nvSpPr>
          <p:cNvPr id="12" name="Text 10"/>
          <p:cNvSpPr/>
          <p:nvPr/>
        </p:nvSpPr>
        <p:spPr>
          <a:xfrm>
            <a:off x="8094107" y="2118358"/>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Sarvam-105B · think</a:t>
            </a:r>
            <a:endParaRPr lang="en-US" sz="1500" dirty="0"/>
          </a:p>
        </p:txBody>
      </p:sp>
      <p:sp>
        <p:nvSpPr>
          <p:cNvPr id="13" name="Text 11"/>
          <p:cNvSpPr/>
          <p:nvPr/>
        </p:nvSpPr>
        <p:spPr>
          <a:xfrm>
            <a:off x="8094107" y="2397758"/>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Conversational model tuned for real-time voice agents.</a:t>
            </a:r>
            <a:endParaRPr lang="en-US" sz="1200" dirty="0"/>
          </a:p>
        </p:txBody>
      </p:sp>
      <p:sp>
        <p:nvSpPr>
          <p:cNvPr id="14" name="Shape 12"/>
          <p:cNvSpPr/>
          <p:nvPr/>
        </p:nvSpPr>
        <p:spPr>
          <a:xfrm>
            <a:off x="812800" y="3294385"/>
            <a:ext cx="3437414" cy="1201420"/>
          </a:xfrm>
          <a:prstGeom prst="roundRect">
            <a:avLst>
              <a:gd name="adj" fmla="val 8457"/>
            </a:avLst>
          </a:prstGeom>
          <a:solidFill>
            <a:srgbClr val="FFFFFF"/>
          </a:solidFill>
          <a:ln/>
        </p:spPr>
      </p:sp>
      <p:sp>
        <p:nvSpPr>
          <p:cNvPr id="15" name="Text 13"/>
          <p:cNvSpPr/>
          <p:nvPr/>
        </p:nvSpPr>
        <p:spPr>
          <a:xfrm>
            <a:off x="965200" y="3446785"/>
            <a:ext cx="32265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Sarvam Translate</a:t>
            </a:r>
            <a:endParaRPr lang="en-US" sz="1500" dirty="0"/>
          </a:p>
        </p:txBody>
      </p:sp>
      <p:sp>
        <p:nvSpPr>
          <p:cNvPr id="16" name="Text 14"/>
          <p:cNvSpPr/>
          <p:nvPr/>
        </p:nvSpPr>
        <p:spPr>
          <a:xfrm>
            <a:off x="965200" y="3726185"/>
            <a:ext cx="322659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Job posts, questions and messages in 22 languages.</a:t>
            </a:r>
            <a:endParaRPr lang="en-US" sz="1200" dirty="0"/>
          </a:p>
        </p:txBody>
      </p:sp>
      <p:sp>
        <p:nvSpPr>
          <p:cNvPr id="17" name="Shape 15"/>
          <p:cNvSpPr/>
          <p:nvPr/>
        </p:nvSpPr>
        <p:spPr>
          <a:xfrm>
            <a:off x="4377214" y="3294385"/>
            <a:ext cx="3437493" cy="1201420"/>
          </a:xfrm>
          <a:prstGeom prst="roundRect">
            <a:avLst>
              <a:gd name="adj" fmla="val 8457"/>
            </a:avLst>
          </a:prstGeom>
          <a:solidFill>
            <a:srgbClr val="FFFFFF"/>
          </a:solidFill>
          <a:ln/>
        </p:spPr>
      </p:sp>
      <p:sp>
        <p:nvSpPr>
          <p:cNvPr id="18" name="Text 16"/>
          <p:cNvSpPr/>
          <p:nvPr/>
        </p:nvSpPr>
        <p:spPr>
          <a:xfrm>
            <a:off x="4529614" y="3446785"/>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13A"/>
                </a:solidFill>
                <a:latin typeface="DM Sans" pitchFamily="34" charset="0"/>
                <a:ea typeface="DM Sans" pitchFamily="34" charset="-122"/>
                <a:cs typeface="DM Sans" pitchFamily="34" charset="-120"/>
              </a:rPr>
              <a:t>Sarvam Vision</a:t>
            </a:r>
            <a:endParaRPr lang="en-US" sz="1500" dirty="0"/>
          </a:p>
        </p:txBody>
      </p:sp>
      <p:sp>
        <p:nvSpPr>
          <p:cNvPr id="19" name="Text 17"/>
          <p:cNvSpPr/>
          <p:nvPr/>
        </p:nvSpPr>
        <p:spPr>
          <a:xfrm>
            <a:off x="4529614" y="3726185"/>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E4A5C"/>
                </a:solidFill>
                <a:latin typeface="DM Sans" pitchFamily="34" charset="0"/>
                <a:ea typeface="DM Sans" pitchFamily="34" charset="-122"/>
                <a:cs typeface="DM Sans" pitchFamily="34" charset="-120"/>
              </a:rPr>
              <a:t>Read scanned or photographed resumes and certificates.</a:t>
            </a:r>
            <a:endParaRPr lang="en-US" sz="1200" dirty="0"/>
          </a:p>
        </p:txBody>
      </p:sp>
      <p:sp>
        <p:nvSpPr>
          <p:cNvPr id="20" name="Shape 18"/>
          <p:cNvSpPr/>
          <p:nvPr/>
        </p:nvSpPr>
        <p:spPr>
          <a:xfrm>
            <a:off x="7941707" y="3294385"/>
            <a:ext cx="3437493" cy="1201420"/>
          </a:xfrm>
          <a:prstGeom prst="roundRect">
            <a:avLst>
              <a:gd name="adj" fmla="val 8457"/>
            </a:avLst>
          </a:prstGeom>
          <a:solidFill>
            <a:srgbClr val="13213A"/>
          </a:solidFill>
          <a:ln/>
        </p:spPr>
      </p:sp>
      <p:sp>
        <p:nvSpPr>
          <p:cNvPr id="21" name="Text 19"/>
          <p:cNvSpPr/>
          <p:nvPr/>
        </p:nvSpPr>
        <p:spPr>
          <a:xfrm>
            <a:off x="8094107" y="3446785"/>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6F2"/>
                </a:solidFill>
                <a:latin typeface="DM Sans" pitchFamily="34" charset="0"/>
                <a:ea typeface="DM Sans" pitchFamily="34" charset="-122"/>
                <a:cs typeface="DM Sans" pitchFamily="34" charset="-120"/>
              </a:rPr>
              <a:t>How we use the credits</a:t>
            </a:r>
            <a:endParaRPr lang="en-US" sz="1500" dirty="0"/>
          </a:p>
        </p:txBody>
      </p:sp>
      <p:sp>
        <p:nvSpPr>
          <p:cNvPr id="22" name="Text 20"/>
          <p:cNvSpPr/>
          <p:nvPr/>
        </p:nvSpPr>
        <p:spPr>
          <a:xfrm>
            <a:off x="8094107" y="3726185"/>
            <a:ext cx="3226674"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DE8"/>
                </a:solidFill>
                <a:latin typeface="DM Sans" pitchFamily="34" charset="0"/>
                <a:ea typeface="DM Sans" pitchFamily="34" charset="-122"/>
                <a:cs typeface="DM Sans" pitchFamily="34" charset="-120"/>
              </a:rPr>
              <a:t>Pilot screening calls and voice role-plays in Hindi, Tamil and Telugu; compare cost, accuracy and completion.</a:t>
            </a:r>
            <a:endParaRPr lang="en-US" sz="12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5A4A"/>
                </a:solidFill>
                <a:latin typeface="DM Sans" pitchFamily="34" charset="0"/>
                <a:ea typeface="DM Sans" pitchFamily="34" charset="-122"/>
                <a:cs typeface="DM Sans" pitchFamily="34" charset="-120"/>
              </a:rPr>
              <a:t>Model capabilities per Sarvam AI documentation, Oct 2026 · 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800" y="609600"/>
            <a:ext cx="851679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ADVISOR'S ASSESSMENT</a:t>
            </a:r>
            <a:endParaRPr lang="en-US" sz="1200" dirty="0"/>
          </a:p>
        </p:txBody>
      </p:sp>
      <p:sp>
        <p:nvSpPr>
          <p:cNvPr id="3" name="Text 1"/>
          <p:cNvSpPr>
            <a:spLocks noGrp="1"/>
          </p:cNvSpPr>
          <p:nvPr>
            <p:ph type="title"/>
          </p:nvPr>
        </p:nvSpPr>
        <p:spPr>
          <a:xfrm>
            <a:off x="812800" y="899158"/>
            <a:ext cx="8516794"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Confident in the market, focused on the moat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950718"/>
          <a:ext cx="10556239" cy="2854960"/>
        </p:xfrm>
        <a:graphic>
          <a:graphicData uri="http://schemas.openxmlformats.org/drawingml/2006/table">
            <a:tbl>
              <a:tblPr/>
              <a:tblGrid>
                <a:gridCol w="2955747">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5911494">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Dimension</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Rating</a:t>
                      </a:r>
                      <a:endParaRPr lang="en-US" sz="1300" dirty="0">
                        <a:latin typeface="DM Sans" charset="0"/>
                        <a:ea typeface="DM Sans" charset="0"/>
                        <a:cs typeface="DM Sans" charset="0"/>
                      </a:endParaRPr>
                    </a:p>
                  </a:txBody>
                  <a:tcPr marL="57785" marR="57785" marT="57785" marB="57785">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820"/>
                        </a:lnSpc>
                        <a:buNone/>
                      </a:pPr>
                      <a:r>
                        <a:rPr lang="en-US" sz="1300" b="1" dirty="0">
                          <a:solidFill>
                            <a:srgbClr val="F7F6F2"/>
                          </a:solidFill>
                          <a:latin typeface="DM Sans" pitchFamily="34" charset="0"/>
                          <a:ea typeface="DM Sans" pitchFamily="34" charset="-122"/>
                          <a:cs typeface="DM Sans" pitchFamily="34" charset="-120"/>
                        </a:rPr>
                        <a:t>Why</a:t>
                      </a:r>
                      <a:endParaRPr lang="en-US" sz="1300" dirty="0">
                        <a:latin typeface="DM Sans" charset="0"/>
                        <a:ea typeface="DM Sans" charset="0"/>
                        <a:cs typeface="DM Sans" charset="0"/>
                      </a:endParaRPr>
                    </a:p>
                  </a:txBody>
                  <a:tcPr marL="57785" marR="57785" marT="57785" marB="57785">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Problem</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Strong</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Screening and scheduling eat recruiter time; buyers already pay</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Timing</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Strong</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Voice AI is now good enough; Indian-language models exist</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Team speed</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E5631"/>
                          </a:solidFill>
                          <a:latin typeface="DM Sans" pitchFamily="34" charset="0"/>
                          <a:ea typeface="DM Sans" pitchFamily="34" charset="-122"/>
                          <a:cs typeface="DM Sans" pitchFamily="34" charset="-120"/>
                        </a:rPr>
                        <a:t>Strong</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Full apply-to-booking flow built quickly</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Product foundations</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Moderate</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Works end to end; security and tenancy missing</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Differentiation</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Plan strong</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Evidence workflow is distinct, but not built yet</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Defensibility</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Weak today</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No proprietary data or integrations yet</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Competition</a:t>
                      </a:r>
                      <a:endParaRPr lang="en-US" sz="1300" dirty="0">
                        <a:latin typeface="DM Sans" charset="0"/>
                        <a:ea typeface="DM Sans" charset="0"/>
                        <a:cs typeface="DM Sans" charset="0"/>
                      </a:endParaRPr>
                    </a:p>
                  </a:txBody>
                  <a:tcPr marL="57785" marR="57785" marT="57785" marB="57785">
                    <a:lnL w="12700" cap="flat" cmpd="sng" algn="ctr">
                      <a:solidFill>
                        <a:srgbClr val="BEC0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8A3A0E"/>
                          </a:solidFill>
                          <a:latin typeface="DM Sans" pitchFamily="34" charset="0"/>
                          <a:ea typeface="DM Sans" pitchFamily="34" charset="-122"/>
                          <a:cs typeface="DM Sans" pitchFamily="34" charset="-120"/>
                        </a:rPr>
                        <a:t>Contested</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3213A"/>
                          </a:solidFill>
                          <a:latin typeface="DM Sans" pitchFamily="34" charset="0"/>
                          <a:ea typeface="DM Sans" pitchFamily="34" charset="-122"/>
                          <a:cs typeface="DM Sans" pitchFamily="34" charset="-120"/>
                        </a:rPr>
                        <a:t>Zorvis and Vahan in India; HeyMilo, WorkProbe globally</a:t>
                      </a:r>
                      <a:endParaRPr lang="en-US" sz="1300" dirty="0">
                        <a:latin typeface="DM Sans" charset="0"/>
                        <a:ea typeface="DM Sans" charset="0"/>
                        <a:cs typeface="DM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Personal view of the technical advisor based on code review and market scan · 27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ROADMAP</a:t>
            </a:r>
            <a:endParaRPr lang="en-US" sz="1200" dirty="0"/>
          </a:p>
        </p:txBody>
      </p:sp>
      <p:sp>
        <p:nvSpPr>
          <p:cNvPr id="3" name="Text 1"/>
          <p:cNvSpPr>
            <a:spLocks noGrp="1"/>
          </p:cNvSpPr>
          <p:nvPr>
            <p:ph type="title"/>
          </p:nvPr>
        </p:nvSpPr>
        <p:spPr>
          <a:xfrm>
            <a:off x="812800" y="8991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Four phases, each one earned by the last</a:t>
            </a:r>
            <a:endParaRPr lang="en-US" sz="3000" dirty="0"/>
          </a:p>
        </p:txBody>
      </p:sp>
      <p:sp>
        <p:nvSpPr>
          <p:cNvPr id="4" name="Shape 2"/>
          <p:cNvSpPr/>
          <p:nvPr/>
        </p:nvSpPr>
        <p:spPr>
          <a:xfrm>
            <a:off x="815975" y="1575433"/>
            <a:ext cx="2533015" cy="2716530"/>
          </a:xfrm>
          <a:prstGeom prst="roundRect">
            <a:avLst>
              <a:gd name="adj" fmla="val 4387"/>
            </a:avLst>
          </a:prstGeom>
          <a:solidFill>
            <a:srgbClr val="FFFFFF"/>
          </a:solidFill>
          <a:ln w="6350">
            <a:solidFill>
              <a:srgbClr val="DCDDD6"/>
            </a:solidFill>
            <a:prstDash val="solid"/>
          </a:ln>
        </p:spPr>
      </p:sp>
      <p:sp>
        <p:nvSpPr>
          <p:cNvPr id="5" name="Text 3"/>
          <p:cNvSpPr/>
          <p:nvPr/>
        </p:nvSpPr>
        <p:spPr>
          <a:xfrm>
            <a:off x="995680" y="1755142"/>
            <a:ext cx="223881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716"/>
                </a:solidFill>
                <a:latin typeface="DM Sans" pitchFamily="34" charset="0"/>
                <a:ea typeface="DM Sans" pitchFamily="34" charset="-122"/>
                <a:cs typeface="DM Sans" pitchFamily="34" charset="-120"/>
              </a:rPr>
              <a:t>Phase 1 · 0–3 months</a:t>
            </a:r>
            <a:endParaRPr lang="en-US" sz="1200" dirty="0"/>
          </a:p>
        </p:txBody>
      </p:sp>
      <p:sp>
        <p:nvSpPr>
          <p:cNvPr id="6" name="Text 4"/>
          <p:cNvSpPr/>
          <p:nvPr/>
        </p:nvSpPr>
        <p:spPr>
          <a:xfrm>
            <a:off x="995680" y="2044700"/>
            <a:ext cx="22388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13A"/>
                </a:solidFill>
                <a:latin typeface="Space Grotesk" pitchFamily="34" charset="0"/>
                <a:ea typeface="Space Grotesk" pitchFamily="34" charset="-122"/>
                <a:cs typeface="Space Grotesk" pitchFamily="34" charset="-120"/>
              </a:rPr>
              <a:t>Secure and stabilise</a:t>
            </a:r>
            <a:endParaRPr lang="en-US" sz="1600" dirty="0"/>
          </a:p>
        </p:txBody>
      </p:sp>
      <p:sp>
        <p:nvSpPr>
          <p:cNvPr id="7" name="Text 5"/>
          <p:cNvSpPr/>
          <p:nvPr/>
        </p:nvSpPr>
        <p:spPr>
          <a:xfrm>
            <a:off x="1094486" y="2364742"/>
            <a:ext cx="2132387" cy="15189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Private storage, login, company separation</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Backups, monitoring, tests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Consent, audit log, human oversight</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Evidence-linked scores, notifications</a:t>
            </a:r>
            <a:endParaRPr lang="en-US" sz="1200" dirty="0"/>
          </a:p>
        </p:txBody>
      </p:sp>
      <p:sp>
        <p:nvSpPr>
          <p:cNvPr id="8" name="Shape 6"/>
          <p:cNvSpPr/>
          <p:nvPr/>
        </p:nvSpPr>
        <p:spPr>
          <a:xfrm>
            <a:off x="3495040" y="1575433"/>
            <a:ext cx="2533015" cy="2716530"/>
          </a:xfrm>
          <a:prstGeom prst="roundRect">
            <a:avLst>
              <a:gd name="adj" fmla="val 4387"/>
            </a:avLst>
          </a:prstGeom>
          <a:solidFill>
            <a:srgbClr val="FFFFFF"/>
          </a:solidFill>
          <a:ln w="6350">
            <a:solidFill>
              <a:srgbClr val="DCDDD6"/>
            </a:solidFill>
            <a:prstDash val="solid"/>
          </a:ln>
        </p:spPr>
      </p:sp>
      <p:sp>
        <p:nvSpPr>
          <p:cNvPr id="9" name="Text 7"/>
          <p:cNvSpPr/>
          <p:nvPr/>
        </p:nvSpPr>
        <p:spPr>
          <a:xfrm>
            <a:off x="3674745" y="1755142"/>
            <a:ext cx="223881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C4"/>
                </a:solidFill>
                <a:latin typeface="DM Sans" pitchFamily="34" charset="0"/>
                <a:ea typeface="DM Sans" pitchFamily="34" charset="-122"/>
                <a:cs typeface="DM Sans" pitchFamily="34" charset="-120"/>
              </a:rPr>
              <a:t>Phase 2 · 3–6 months</a:t>
            </a:r>
            <a:endParaRPr lang="en-US" sz="1200" dirty="0"/>
          </a:p>
        </p:txBody>
      </p:sp>
      <p:sp>
        <p:nvSpPr>
          <p:cNvPr id="10" name="Text 8"/>
          <p:cNvSpPr/>
          <p:nvPr/>
        </p:nvSpPr>
        <p:spPr>
          <a:xfrm>
            <a:off x="3674745" y="2044700"/>
            <a:ext cx="22388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13A"/>
                </a:solidFill>
                <a:latin typeface="Space Grotesk" pitchFamily="34" charset="0"/>
                <a:ea typeface="Space Grotesk" pitchFamily="34" charset="-122"/>
                <a:cs typeface="Space Grotesk" pitchFamily="34" charset="-120"/>
              </a:rPr>
              <a:t>Improve intelligence</a:t>
            </a:r>
            <a:endParaRPr lang="en-US" sz="1600" dirty="0"/>
          </a:p>
        </p:txBody>
      </p:sp>
      <p:sp>
        <p:nvSpPr>
          <p:cNvPr id="11" name="Text 9"/>
          <p:cNvSpPr/>
          <p:nvPr/>
        </p:nvSpPr>
        <p:spPr>
          <a:xfrm>
            <a:off x="3773551" y="2364742"/>
            <a:ext cx="2132387" cy="109220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Clearer comparison and explanations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Evidence Gap Challenge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Rediscovery and analytics</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Pilot with real hiring teams</a:t>
            </a:r>
            <a:endParaRPr lang="en-US" sz="1200" dirty="0"/>
          </a:p>
        </p:txBody>
      </p:sp>
      <p:sp>
        <p:nvSpPr>
          <p:cNvPr id="12" name="Shape 10"/>
          <p:cNvSpPr/>
          <p:nvPr/>
        </p:nvSpPr>
        <p:spPr>
          <a:xfrm>
            <a:off x="6174105" y="1575433"/>
            <a:ext cx="2533015" cy="2716530"/>
          </a:xfrm>
          <a:prstGeom prst="roundRect">
            <a:avLst>
              <a:gd name="adj" fmla="val 4387"/>
            </a:avLst>
          </a:prstGeom>
          <a:solidFill>
            <a:srgbClr val="FFFFFF"/>
          </a:solidFill>
          <a:ln w="6350">
            <a:solidFill>
              <a:srgbClr val="DCDDD6"/>
            </a:solidFill>
            <a:prstDash val="solid"/>
          </a:ln>
        </p:spPr>
      </p:sp>
      <p:sp>
        <p:nvSpPr>
          <p:cNvPr id="13" name="Text 11"/>
          <p:cNvSpPr/>
          <p:nvPr/>
        </p:nvSpPr>
        <p:spPr>
          <a:xfrm>
            <a:off x="6353810" y="1755142"/>
            <a:ext cx="223881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13A"/>
                </a:solidFill>
                <a:latin typeface="DM Sans" pitchFamily="34" charset="0"/>
                <a:ea typeface="DM Sans" pitchFamily="34" charset="-122"/>
                <a:cs typeface="DM Sans" pitchFamily="34" charset="-120"/>
              </a:rPr>
              <a:t>Phase 3 · 6–12 months</a:t>
            </a:r>
            <a:endParaRPr lang="en-US" sz="1200" dirty="0"/>
          </a:p>
        </p:txBody>
      </p:sp>
      <p:sp>
        <p:nvSpPr>
          <p:cNvPr id="14" name="Text 12"/>
          <p:cNvSpPr/>
          <p:nvPr/>
        </p:nvSpPr>
        <p:spPr>
          <a:xfrm>
            <a:off x="6353810" y="2044700"/>
            <a:ext cx="22388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13A"/>
                </a:solidFill>
                <a:latin typeface="Space Grotesk" pitchFamily="34" charset="0"/>
                <a:ea typeface="Space Grotesk" pitchFamily="34" charset="-122"/>
                <a:cs typeface="Space Grotesk" pitchFamily="34" charset="-120"/>
              </a:rPr>
              <a:t>Verify capability</a:t>
            </a:r>
            <a:endParaRPr lang="en-US" sz="1600" dirty="0"/>
          </a:p>
        </p:txBody>
      </p:sp>
      <p:sp>
        <p:nvSpPr>
          <p:cNvPr id="15" name="Text 13"/>
          <p:cNvSpPr/>
          <p:nvPr/>
        </p:nvSpPr>
        <p:spPr>
          <a:xfrm>
            <a:off x="6452616" y="2364742"/>
            <a:ext cx="2132387" cy="15189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Job-specific work simulation</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Decision Trail</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Recruiter review of evidence</a:t>
            </a:r>
            <a:endParaRPr lang="en-US" sz="1200" dirty="0"/>
          </a:p>
          <a:p>
            <a:pPr marL="155194" indent="-155194" algn="l">
              <a:lnSpc>
                <a:spcPts val="1680"/>
              </a:lnSpc>
              <a:buSzPct val="100000"/>
              <a:buChar char="•"/>
            </a:pPr>
            <a:r>
              <a:rPr lang="en-US" sz="1200" dirty="0">
                <a:solidFill>
                  <a:srgbClr val="3E4A5C"/>
                </a:solidFill>
                <a:latin typeface="DM Sans" pitchFamily="34" charset="0"/>
                <a:ea typeface="DM Sans" pitchFamily="34" charset="-122"/>
                <a:cs typeface="DM Sans" pitchFamily="34" charset="-120"/>
              </a:rPr>
              <a:t>Start post-hire outcome data</a:t>
            </a:r>
            <a:endParaRPr lang="en-US" sz="1200" dirty="0"/>
          </a:p>
        </p:txBody>
      </p:sp>
      <p:sp>
        <p:nvSpPr>
          <p:cNvPr id="16" name="Shape 14"/>
          <p:cNvSpPr/>
          <p:nvPr/>
        </p:nvSpPr>
        <p:spPr>
          <a:xfrm>
            <a:off x="8849995" y="1572258"/>
            <a:ext cx="2529205" cy="2722880"/>
          </a:xfrm>
          <a:prstGeom prst="roundRect">
            <a:avLst>
              <a:gd name="adj" fmla="val 4519"/>
            </a:avLst>
          </a:prstGeom>
          <a:solidFill>
            <a:srgbClr val="13213A"/>
          </a:solidFill>
          <a:ln/>
        </p:spPr>
      </p:sp>
      <p:sp>
        <p:nvSpPr>
          <p:cNvPr id="17" name="Shape 15"/>
          <p:cNvSpPr/>
          <p:nvPr/>
        </p:nvSpPr>
        <p:spPr>
          <a:xfrm>
            <a:off x="8849995" y="1572258"/>
            <a:ext cx="2529205" cy="2722880"/>
          </a:xfrm>
          <a:custGeom>
            <a:avLst/>
            <a:gdLst/>
            <a:ahLst/>
            <a:cxnLst/>
            <a:rect l="l" t="t" r="r" b="b"/>
            <a:pathLst>
              <a:path w="2529205" h="2722880">
                <a:moveTo>
                  <a:pt x="0" y="114300"/>
                </a:moveTo>
                <a:lnTo>
                  <a:pt x="0" y="114300"/>
                </a:lnTo>
                <a:arcTo wR="114300" hR="114300" stAng="10800000" swAng="5400000"/>
                <a:lnTo>
                  <a:pt x="2414905" y="0"/>
                </a:lnTo>
                <a:arcTo wR="114300" hR="114300" stAng="16200000" swAng="5400000"/>
                <a:lnTo>
                  <a:pt x="2529205" y="114300"/>
                </a:lnTo>
                <a:arcTo wR="114300" hR="63500" stAng="0" swAng="-5400000"/>
                <a:lnTo>
                  <a:pt x="114300" y="50800"/>
                </a:lnTo>
                <a:arcTo wR="114300" hR="63500" stAng="16200000" swAng="-5400000"/>
                <a:close/>
              </a:path>
            </a:pathLst>
          </a:custGeom>
          <a:solidFill>
            <a:srgbClr val="E9A276"/>
          </a:solidFill>
          <a:ln/>
        </p:spPr>
      </p:sp>
      <p:sp>
        <p:nvSpPr>
          <p:cNvPr id="18" name="Text 16"/>
          <p:cNvSpPr/>
          <p:nvPr/>
        </p:nvSpPr>
        <p:spPr>
          <a:xfrm>
            <a:off x="9027795" y="1800858"/>
            <a:ext cx="223881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9A276"/>
                </a:solidFill>
                <a:latin typeface="DM Sans" pitchFamily="34" charset="0"/>
                <a:ea typeface="DM Sans" pitchFamily="34" charset="-122"/>
                <a:cs typeface="DM Sans" pitchFamily="34" charset="-120"/>
              </a:rPr>
              <a:t>Phase 4 · 12–24 months</a:t>
            </a:r>
            <a:endParaRPr lang="en-US" sz="1200" dirty="0"/>
          </a:p>
        </p:txBody>
      </p:sp>
      <p:sp>
        <p:nvSpPr>
          <p:cNvPr id="19" name="Text 17"/>
          <p:cNvSpPr/>
          <p:nvPr/>
        </p:nvSpPr>
        <p:spPr>
          <a:xfrm>
            <a:off x="9027795" y="2090427"/>
            <a:ext cx="22388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Space Grotesk" pitchFamily="34" charset="0"/>
                <a:ea typeface="Space Grotesk" pitchFamily="34" charset="-122"/>
                <a:cs typeface="Space Grotesk" pitchFamily="34" charset="-120"/>
              </a:rPr>
              <a:t>Build the moat</a:t>
            </a:r>
            <a:endParaRPr lang="en-US" sz="1600" dirty="0"/>
          </a:p>
        </p:txBody>
      </p:sp>
      <p:sp>
        <p:nvSpPr>
          <p:cNvPr id="20" name="Text 18"/>
          <p:cNvSpPr/>
          <p:nvPr/>
        </p:nvSpPr>
        <p:spPr>
          <a:xfrm>
            <a:off x="9126601" y="2410458"/>
            <a:ext cx="2132387" cy="173228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Job Twin and Decision Profile</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Link decisions to outcomes</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Validate and calibrate signals</a:t>
            </a:r>
            <a:endParaRPr lang="en-US" sz="1200" dirty="0"/>
          </a:p>
          <a:p>
            <a:pPr marL="155194" indent="-155194" algn="l">
              <a:lnSpc>
                <a:spcPts val="1680"/>
              </a:lnSpc>
              <a:buSzPct val="100000"/>
              <a:buChar char="•"/>
            </a:pPr>
            <a:r>
              <a:rPr lang="en-US" sz="1200" dirty="0">
                <a:solidFill>
                  <a:srgbClr val="D5DDE8"/>
                </a:solidFill>
                <a:latin typeface="DM Sans" pitchFamily="34" charset="0"/>
                <a:ea typeface="DM Sans" pitchFamily="34" charset="-122"/>
                <a:cs typeface="DM Sans" pitchFamily="34" charset="-120"/>
              </a:rPr>
              <a:t>Full Twin only if pilots prove value</a:t>
            </a:r>
            <a:endParaRPr lang="en-US" sz="12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Timings are proposed and depend on team size and funding · 28</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13213A"/>
        </a:solidFill>
        <a:effectLst/>
      </p:bgPr>
    </p:bg>
    <p:spTree>
      <p:nvGrpSpPr>
        <p:cNvPr id="1" name=""/>
        <p:cNvGrpSpPr/>
        <p:nvPr/>
      </p:nvGrpSpPr>
      <p:grpSpPr>
        <a:xfrm>
          <a:off x="0" y="0"/>
          <a:ext cx="0" cy="0"/>
          <a:chOff x="0" y="0"/>
          <a:chExt cx="0" cy="0"/>
        </a:xfrm>
      </p:grpSpPr>
      <p:sp>
        <p:nvSpPr>
          <p:cNvPr id="2" name="Text 0"/>
          <p:cNvSpPr/>
          <p:nvPr/>
        </p:nvSpPr>
        <p:spPr>
          <a:xfrm>
            <a:off x="812800" y="197167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9A276"/>
                </a:solidFill>
                <a:latin typeface="DM Sans" pitchFamily="34" charset="0"/>
                <a:ea typeface="DM Sans" pitchFamily="34" charset="-122"/>
                <a:cs typeface="DM Sans" pitchFamily="34" charset="-120"/>
              </a:rPr>
              <a:t>WHAT WE PRIORITISE NOW</a:t>
            </a:r>
            <a:endParaRPr lang="en-US" sz="1400" dirty="0"/>
          </a:p>
        </p:txBody>
      </p:sp>
      <p:sp>
        <p:nvSpPr>
          <p:cNvPr id="3" name="Text 1"/>
          <p:cNvSpPr>
            <a:spLocks noGrp="1"/>
          </p:cNvSpPr>
          <p:nvPr>
            <p:ph type="title"/>
          </p:nvPr>
        </p:nvSpPr>
        <p:spPr>
          <a:xfrm>
            <a:off x="812800" y="2322202"/>
            <a:ext cx="10883392" cy="50546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7F6F2"/>
                </a:solidFill>
                <a:latin typeface="Space Grotesk" pitchFamily="34" charset="0"/>
                <a:ea typeface="Space Grotesk" pitchFamily="34" charset="-122"/>
                <a:cs typeface="Space Grotesk" pitchFamily="34" charset="-120"/>
              </a:rPr>
              <a:t>Secure, prove, then scale</a:t>
            </a:r>
            <a:endParaRPr lang="en-US" sz="3600" dirty="0"/>
          </a:p>
        </p:txBody>
      </p:sp>
      <p:sp>
        <p:nvSpPr>
          <p:cNvPr id="4" name="Text 2"/>
          <p:cNvSpPr/>
          <p:nvPr/>
        </p:nvSpPr>
        <p:spPr>
          <a:xfrm>
            <a:off x="812800" y="3107060"/>
            <a:ext cx="188595"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102995" y="3107060"/>
            <a:ext cx="482327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Secure the product before any new AI feature</a:t>
            </a:r>
            <a:endParaRPr lang="en-US" sz="1500" dirty="0"/>
          </a:p>
        </p:txBody>
      </p:sp>
      <p:sp>
        <p:nvSpPr>
          <p:cNvPr id="6" name="Text 4"/>
          <p:cNvSpPr/>
          <p:nvPr/>
        </p:nvSpPr>
        <p:spPr>
          <a:xfrm>
            <a:off x="6096000" y="3107060"/>
            <a:ext cx="231854"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6429454" y="3107060"/>
            <a:ext cx="559612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Put evidence behind every score, and let HR review it</a:t>
            </a:r>
            <a:endParaRPr lang="en-US" sz="1500" dirty="0"/>
          </a:p>
        </p:txBody>
      </p:sp>
      <p:sp>
        <p:nvSpPr>
          <p:cNvPr id="8" name="Text 6"/>
          <p:cNvSpPr/>
          <p:nvPr/>
        </p:nvSpPr>
        <p:spPr>
          <a:xfrm>
            <a:off x="812800" y="3411860"/>
            <a:ext cx="230108"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144508" y="3411860"/>
            <a:ext cx="510003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Ship the Evidence Gap Challenge as our first differentiator</a:t>
            </a:r>
            <a:endParaRPr lang="en-US" sz="1500" dirty="0"/>
          </a:p>
        </p:txBody>
      </p:sp>
      <p:sp>
        <p:nvSpPr>
          <p:cNvPr id="10" name="Text 8"/>
          <p:cNvSpPr/>
          <p:nvPr/>
        </p:nvSpPr>
        <p:spPr>
          <a:xfrm>
            <a:off x="6096000" y="3411860"/>
            <a:ext cx="244713"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4</a:t>
            </a:r>
            <a:endParaRPr lang="en-US" sz="2400" dirty="0"/>
          </a:p>
        </p:txBody>
      </p:sp>
      <p:sp>
        <p:nvSpPr>
          <p:cNvPr id="11" name="Text 9"/>
          <p:cNvSpPr/>
          <p:nvPr/>
        </p:nvSpPr>
        <p:spPr>
          <a:xfrm>
            <a:off x="6442313" y="3411860"/>
            <a:ext cx="5336667"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Pilot work simulation and Decision Trail on one role</a:t>
            </a:r>
            <a:endParaRPr lang="en-US" sz="1500" dirty="0"/>
          </a:p>
        </p:txBody>
      </p:sp>
      <p:sp>
        <p:nvSpPr>
          <p:cNvPr id="12" name="Text 10"/>
          <p:cNvSpPr/>
          <p:nvPr/>
        </p:nvSpPr>
        <p:spPr>
          <a:xfrm>
            <a:off x="812800" y="3926210"/>
            <a:ext cx="23368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5</a:t>
            </a:r>
            <a:endParaRPr lang="en-US" sz="2400" dirty="0"/>
          </a:p>
        </p:txBody>
      </p:sp>
      <p:sp>
        <p:nvSpPr>
          <p:cNvPr id="13" name="Text 11"/>
          <p:cNvSpPr/>
          <p:nvPr/>
        </p:nvSpPr>
        <p:spPr>
          <a:xfrm>
            <a:off x="1148080" y="3926210"/>
            <a:ext cx="494792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Collect outcome data from day one, with consent</a:t>
            </a:r>
            <a:endParaRPr lang="en-US" sz="1500" dirty="0"/>
          </a:p>
        </p:txBody>
      </p:sp>
      <p:sp>
        <p:nvSpPr>
          <p:cNvPr id="14" name="Text 12"/>
          <p:cNvSpPr/>
          <p:nvPr/>
        </p:nvSpPr>
        <p:spPr>
          <a:xfrm>
            <a:off x="6096000" y="3926210"/>
            <a:ext cx="239236"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E07A3F"/>
                </a:solidFill>
                <a:latin typeface="Space Grotesk" pitchFamily="34" charset="0"/>
                <a:ea typeface="Space Grotesk" pitchFamily="34" charset="-122"/>
                <a:cs typeface="Space Grotesk" pitchFamily="34" charset="-120"/>
              </a:rPr>
              <a:t>6</a:t>
            </a:r>
            <a:endParaRPr lang="en-US" sz="2400" dirty="0"/>
          </a:p>
        </p:txBody>
      </p:sp>
      <p:sp>
        <p:nvSpPr>
          <p:cNvPr id="15" name="Text 13"/>
          <p:cNvSpPr/>
          <p:nvPr/>
        </p:nvSpPr>
        <p:spPr>
          <a:xfrm>
            <a:off x="6436836" y="3926210"/>
            <a:ext cx="547039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5DDE8"/>
                </a:solidFill>
                <a:latin typeface="DM Sans" pitchFamily="34" charset="0"/>
                <a:ea typeface="DM Sans" pitchFamily="34" charset="-122"/>
                <a:cs typeface="DM Sans" pitchFamily="34" charset="-120"/>
              </a:rPr>
              <a:t>Start the Sarvam pilot and sign 3–5 design partners</a:t>
            </a:r>
            <a:endParaRPr lang="en-US" sz="1500" dirty="0"/>
          </a:p>
        </p:txBody>
      </p:sp>
      <p:sp>
        <p:nvSpPr>
          <p:cNvPr id="16" name="Text 14"/>
          <p:cNvSpPr/>
          <p:nvPr/>
        </p:nvSpPr>
        <p:spPr>
          <a:xfrm>
            <a:off x="812800" y="453581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9A276"/>
                </a:solidFill>
                <a:latin typeface="DM Sans" pitchFamily="34" charset="0"/>
                <a:ea typeface="DM Sans" pitchFamily="34" charset="-122"/>
                <a:cs typeface="DM Sans" pitchFamily="34" charset="-120"/>
              </a:rPr>
              <a:t>Huptle: from candidate claims to verified evidence and better-informed hiring.</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716"/>
                </a:solidFill>
                <a:latin typeface="DM Sans" pitchFamily="34" charset="0"/>
                <a:ea typeface="DM Sans" pitchFamily="34" charset="-122"/>
                <a:cs typeface="DM Sans" pitchFamily="34" charset="-120"/>
              </a:rPr>
              <a:t>APPENDIX · TECHNOLOGY UPGRADES</a:t>
            </a:r>
            <a:endParaRPr lang="en-US" sz="1200" dirty="0"/>
          </a:p>
        </p:txBody>
      </p:sp>
      <p:sp>
        <p:nvSpPr>
          <p:cNvPr id="3" name="Text 1"/>
          <p:cNvSpPr>
            <a:spLocks noGrp="1"/>
          </p:cNvSpPr>
          <p:nvPr>
            <p:ph type="title"/>
          </p:nvPr>
        </p:nvSpPr>
        <p:spPr>
          <a:xfrm>
            <a:off x="812800" y="8991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13A"/>
                </a:solidFill>
                <a:latin typeface="Space Grotesk" pitchFamily="34" charset="0"/>
                <a:ea typeface="Space Grotesk" pitchFamily="34" charset="-122"/>
                <a:cs typeface="Space Grotesk" pitchFamily="34" charset="-120"/>
              </a:rPr>
              <a:t>What we add, and why it pays off</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31618"/>
          <a:ext cx="10556241" cy="3302000"/>
        </p:xfrm>
        <a:graphic>
          <a:graphicData uri="http://schemas.openxmlformats.org/drawingml/2006/table">
            <a:tbl>
              <a:tblPr/>
              <a:tblGrid>
                <a:gridCol w="2111248">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gridCol w="1266749">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Upgrade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What it is</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Why it matters</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tc>
                  <a:txBody>
                    <a:bodyPr/>
                    <a:lstStyle/>
                    <a:p>
                      <a:pPr marL="0" indent="0">
                        <a:lnSpc>
                          <a:spcPts val="1680"/>
                        </a:lnSpc>
                        <a:buNone/>
                      </a:pPr>
                      <a:r>
                        <a:rPr lang="en-US" sz="1200" b="1" dirty="0">
                          <a:solidFill>
                            <a:srgbClr val="F7F6F2"/>
                          </a:solidFill>
                          <a:latin typeface="DM Sans" pitchFamily="34" charset="0"/>
                          <a:ea typeface="DM Sans" pitchFamily="34" charset="-122"/>
                          <a:cs typeface="DM Sans" pitchFamily="34" charset="-120"/>
                        </a:rPr>
                        <a:t>Cost</a:t>
                      </a:r>
                      <a:endParaRPr lang="en-US" sz="1200" dirty="0">
                        <a:latin typeface="DM Sans" charset="0"/>
                        <a:ea typeface="DM Sans" charset="0"/>
                        <a:cs typeface="DM Sans" charset="0"/>
                      </a:endParaRPr>
                    </a:p>
                  </a:txBody>
                  <a:tcPr marL="53340" marR="53340" marT="53340" marB="53340">
                    <a:lnL w="12700" cap="flat" cmpd="sng" algn="ctr">
                      <a:solidFill>
                        <a:srgbClr val="131E31"/>
                      </a:solidFill>
                      <a:prstDash val="solid"/>
                      <a:round/>
                      <a:headEnd type="none" w="med" len="med"/>
                      <a:tailEnd type="none" w="med" len="med"/>
                    </a:lnL>
                    <a:lnR w="12700" cap="flat" cmpd="sng" algn="ctr">
                      <a:solidFill>
                        <a:srgbClr val="131E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31E31"/>
                      </a:solidFill>
                      <a:prstDash val="solid"/>
                      <a:round/>
                      <a:headEnd type="none" w="med" len="med"/>
                      <a:tailEnd type="none" w="med" len="med"/>
                    </a:lnB>
                    <a:solidFill>
                      <a:srgbClr val="1321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Edge security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Cloudflare Tunnel, firewall and DDoS shield</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No exposed server</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Free tier</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31E3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Backups and files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Encrypted backups and private files on R2</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Recover from any loss</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Free tier</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Login</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Email codes for candidates, SSO and MFA for HR</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Trust, enterprise sales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Low</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Job queue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Workers with retries for AI, calls and email</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No lost work at scale</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Low</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AI gateway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Route each task to Sarvam or Gemini; log cost</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Cost per hire, no lock-in</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Open source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Vector search</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pgvector embeddings to pre-match jobs</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Faster, cheaper matching</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In Postgres</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Messaging</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WhatsApp Business API and email</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Reach Indian candidates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Per message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Observability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Error tracking, uptime alerts, tracing</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Find issues first</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Free tier</a:t>
                      </a:r>
                      <a:endParaRPr lang="en-US" sz="1200" dirty="0">
                        <a:latin typeface="DM Sans" charset="0"/>
                        <a:ea typeface="DM Sans" charset="0"/>
                        <a:cs typeface="DM Sans" charset="0"/>
                      </a:endParaRPr>
                    </a:p>
                  </a:txBody>
                  <a:tcPr marL="53340" marR="53340" marT="53340" marB="53340">
                    <a:lnL w="12700" cap="flat" cmpd="sng" algn="ctr">
                      <a:solidFill>
                        <a:srgbClr val="BFBEB9"/>
                      </a:solidFill>
                      <a:prstDash val="solid"/>
                      <a:round/>
                      <a:headEnd type="none" w="med" len="med"/>
                      <a:tailEnd type="none" w="med" len="med"/>
                    </a:lnL>
                    <a:lnR w="12700" cap="flat" cmpd="sng" algn="ctr">
                      <a:solidFill>
                        <a:srgbClr val="BFBEB9"/>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EB9"/>
                      </a:solidFill>
                      <a:prstDash val="solid"/>
                      <a:round/>
                      <a:headEnd type="none" w="med" len="med"/>
                      <a:tailEnd type="none" w="med" len="med"/>
                    </a:lnB>
                    <a:solidFill>
                      <a:srgbClr val="EFEEE8"/>
                    </a:solidFill>
                  </a:tcPr>
                </a:tc>
                <a:extLst>
                  <a:ext uri="{0D108BD9-81ED-4DB2-BD59-A6C34878D82A}">
                    <a16:rowId xmlns:a16="http://schemas.microsoft.com/office/drawing/2014/main" val="10008"/>
                  </a:ext>
                </a:extLst>
              </a:tr>
              <a:tr h="330200">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Release safety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Tests plus dependency and container scans</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Ship daily, safely</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3213A"/>
                          </a:solidFill>
                          <a:latin typeface="DM Sans" pitchFamily="34" charset="0"/>
                          <a:ea typeface="DM Sans" pitchFamily="34" charset="-122"/>
                          <a:cs typeface="DM Sans" pitchFamily="34" charset="-120"/>
                        </a:rPr>
                        <a:t>Free</a:t>
                      </a:r>
                      <a:endParaRPr lang="en-US" sz="1200" dirty="0">
                        <a:latin typeface="DM Sans" charset="0"/>
                        <a:ea typeface="DM Sans" charset="0"/>
                        <a:cs typeface="DM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EB9"/>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6"/>
                </a:solidFill>
                <a:latin typeface="DM Sans" pitchFamily="34" charset="0"/>
                <a:ea typeface="DM Sans" pitchFamily="34" charset="-122"/>
                <a:cs typeface="DM Sans" pitchFamily="34" charset="-120"/>
              </a:rPr>
              <a:t>Today the job matcher sends every open job to the AI on each request; vector search fixes that · 30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D6BE05-059D-58DD-BDF5-9CFFCC757D06}"/>
              </a:ext>
            </a:extLst>
          </p:cNvPr>
          <p:cNvSpPr txBox="1"/>
          <p:nvPr/>
        </p:nvSpPr>
        <p:spPr>
          <a:xfrm>
            <a:off x="2671483" y="2921168"/>
            <a:ext cx="6544235" cy="1015663"/>
          </a:xfrm>
          <a:prstGeom prst="rect">
            <a:avLst/>
          </a:prstGeom>
          <a:noFill/>
        </p:spPr>
        <p:txBody>
          <a:bodyPr wrap="square" rtlCol="0">
            <a:spAutoFit/>
          </a:bodyPr>
          <a:lstStyle/>
          <a:p>
            <a:pPr algn="ctr"/>
            <a:r>
              <a:rPr lang="en-US" sz="6000" dirty="0"/>
              <a:t>THANK YOU</a:t>
            </a:r>
            <a:endParaRPr lang="en-IN" sz="6000" dirty="0"/>
          </a:p>
        </p:txBody>
      </p:sp>
    </p:spTree>
    <p:extLst>
      <p:ext uri="{BB962C8B-B14F-4D97-AF65-F5344CB8AC3E}">
        <p14:creationId xmlns:p14="http://schemas.microsoft.com/office/powerpoint/2010/main" val="1114062384"/>
      </p:ext>
    </p:extLst>
  </p:cSld>
  <p:clrMapOvr>
    <a:masterClrMapping/>
  </p:clrMapOvr>
</p:sld>
</file>

<file path=ppt/theme/theme1.xml><?xml version="1.0" encoding="utf-8"?>
<a:theme xmlns:a="http://schemas.openxmlformats.org/drawingml/2006/main" name="Huptle — Technical &amp; Strategy Brief">
  <a:themeElements>
    <a:clrScheme name="Huptle — Technical &amp; Strategy Brief">
      <a:dk1>
        <a:srgbClr val="13213A"/>
      </a:dk1>
      <a:lt1>
        <a:srgbClr val="F7F6F2"/>
      </a:lt1>
      <a:dk2>
        <a:srgbClr val="4C5668"/>
      </a:dk2>
      <a:lt2>
        <a:srgbClr val="E0E1E0"/>
      </a:lt2>
      <a:accent1>
        <a:srgbClr val="A84716"/>
      </a:accent1>
      <a:accent2>
        <a:srgbClr val="1F5FC4"/>
      </a:accent2>
      <a:accent3>
        <a:srgbClr val="E9A276"/>
      </a:accent3>
      <a:accent4>
        <a:srgbClr val="1E6B3A"/>
      </a:accent4>
      <a:accent5>
        <a:srgbClr val="E07A3F"/>
      </a:accent5>
      <a:accent6>
        <a:srgbClr val="1E5631"/>
      </a:accent6>
      <a:hlink>
        <a:srgbClr val="0563C1"/>
      </a:hlink>
      <a:folHlink>
        <a:srgbClr val="954F72"/>
      </a:folHlink>
    </a:clrScheme>
    <a:fontScheme name="Huptle — Technical &amp; Strategy Brief">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5118</Words>
  <Application>Microsoft Office PowerPoint</Application>
  <PresentationFormat>Widescreen</PresentationFormat>
  <Paragraphs>756</Paragraphs>
  <Slides>30</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DM Sans</vt:lpstr>
      <vt:lpstr>Space Grotesk</vt:lpstr>
      <vt:lpstr>Huptle — Technical &amp; Strategy Brief</vt:lpstr>
      <vt:lpstr>Huptle</vt:lpstr>
      <vt:lpstr>Today: the Automate layer is built</vt:lpstr>
      <vt:lpstr>From job opening to booked interview</vt:lpstr>
      <vt:lpstr>One server, two databases, four outside services</vt:lpstr>
      <vt:lpstr>What happens behind the screen</vt:lpstr>
      <vt:lpstr>From shortlist to hire, and back into the model</vt:lpstr>
      <vt:lpstr>Strong feature coverage, thin foundations</vt:lpstr>
      <vt:lpstr>Fix these before we scale or raise</vt:lpstr>
      <vt:lpstr>Make today's product safe before adding new AI</vt:lpstr>
      <vt:lpstr>Secure by default, still low cost</vt:lpstr>
      <vt:lpstr>Three phases, each one shippable</vt:lpstr>
      <vt:lpstr>The biggest players, and how big they are</vt:lpstr>
      <vt:lpstr>Five benchmarks, each strong at one thing</vt:lpstr>
      <vt:lpstr>Reach parity first, then add what is ours</vt:lpstr>
      <vt:lpstr>Table stakes we must have, and where we can win</vt:lpstr>
      <vt:lpstr>From candidate claims to verified evidence</vt:lpstr>
      <vt:lpstr>Make today's workflow smarter, not bigger</vt:lpstr>
      <vt:lpstr>Evidence Gap Challenge</vt:lpstr>
      <vt:lpstr>Decision Trail</vt:lpstr>
      <vt:lpstr>Hiring Intelligence Twin</vt:lpstr>
      <vt:lpstr>Four more ideas that strengthen the edge</vt:lpstr>
      <vt:lpstr>Keep your ATS. We add the intelligence.</vt:lpstr>
      <vt:lpstr>India, high-volume hiring</vt:lpstr>
      <vt:lpstr>Global enterprise hiring</vt:lpstr>
      <vt:lpstr>$25,000 in credits: our way into vernacular hiring</vt:lpstr>
      <vt:lpstr>Confident in the market, focused on the moat</vt:lpstr>
      <vt:lpstr>Four phases, each one earned by the last</vt:lpstr>
      <vt:lpstr>Secure, prove, then scale</vt:lpstr>
      <vt:lpstr>What we add, and why it pays off</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Huptle — Technical &amp; Strategy Brief</dc:title>
  <dc:subject/>
  <dc:creator/>
  <cp:lastModifiedBy>��� SUPRAJA G</cp:lastModifiedBy>
  <cp:revision>4</cp:revision>
  <dcterms:created xsi:type="dcterms:W3CDTF">2026-10-10T08:12:08Z</dcterms:created>
  <dcterms:modified xsi:type="dcterms:W3CDTF">2026-10-11T16:14:44Z</dcterms:modified>
</cp:coreProperties>
</file>